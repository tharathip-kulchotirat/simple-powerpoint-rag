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12"/>
    <p:sldId id="284" r:id="rId13"/>
    <p:sldId id="269" r:id="rId14"/>
    <p:sldId id="285" r:id="rId15"/>
    <p:sldId id="271" r:id="rId16"/>
    <p:sldId id="286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20104100" cy="11309350"/>
  <p:notesSz cx="9296400" cy="7010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>
      <p:cViewPr varScale="1">
        <p:scale>
          <a:sx n="51" d="100"/>
          <a:sy n="51" d="100"/>
        </p:scale>
        <p:origin x="40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57487" y="4282266"/>
            <a:ext cx="15552419" cy="1383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bg1"/>
                </a:solidFill>
                <a:latin typeface="American Typewriter"/>
                <a:cs typeface="American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bg1"/>
                </a:solidFill>
                <a:latin typeface="American Typewriter"/>
                <a:cs typeface="American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811" y="69454"/>
            <a:ext cx="18352476" cy="2237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91335" y="5285951"/>
            <a:ext cx="12910819" cy="4193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bg1"/>
                </a:solidFill>
                <a:latin typeface="American Typewriter"/>
                <a:cs typeface="American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057625" y="10828466"/>
            <a:ext cx="5915619" cy="489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Helvetica-Light"/>
                <a:cs typeface="Helvetica-Light"/>
              </a:defRPr>
            </a:lvl1pPr>
          </a:lstStyle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9.jpg"/><Relationship Id="rId7" Type="http://schemas.openxmlformats.org/officeDocument/2006/relationships/image" Target="../media/image22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17.jpg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3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png"/><Relationship Id="rId4" Type="http://schemas.openxmlformats.org/officeDocument/2006/relationships/image" Target="../media/image42.jpg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173"/>
            <a:ext cx="20104100" cy="11273790"/>
            <a:chOff x="0" y="35173"/>
            <a:chExt cx="20104100" cy="11273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173"/>
              <a:ext cx="20104099" cy="112733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8323" y="1934347"/>
              <a:ext cx="9036050" cy="1115060"/>
            </a:xfrm>
            <a:custGeom>
              <a:avLst/>
              <a:gdLst/>
              <a:ahLst/>
              <a:cxnLst/>
              <a:rect l="l" t="t" r="r" b="b"/>
              <a:pathLst>
                <a:path w="9036050" h="1115060">
                  <a:moveTo>
                    <a:pt x="9035580" y="0"/>
                  </a:moveTo>
                  <a:lnTo>
                    <a:pt x="0" y="0"/>
                  </a:lnTo>
                  <a:lnTo>
                    <a:pt x="0" y="1114760"/>
                  </a:lnTo>
                  <a:lnTo>
                    <a:pt x="9035580" y="1114760"/>
                  </a:lnTo>
                  <a:lnTo>
                    <a:pt x="9035580" y="0"/>
                  </a:lnTo>
                  <a:close/>
                </a:path>
              </a:pathLst>
            </a:custGeom>
            <a:solidFill>
              <a:srgbClr val="1E2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73251" y="8251435"/>
            <a:ext cx="15402244" cy="2346155"/>
          </a:xfrm>
          <a:prstGeom prst="rect">
            <a:avLst/>
          </a:prstGeom>
        </p:spPr>
        <p:txBody>
          <a:bodyPr vert="horz" wrap="square" lIns="0" tIns="337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spc="-10" dirty="0">
                <a:solidFill>
                  <a:srgbClr val="FFFFFF"/>
                </a:solidFill>
                <a:latin typeface="Canela Text"/>
                <a:cs typeface="Canela Text"/>
              </a:rPr>
              <a:t>Associate</a:t>
            </a:r>
            <a:r>
              <a:rPr sz="2800" spc="-135" dirty="0">
                <a:solidFill>
                  <a:srgbClr val="FFFFFF"/>
                </a:solidFill>
                <a:latin typeface="Canela Text"/>
                <a:cs typeface="Canela Tex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nela Text"/>
                <a:cs typeface="Canela Text"/>
              </a:rPr>
              <a:t>Professor</a:t>
            </a:r>
            <a:endParaRPr lang="en-US" sz="2800" spc="-10" dirty="0">
              <a:solidFill>
                <a:srgbClr val="FFFFFF"/>
              </a:solidFill>
              <a:latin typeface="Canela Text"/>
              <a:cs typeface="Canela Tex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US" sz="2800" spc="125" dirty="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1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lang="en-US" sz="28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75" dirty="0">
                <a:solidFill>
                  <a:srgbClr val="FFFFFF"/>
                </a:solidFill>
                <a:latin typeface="Arial"/>
                <a:cs typeface="Arial"/>
              </a:rPr>
              <a:t>Reconstructive</a:t>
            </a: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1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lang="en-US" sz="28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75" dirty="0">
                <a:solidFill>
                  <a:srgbClr val="FFFFFF"/>
                </a:solidFill>
                <a:latin typeface="Arial"/>
                <a:cs typeface="Arial"/>
              </a:rPr>
              <a:t>Rehabilitation</a:t>
            </a: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40" dirty="0">
                <a:solidFill>
                  <a:srgbClr val="FFFFFF"/>
                </a:solidFill>
                <a:latin typeface="Arial"/>
                <a:cs typeface="Arial"/>
              </a:rPr>
              <a:t>Sciences </a:t>
            </a: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Division</a:t>
            </a:r>
            <a:r>
              <a:rPr lang="en-US" sz="2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lang="en-US" sz="28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55" dirty="0">
                <a:solidFill>
                  <a:srgbClr val="FFFFFF"/>
                </a:solidFill>
                <a:latin typeface="Arial"/>
                <a:cs typeface="Arial"/>
              </a:rPr>
              <a:t>Restorative</a:t>
            </a:r>
            <a:r>
              <a:rPr lang="en-US" sz="28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FFFFFF"/>
                </a:solidFill>
                <a:latin typeface="Arial"/>
                <a:cs typeface="Arial"/>
              </a:rPr>
              <a:t>Dentistry</a:t>
            </a:r>
            <a:endParaRPr lang="en-US"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MUSC</a:t>
            </a:r>
            <a:r>
              <a:rPr lang="en-US"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2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lang="en-US" sz="2800" spc="-10" dirty="0">
                <a:solidFill>
                  <a:srgbClr val="FFFFFF"/>
                </a:solidFill>
                <a:latin typeface="Arial"/>
                <a:cs typeface="Arial"/>
              </a:rPr>
              <a:t>JBECDM</a:t>
            </a:r>
            <a:endParaRPr lang="en-US"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2800" spc="120" dirty="0">
                <a:solidFill>
                  <a:srgbClr val="FFFFFF"/>
                </a:solidFill>
                <a:latin typeface="Arial"/>
                <a:cs typeface="Arial"/>
              </a:rPr>
              <a:t>November</a:t>
            </a:r>
            <a:r>
              <a:rPr lang="en-US" sz="28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20" dirty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endParaRPr lang="en-US" sz="2800" dirty="0">
              <a:latin typeface="Arial"/>
              <a:cs typeface="Arial"/>
            </a:endParaRPr>
          </a:p>
        </p:txBody>
      </p:sp>
      <p:pic>
        <p:nvPicPr>
          <p:cNvPr id="6" name="object 8">
            <a:extLst>
              <a:ext uri="{FF2B5EF4-FFF2-40B4-BE49-F238E27FC236}">
                <a16:creationId xmlns:a16="http://schemas.microsoft.com/office/drawing/2014/main" id="{D0BCEDD7-EE24-A4F9-EA3F-35B9B5643F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322" y="369475"/>
            <a:ext cx="2908127" cy="254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293" rIns="0" bIns="0" rtlCol="0">
            <a:spAutoFit/>
          </a:bodyPr>
          <a:lstStyle/>
          <a:p>
            <a:pPr marL="1903730">
              <a:lnSpc>
                <a:spcPct val="100000"/>
              </a:lnSpc>
              <a:spcBef>
                <a:spcPts val="135"/>
              </a:spcBef>
            </a:pPr>
            <a:r>
              <a:rPr sz="9400" i="0" dirty="0">
                <a:solidFill>
                  <a:srgbClr val="FFF200"/>
                </a:solidFill>
                <a:latin typeface="Chalkduster"/>
                <a:cs typeface="Chalkduster"/>
              </a:rPr>
              <a:t>The</a:t>
            </a:r>
            <a:r>
              <a:rPr sz="9400" i="0" spc="20" dirty="0">
                <a:solidFill>
                  <a:srgbClr val="FFF200"/>
                </a:solidFill>
                <a:latin typeface="Chalkduster"/>
                <a:cs typeface="Chalkduster"/>
              </a:rPr>
              <a:t> </a:t>
            </a:r>
            <a:r>
              <a:rPr sz="9400" i="0" spc="125" dirty="0">
                <a:solidFill>
                  <a:srgbClr val="FFF200"/>
                </a:solidFill>
                <a:latin typeface="Chalkduster"/>
                <a:cs typeface="Chalkduster"/>
              </a:rPr>
              <a:t>Best</a:t>
            </a:r>
            <a:r>
              <a:rPr sz="9400" i="0" spc="15" dirty="0">
                <a:solidFill>
                  <a:srgbClr val="FFF200"/>
                </a:solidFill>
                <a:latin typeface="Chalkduster"/>
                <a:cs typeface="Chalkduster"/>
              </a:rPr>
              <a:t> </a:t>
            </a:r>
            <a:r>
              <a:rPr sz="9400" i="0" spc="-110" dirty="0">
                <a:solidFill>
                  <a:srgbClr val="FFF200"/>
                </a:solidFill>
                <a:latin typeface="Chalkduster"/>
                <a:cs typeface="Chalkduster"/>
              </a:rPr>
              <a:t>P</a:t>
            </a:r>
            <a:r>
              <a:rPr sz="9400" i="0" spc="-160" dirty="0">
                <a:solidFill>
                  <a:srgbClr val="FFF200"/>
                </a:solidFill>
                <a:latin typeface="Chalkduster"/>
                <a:cs typeface="Chalkduster"/>
              </a:rPr>
              <a:t>r</a:t>
            </a:r>
            <a:r>
              <a:rPr sz="9400" i="0" spc="200" dirty="0">
                <a:solidFill>
                  <a:srgbClr val="FFF200"/>
                </a:solidFill>
                <a:latin typeface="Chalkduster"/>
                <a:cs typeface="Chalkduster"/>
              </a:rPr>
              <a:t>e</a:t>
            </a:r>
            <a:r>
              <a:rPr sz="9400" i="0" spc="40" dirty="0">
                <a:solidFill>
                  <a:srgbClr val="FFF200"/>
                </a:solidFill>
                <a:latin typeface="Chalkduster"/>
                <a:cs typeface="Chalkduster"/>
              </a:rPr>
              <a:t>p</a:t>
            </a:r>
            <a:r>
              <a:rPr sz="9400" i="0" spc="-450" dirty="0">
                <a:solidFill>
                  <a:srgbClr val="FFF200"/>
                </a:solidFill>
                <a:latin typeface="Chalkduster"/>
                <a:cs typeface="Chalkduster"/>
              </a:rPr>
              <a:t>a</a:t>
            </a:r>
            <a:r>
              <a:rPr sz="9400" i="0" spc="35" dirty="0">
                <a:solidFill>
                  <a:srgbClr val="FFF200"/>
                </a:solidFill>
                <a:latin typeface="Chalkduster"/>
                <a:cs typeface="Chalkduster"/>
              </a:rPr>
              <a:t>r</a:t>
            </a:r>
            <a:r>
              <a:rPr sz="9400" i="0" spc="-610" dirty="0">
                <a:solidFill>
                  <a:srgbClr val="FFF200"/>
                </a:solidFill>
                <a:latin typeface="Chalkduster"/>
                <a:cs typeface="Chalkduster"/>
              </a:rPr>
              <a:t>a</a:t>
            </a:r>
            <a:r>
              <a:rPr sz="9400" i="0" spc="90" dirty="0">
                <a:solidFill>
                  <a:srgbClr val="FFF200"/>
                </a:solidFill>
                <a:latin typeface="Chalkduster"/>
                <a:cs typeface="Chalkduster"/>
              </a:rPr>
              <a:t>t</a:t>
            </a:r>
            <a:r>
              <a:rPr sz="9400" i="0" spc="35" dirty="0">
                <a:solidFill>
                  <a:srgbClr val="FFF200"/>
                </a:solidFill>
                <a:latin typeface="Chalkduster"/>
                <a:cs typeface="Chalkduster"/>
              </a:rPr>
              <a:t>i</a:t>
            </a:r>
            <a:r>
              <a:rPr sz="9400" i="0" spc="280" dirty="0">
                <a:solidFill>
                  <a:srgbClr val="FFF200"/>
                </a:solidFill>
                <a:latin typeface="Chalkduster"/>
                <a:cs typeface="Chalkduster"/>
              </a:rPr>
              <a:t>o</a:t>
            </a:r>
            <a:r>
              <a:rPr sz="9400" i="0" spc="40" dirty="0">
                <a:solidFill>
                  <a:srgbClr val="FFF200"/>
                </a:solidFill>
                <a:latin typeface="Chalkduster"/>
                <a:cs typeface="Chalkduster"/>
              </a:rPr>
              <a:t>n</a:t>
            </a:r>
            <a:endParaRPr sz="9400">
              <a:latin typeface="Chalkduster"/>
              <a:cs typeface="Chalkduster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474" y="4001249"/>
            <a:ext cx="13047980" cy="4707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8670" algn="ctr">
              <a:lnSpc>
                <a:spcPct val="100000"/>
              </a:lnSpc>
              <a:spcBef>
                <a:spcPts val="135"/>
              </a:spcBef>
            </a:pPr>
            <a:r>
              <a:rPr sz="7550" dirty="0">
                <a:solidFill>
                  <a:srgbClr val="FFFFFF"/>
                </a:solidFill>
                <a:latin typeface="American Typewriter"/>
                <a:cs typeface="American Typewriter"/>
              </a:rPr>
              <a:t>NO</a:t>
            </a:r>
            <a:r>
              <a:rPr sz="7550" spc="-19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7550" spc="35" dirty="0">
                <a:solidFill>
                  <a:srgbClr val="FFFFFF"/>
                </a:solidFill>
                <a:latin typeface="American Typewriter"/>
                <a:cs typeface="American Typewriter"/>
              </a:rPr>
              <a:t>PRE</a:t>
            </a:r>
            <a:r>
              <a:rPr sz="7550" spc="-605" dirty="0">
                <a:solidFill>
                  <a:srgbClr val="FFFFFF"/>
                </a:solidFill>
                <a:latin typeface="American Typewriter"/>
                <a:cs typeface="American Typewriter"/>
              </a:rPr>
              <a:t>P</a:t>
            </a:r>
            <a:r>
              <a:rPr sz="7550" spc="35" dirty="0">
                <a:solidFill>
                  <a:srgbClr val="FFFFFF"/>
                </a:solidFill>
                <a:latin typeface="American Typewriter"/>
                <a:cs typeface="American Typewriter"/>
              </a:rPr>
              <a:t>A</a:t>
            </a:r>
            <a:r>
              <a:rPr sz="7550" spc="275" dirty="0">
                <a:solidFill>
                  <a:srgbClr val="FFFFFF"/>
                </a:solidFill>
                <a:latin typeface="American Typewriter"/>
                <a:cs typeface="American Typewriter"/>
              </a:rPr>
              <a:t>R</a:t>
            </a:r>
            <a:r>
              <a:rPr sz="7550" spc="-195" dirty="0">
                <a:solidFill>
                  <a:srgbClr val="FFFFFF"/>
                </a:solidFill>
                <a:latin typeface="American Typewriter"/>
                <a:cs typeface="American Typewriter"/>
              </a:rPr>
              <a:t>A</a:t>
            </a:r>
            <a:r>
              <a:rPr sz="7550" spc="35" dirty="0">
                <a:solidFill>
                  <a:srgbClr val="FFFFFF"/>
                </a:solidFill>
                <a:latin typeface="American Typewriter"/>
                <a:cs typeface="American Typewriter"/>
              </a:rPr>
              <a:t>TION!!!</a:t>
            </a:r>
            <a:endParaRPr sz="7550">
              <a:latin typeface="American Typewriter"/>
              <a:cs typeface="American Typewriter"/>
            </a:endParaRPr>
          </a:p>
          <a:p>
            <a:pPr marL="12700" marR="890905">
              <a:lnSpc>
                <a:spcPts val="5520"/>
              </a:lnSpc>
              <a:spcBef>
                <a:spcPts val="5820"/>
              </a:spcBef>
            </a:pP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Caries</a:t>
            </a:r>
            <a:r>
              <a:rPr sz="4750" spc="-3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Management</a:t>
            </a:r>
            <a:r>
              <a:rPr sz="475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-</a:t>
            </a:r>
            <a:r>
              <a:rPr sz="475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Patient</a:t>
            </a:r>
            <a:r>
              <a:rPr sz="475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Education</a:t>
            </a:r>
            <a:r>
              <a:rPr sz="475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&amp; </a:t>
            </a:r>
            <a:r>
              <a:rPr sz="47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Remineralization!</a:t>
            </a:r>
            <a:endParaRPr sz="4750">
              <a:latin typeface="American Typewriter"/>
              <a:cs typeface="American Typewriter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500">
              <a:latin typeface="American Typewriter"/>
              <a:cs typeface="American Typewriter"/>
            </a:endParaRPr>
          </a:p>
          <a:p>
            <a:pPr marL="12700">
              <a:lnSpc>
                <a:spcPct val="100000"/>
              </a:lnSpc>
            </a:pP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Surgerize</a:t>
            </a:r>
            <a:r>
              <a:rPr sz="4750" spc="-10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ONLY</a:t>
            </a:r>
            <a:r>
              <a:rPr sz="4750" spc="-9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when</a:t>
            </a:r>
            <a:r>
              <a:rPr sz="4750" spc="-10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we</a:t>
            </a:r>
            <a:r>
              <a:rPr sz="4750" spc="-9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dirty="0">
                <a:solidFill>
                  <a:srgbClr val="FFFFFF"/>
                </a:solidFill>
                <a:latin typeface="American Typewriter"/>
                <a:cs typeface="American Typewriter"/>
              </a:rPr>
              <a:t>can’t</a:t>
            </a:r>
            <a:r>
              <a:rPr sz="4750" spc="-9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7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remineralize!</a:t>
            </a:r>
            <a:endParaRPr sz="4750">
              <a:latin typeface="American Typewriter"/>
              <a:cs typeface="American Typewrite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7424" y="8674833"/>
            <a:ext cx="1645285" cy="0"/>
          </a:xfrm>
          <a:custGeom>
            <a:avLst/>
            <a:gdLst/>
            <a:ahLst/>
            <a:cxnLst/>
            <a:rect l="l" t="t" r="r" b="b"/>
            <a:pathLst>
              <a:path w="1645284">
                <a:moveTo>
                  <a:pt x="0" y="0"/>
                </a:moveTo>
                <a:lnTo>
                  <a:pt x="1645206" y="0"/>
                </a:lnTo>
              </a:path>
            </a:pathLst>
          </a:custGeom>
          <a:ln w="12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9B4E1D0E-E17C-A5A6-24FD-4B8166390684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B803D29-BDD2-A69C-EC13-63420A16392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A31DA50-DEFB-9A18-918A-B7710994A28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E5A19C00-3B67-8DB8-57C5-F068EC0A6D8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900" i="0" dirty="0">
                <a:solidFill>
                  <a:srgbClr val="FFFFFF"/>
                </a:solidFill>
                <a:latin typeface="HelveticaNeue-Medium"/>
                <a:cs typeface="HelveticaNeue-Medium"/>
              </a:rPr>
              <a:t>Before</a:t>
            </a:r>
            <a:r>
              <a:rPr sz="8900" i="0" spc="-125" dirty="0">
                <a:solidFill>
                  <a:srgbClr val="FFFFFF"/>
                </a:solidFill>
                <a:latin typeface="HelveticaNeue-Medium"/>
                <a:cs typeface="HelveticaNeue-Medium"/>
              </a:rPr>
              <a:t> </a:t>
            </a:r>
            <a:r>
              <a:rPr sz="8900" i="0" dirty="0">
                <a:solidFill>
                  <a:srgbClr val="FFFFFF"/>
                </a:solidFill>
                <a:latin typeface="HelveticaNeue-Medium"/>
                <a:cs typeface="HelveticaNeue-Medium"/>
              </a:rPr>
              <a:t>you</a:t>
            </a:r>
            <a:r>
              <a:rPr sz="8900" i="0" spc="-125" dirty="0">
                <a:solidFill>
                  <a:srgbClr val="FFFFFF"/>
                </a:solidFill>
                <a:latin typeface="HelveticaNeue-Medium"/>
                <a:cs typeface="HelveticaNeue-Medium"/>
              </a:rPr>
              <a:t> </a:t>
            </a:r>
            <a:r>
              <a:rPr sz="8900" i="0" dirty="0">
                <a:solidFill>
                  <a:srgbClr val="FFFFFF"/>
                </a:solidFill>
                <a:latin typeface="HelveticaNeue-Medium"/>
                <a:cs typeface="HelveticaNeue-Medium"/>
              </a:rPr>
              <a:t>Prepare</a:t>
            </a:r>
            <a:r>
              <a:rPr sz="8900" i="0" spc="-125" dirty="0">
                <a:solidFill>
                  <a:srgbClr val="FFFFFF"/>
                </a:solidFill>
                <a:latin typeface="HelveticaNeue-Medium"/>
                <a:cs typeface="HelveticaNeue-Medium"/>
              </a:rPr>
              <a:t> </a:t>
            </a:r>
            <a:r>
              <a:rPr sz="8900" i="0" dirty="0">
                <a:solidFill>
                  <a:srgbClr val="FFFFFF"/>
                </a:solidFill>
                <a:latin typeface="HelveticaNeue-Medium"/>
                <a:cs typeface="HelveticaNeue-Medium"/>
              </a:rPr>
              <a:t>a</a:t>
            </a:r>
            <a:r>
              <a:rPr sz="8900" i="0" spc="-120" dirty="0">
                <a:solidFill>
                  <a:srgbClr val="FFFFFF"/>
                </a:solidFill>
                <a:latin typeface="HelveticaNeue-Medium"/>
                <a:cs typeface="HelveticaNeue-Medium"/>
              </a:rPr>
              <a:t> </a:t>
            </a:r>
            <a:r>
              <a:rPr sz="8900" i="0" spc="-10" dirty="0">
                <a:solidFill>
                  <a:srgbClr val="FFFFFF"/>
                </a:solidFill>
                <a:latin typeface="HelveticaNeue-Medium"/>
                <a:cs typeface="HelveticaNeue-Medium"/>
              </a:rPr>
              <a:t>tooth….</a:t>
            </a:r>
            <a:endParaRPr sz="8900">
              <a:latin typeface="HelveticaNeue-Medium"/>
              <a:cs typeface="HelveticaNeue-Medium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4298985" y="6891315"/>
            <a:ext cx="10890250" cy="885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650" dirty="0">
                <a:solidFill>
                  <a:srgbClr val="FFFFFF"/>
                </a:solidFill>
                <a:latin typeface="Chalkduster"/>
                <a:cs typeface="Chalkduster"/>
              </a:rPr>
              <a:t>Check</a:t>
            </a:r>
            <a:r>
              <a:rPr sz="5650" spc="-200" dirty="0">
                <a:solidFill>
                  <a:srgbClr val="FFFFFF"/>
                </a:solidFill>
                <a:latin typeface="Chalkduster"/>
                <a:cs typeface="Chalkduster"/>
              </a:rPr>
              <a:t> </a:t>
            </a:r>
            <a:r>
              <a:rPr sz="5650" dirty="0">
                <a:solidFill>
                  <a:srgbClr val="FFFFFF"/>
                </a:solidFill>
                <a:latin typeface="Chalkduster"/>
                <a:cs typeface="Chalkduster"/>
              </a:rPr>
              <a:t>for</a:t>
            </a:r>
            <a:r>
              <a:rPr sz="5650" spc="-200" dirty="0">
                <a:solidFill>
                  <a:srgbClr val="FFFFFF"/>
                </a:solidFill>
                <a:latin typeface="Chalkduster"/>
                <a:cs typeface="Chalkduster"/>
              </a:rPr>
              <a:t> </a:t>
            </a:r>
            <a:r>
              <a:rPr sz="5650" spc="-30" dirty="0">
                <a:solidFill>
                  <a:srgbClr val="FFFFFF"/>
                </a:solidFill>
                <a:latin typeface="Chalkduster"/>
                <a:cs typeface="Chalkduster"/>
              </a:rPr>
              <a:t>tooth</a:t>
            </a:r>
            <a:r>
              <a:rPr sz="5650" spc="-665" dirty="0">
                <a:solidFill>
                  <a:srgbClr val="FFFFFF"/>
                </a:solidFill>
                <a:latin typeface="Chalkduster"/>
                <a:cs typeface="Chalkduster"/>
              </a:rPr>
              <a:t> </a:t>
            </a:r>
            <a:r>
              <a:rPr sz="5650" spc="-10" dirty="0">
                <a:solidFill>
                  <a:srgbClr val="FFFFFF"/>
                </a:solidFill>
                <a:latin typeface="Chalkduster"/>
                <a:cs typeface="Chalkduster"/>
              </a:rPr>
              <a:t>Vitality!!!!</a:t>
            </a:r>
            <a:endParaRPr sz="5650">
              <a:latin typeface="Chalkduster"/>
              <a:cs typeface="Chalkduster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DDF84F17-324C-0982-0ED9-5FF0840D899F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935BF4E-78FD-9C2B-5D91-4869C7C4A75F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90CA79E-8325-6EE8-6D50-7C835EF37DBD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3ABD223-8AE9-8BBA-F213-45F8A18153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47689"/>
            <a:ext cx="20104100" cy="9761855"/>
            <a:chOff x="0" y="247689"/>
            <a:chExt cx="20104100" cy="9761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99446"/>
              <a:ext cx="20104099" cy="87096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75678" y="247689"/>
              <a:ext cx="7988034" cy="7523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7482" y="1918922"/>
              <a:ext cx="2953261" cy="11517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289837" y="1950335"/>
              <a:ext cx="2848610" cy="1047115"/>
            </a:xfrm>
            <a:custGeom>
              <a:avLst/>
              <a:gdLst/>
              <a:ahLst/>
              <a:cxnLst/>
              <a:rect l="l" t="t" r="r" b="b"/>
              <a:pathLst>
                <a:path w="2848609" h="1047114">
                  <a:moveTo>
                    <a:pt x="2178411" y="0"/>
                  </a:moveTo>
                  <a:lnTo>
                    <a:pt x="2178411" y="356010"/>
                  </a:lnTo>
                  <a:lnTo>
                    <a:pt x="0" y="356010"/>
                  </a:lnTo>
                  <a:lnTo>
                    <a:pt x="0" y="691078"/>
                  </a:lnTo>
                  <a:lnTo>
                    <a:pt x="2178411" y="691078"/>
                  </a:lnTo>
                  <a:lnTo>
                    <a:pt x="2178411" y="1047088"/>
                  </a:lnTo>
                  <a:lnTo>
                    <a:pt x="2848547" y="523544"/>
                  </a:lnTo>
                  <a:lnTo>
                    <a:pt x="21784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89837" y="1950335"/>
              <a:ext cx="2848610" cy="1047115"/>
            </a:xfrm>
            <a:custGeom>
              <a:avLst/>
              <a:gdLst/>
              <a:ahLst/>
              <a:cxnLst/>
              <a:rect l="l" t="t" r="r" b="b"/>
              <a:pathLst>
                <a:path w="2848609" h="1047114">
                  <a:moveTo>
                    <a:pt x="2178416" y="691078"/>
                  </a:moveTo>
                  <a:lnTo>
                    <a:pt x="2178416" y="1047088"/>
                  </a:lnTo>
                  <a:lnTo>
                    <a:pt x="2848553" y="523544"/>
                  </a:lnTo>
                  <a:lnTo>
                    <a:pt x="2178416" y="0"/>
                  </a:lnTo>
                  <a:lnTo>
                    <a:pt x="2178416" y="356010"/>
                  </a:lnTo>
                  <a:lnTo>
                    <a:pt x="0" y="356010"/>
                  </a:lnTo>
                  <a:lnTo>
                    <a:pt x="0" y="691078"/>
                  </a:lnTo>
                  <a:lnTo>
                    <a:pt x="2178416" y="691078"/>
                  </a:lnTo>
                  <a:close/>
                </a:path>
              </a:pathLst>
            </a:custGeom>
            <a:ln w="20941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9491" y="6089812"/>
              <a:ext cx="2953261" cy="115179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141845" y="6121225"/>
              <a:ext cx="2848610" cy="1047115"/>
            </a:xfrm>
            <a:custGeom>
              <a:avLst/>
              <a:gdLst/>
              <a:ahLst/>
              <a:cxnLst/>
              <a:rect l="l" t="t" r="r" b="b"/>
              <a:pathLst>
                <a:path w="2848609" h="1047115">
                  <a:moveTo>
                    <a:pt x="2178418" y="0"/>
                  </a:moveTo>
                  <a:lnTo>
                    <a:pt x="2178418" y="356010"/>
                  </a:lnTo>
                  <a:lnTo>
                    <a:pt x="0" y="356010"/>
                  </a:lnTo>
                  <a:lnTo>
                    <a:pt x="0" y="691078"/>
                  </a:lnTo>
                  <a:lnTo>
                    <a:pt x="2178418" y="691078"/>
                  </a:lnTo>
                  <a:lnTo>
                    <a:pt x="2178418" y="1047088"/>
                  </a:lnTo>
                  <a:lnTo>
                    <a:pt x="2848555" y="523544"/>
                  </a:lnTo>
                  <a:lnTo>
                    <a:pt x="2178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1845" y="6121225"/>
              <a:ext cx="2848610" cy="1047115"/>
            </a:xfrm>
            <a:custGeom>
              <a:avLst/>
              <a:gdLst/>
              <a:ahLst/>
              <a:cxnLst/>
              <a:rect l="l" t="t" r="r" b="b"/>
              <a:pathLst>
                <a:path w="2848609" h="1047115">
                  <a:moveTo>
                    <a:pt x="2178416" y="691078"/>
                  </a:moveTo>
                  <a:lnTo>
                    <a:pt x="2178416" y="1047088"/>
                  </a:lnTo>
                  <a:lnTo>
                    <a:pt x="2848553" y="523544"/>
                  </a:lnTo>
                  <a:lnTo>
                    <a:pt x="2178416" y="0"/>
                  </a:lnTo>
                  <a:lnTo>
                    <a:pt x="2178416" y="356010"/>
                  </a:lnTo>
                  <a:lnTo>
                    <a:pt x="0" y="356010"/>
                  </a:lnTo>
                  <a:lnTo>
                    <a:pt x="0" y="691078"/>
                  </a:lnTo>
                  <a:lnTo>
                    <a:pt x="2178416" y="691078"/>
                  </a:lnTo>
                  <a:close/>
                </a:path>
              </a:pathLst>
            </a:custGeom>
            <a:ln w="20941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12" name="object 5">
            <a:extLst>
              <a:ext uri="{FF2B5EF4-FFF2-40B4-BE49-F238E27FC236}">
                <a16:creationId xmlns:a16="http://schemas.microsoft.com/office/drawing/2014/main" id="{BCF901FF-0B57-0F56-457A-3DF7B55F9DDD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DA26BB25-4EA4-EEAF-2314-B8EA3354132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EA3CC0B1-35D5-5839-1BA3-67D23A24034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79D93475-ABCD-EC99-8977-7F6120FD07D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106" y="0"/>
            <a:ext cx="15105791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8811FA17-FE04-5876-C7E5-BE790EB4A76E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01ADE80-D813-E099-FB75-F2A96DE47D9A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B4CF6669-7F94-E418-5804-0837393C0CCA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8B5BC901-4AAD-88B0-2AA6-1D7523B8DA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012" y="0"/>
            <a:ext cx="15078074" cy="113085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36127" y="401277"/>
            <a:ext cx="857123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400" dirty="0">
                <a:solidFill>
                  <a:srgbClr val="FFFFFF"/>
                </a:solidFill>
                <a:latin typeface="Chalkduster"/>
                <a:cs typeface="Chalkduster"/>
              </a:rPr>
              <a:t>Remove</a:t>
            </a:r>
            <a:r>
              <a:rPr sz="7400" spc="150" dirty="0">
                <a:solidFill>
                  <a:srgbClr val="FFFFFF"/>
                </a:solidFill>
                <a:latin typeface="Chalkduster"/>
                <a:cs typeface="Chalkduster"/>
              </a:rPr>
              <a:t> </a:t>
            </a:r>
            <a:r>
              <a:rPr sz="7400" spc="-10" dirty="0">
                <a:solidFill>
                  <a:srgbClr val="FFFFFF"/>
                </a:solidFill>
                <a:latin typeface="Chalkduster"/>
                <a:cs typeface="Chalkduster"/>
              </a:rPr>
              <a:t>Biofilm</a:t>
            </a:r>
            <a:endParaRPr sz="7400">
              <a:latin typeface="Chalkduster"/>
              <a:cs typeface="Chalkduste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3448" y="8279152"/>
            <a:ext cx="3178810" cy="2685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z="8250" spc="155" dirty="0">
                <a:solidFill>
                  <a:srgbClr val="FFFFFF"/>
                </a:solidFill>
                <a:latin typeface="Chalkduster"/>
                <a:cs typeface="Chalkduster"/>
              </a:rPr>
              <a:t>and </a:t>
            </a:r>
            <a:r>
              <a:rPr sz="8250" spc="425" dirty="0">
                <a:solidFill>
                  <a:srgbClr val="FFFFFF"/>
                </a:solidFill>
                <a:latin typeface="Chalkduster"/>
                <a:cs typeface="Chalkduster"/>
              </a:rPr>
              <a:t>B</a:t>
            </a:r>
            <a:r>
              <a:rPr sz="8250" spc="325" dirty="0">
                <a:solidFill>
                  <a:srgbClr val="FFFFFF"/>
                </a:solidFill>
                <a:latin typeface="Chalkduster"/>
                <a:cs typeface="Chalkduster"/>
              </a:rPr>
              <a:t>o</a:t>
            </a:r>
            <a:r>
              <a:rPr sz="8250" spc="-95" dirty="0">
                <a:solidFill>
                  <a:srgbClr val="FFFFFF"/>
                </a:solidFill>
                <a:latin typeface="Chalkduster"/>
                <a:cs typeface="Chalkduster"/>
              </a:rPr>
              <a:t>n</a:t>
            </a:r>
            <a:r>
              <a:rPr sz="8250" spc="-80" dirty="0">
                <a:solidFill>
                  <a:srgbClr val="FFFFFF"/>
                </a:solidFill>
                <a:latin typeface="Chalkduster"/>
                <a:cs typeface="Chalkduster"/>
              </a:rPr>
              <a:t>d</a:t>
            </a:r>
            <a:endParaRPr sz="8250">
              <a:latin typeface="Chalkduster"/>
              <a:cs typeface="Chalkdus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25041" y="6223065"/>
            <a:ext cx="2796540" cy="510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300" b="1" spc="5" dirty="0">
                <a:solidFill>
                  <a:srgbClr val="E32400"/>
                </a:solidFill>
                <a:latin typeface="American Typewriter"/>
                <a:cs typeface="American Typewriter"/>
              </a:rPr>
              <a:t>4</a:t>
            </a:r>
            <a:endParaRPr sz="33300">
              <a:latin typeface="American Typewriter"/>
              <a:cs typeface="American Typewri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25802" y="7848665"/>
            <a:ext cx="350520" cy="2856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0" dirty="0">
                <a:solidFill>
                  <a:srgbClr val="FFFFFF"/>
                </a:solidFill>
                <a:latin typeface="American Typewriter"/>
                <a:cs typeface="American Typewriter"/>
              </a:rPr>
              <a:t>S</a:t>
            </a:r>
            <a:endParaRPr sz="4100">
              <a:latin typeface="American Typewriter"/>
              <a:cs typeface="American Typewriter"/>
            </a:endParaRPr>
          </a:p>
          <a:p>
            <a:pPr marL="22860" marR="5080" indent="29209" algn="just">
              <a:lnSpc>
                <a:spcPts val="4060"/>
              </a:lnSpc>
              <a:spcBef>
                <a:spcPts val="1100"/>
              </a:spcBef>
            </a:pPr>
            <a:r>
              <a:rPr sz="4100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t e p s</a:t>
            </a:r>
            <a:endParaRPr sz="4100">
              <a:latin typeface="American Typewriter"/>
              <a:cs typeface="American Typewriter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501839" y="2666545"/>
            <a:ext cx="6950709" cy="563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95"/>
              </a:spcBef>
            </a:pPr>
            <a:r>
              <a:rPr sz="8250" i="0" spc="-20" dirty="0">
                <a:solidFill>
                  <a:srgbClr val="FFFFFF"/>
                </a:solidFill>
                <a:latin typeface="Chalkduster"/>
                <a:cs typeface="Chalkduster"/>
              </a:rPr>
              <a:t>Etch</a:t>
            </a:r>
            <a:endParaRPr sz="8250">
              <a:latin typeface="Chalkduster"/>
              <a:cs typeface="Chalkduster"/>
            </a:endParaRPr>
          </a:p>
          <a:p>
            <a:pPr marL="133985" marR="5080" indent="-121920">
              <a:lnSpc>
                <a:spcPct val="164400"/>
              </a:lnSpc>
              <a:spcBef>
                <a:spcPts val="1750"/>
              </a:spcBef>
            </a:pPr>
            <a:r>
              <a:rPr sz="8250" i="0" spc="-170" dirty="0">
                <a:solidFill>
                  <a:srgbClr val="FFFFFF"/>
                </a:solidFill>
                <a:latin typeface="Chalkduster"/>
                <a:cs typeface="Chalkduster"/>
              </a:rPr>
              <a:t>Disinfectant </a:t>
            </a:r>
            <a:r>
              <a:rPr sz="8250" i="0" spc="180" dirty="0">
                <a:solidFill>
                  <a:srgbClr val="FFFFFF"/>
                </a:solidFill>
                <a:latin typeface="Chalkduster"/>
                <a:cs typeface="Chalkduster"/>
              </a:rPr>
              <a:t>Prime</a:t>
            </a:r>
            <a:endParaRPr sz="8250">
              <a:latin typeface="Chalkduster"/>
              <a:cs typeface="Chalkduster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6955" y="240830"/>
            <a:ext cx="5159375" cy="8649335"/>
            <a:chOff x="366955" y="240830"/>
            <a:chExt cx="5159375" cy="86493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955" y="240830"/>
              <a:ext cx="5159279" cy="17034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955" y="5093939"/>
              <a:ext cx="5159280" cy="15707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955" y="2496295"/>
              <a:ext cx="5159280" cy="1736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955" y="7204066"/>
              <a:ext cx="5159280" cy="168552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14" name="object 5">
            <a:extLst>
              <a:ext uri="{FF2B5EF4-FFF2-40B4-BE49-F238E27FC236}">
                <a16:creationId xmlns:a16="http://schemas.microsoft.com/office/drawing/2014/main" id="{AFF3F138-9B70-FAC1-6116-611F64FA7BD4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3FF8CF24-5636-41CC-3492-228981B84AF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F809F69-6E41-45AC-3388-A575CB58C72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8">
              <a:extLst>
                <a:ext uri="{FF2B5EF4-FFF2-40B4-BE49-F238E27FC236}">
                  <a16:creationId xmlns:a16="http://schemas.microsoft.com/office/drawing/2014/main" id="{2BBD0058-9427-64FB-4412-F0C22DC084C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9321" rIns="0" bIns="0" rtlCol="0">
            <a:spAutoFit/>
          </a:bodyPr>
          <a:lstStyle/>
          <a:p>
            <a:pPr marL="5668645">
              <a:lnSpc>
                <a:spcPct val="100000"/>
              </a:lnSpc>
              <a:spcBef>
                <a:spcPts val="135"/>
              </a:spcBef>
            </a:pPr>
            <a:r>
              <a:rPr sz="9400" i="0" spc="-45" dirty="0">
                <a:solidFill>
                  <a:srgbClr val="FFF200"/>
                </a:solidFill>
                <a:latin typeface="Chalkduster"/>
                <a:cs typeface="Chalkduster"/>
              </a:rPr>
              <a:t>Bi</a:t>
            </a:r>
            <a:r>
              <a:rPr sz="9400" i="0" spc="295" dirty="0">
                <a:solidFill>
                  <a:srgbClr val="FFF200"/>
                </a:solidFill>
                <a:latin typeface="Chalkduster"/>
                <a:cs typeface="Chalkduster"/>
              </a:rPr>
              <a:t>o</a:t>
            </a:r>
            <a:r>
              <a:rPr sz="9400" i="0" spc="-50" dirty="0">
                <a:solidFill>
                  <a:srgbClr val="FFF200"/>
                </a:solidFill>
                <a:latin typeface="Chalkduster"/>
                <a:cs typeface="Chalkduster"/>
              </a:rPr>
              <a:t>F</a:t>
            </a:r>
            <a:r>
              <a:rPr sz="9400" i="0" spc="45" dirty="0">
                <a:solidFill>
                  <a:srgbClr val="FFF200"/>
                </a:solidFill>
                <a:latin typeface="Chalkduster"/>
                <a:cs typeface="Chalkduster"/>
              </a:rPr>
              <a:t>i</a:t>
            </a:r>
            <a:r>
              <a:rPr sz="9400" i="0" spc="-250" dirty="0">
                <a:solidFill>
                  <a:srgbClr val="FFF200"/>
                </a:solidFill>
                <a:latin typeface="Chalkduster"/>
                <a:cs typeface="Chalkduster"/>
              </a:rPr>
              <a:t>l</a:t>
            </a:r>
            <a:r>
              <a:rPr sz="9400" i="0" spc="-45" dirty="0">
                <a:solidFill>
                  <a:srgbClr val="FFF200"/>
                </a:solidFill>
                <a:latin typeface="Chalkduster"/>
                <a:cs typeface="Chalkduster"/>
              </a:rPr>
              <a:t>m</a:t>
            </a:r>
            <a:endParaRPr sz="9400">
              <a:latin typeface="Chalkduster"/>
              <a:cs typeface="Chalkdus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133474" y="4014337"/>
            <a:ext cx="13506450" cy="38766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7500"/>
              </a:lnSpc>
              <a:spcBef>
                <a:spcPts val="525"/>
              </a:spcBef>
            </a:pP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Plaque</a:t>
            </a:r>
            <a:r>
              <a:rPr sz="6500" spc="-6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and</a:t>
            </a:r>
            <a:r>
              <a:rPr sz="6500" spc="-6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other</a:t>
            </a:r>
            <a:r>
              <a:rPr sz="6500" spc="-6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organic</a:t>
            </a:r>
            <a:r>
              <a:rPr sz="6500" spc="-6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material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that resides on the tooth. This </a:t>
            </a:r>
            <a:r>
              <a:rPr sz="65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will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inhibit</a:t>
            </a:r>
            <a:r>
              <a:rPr sz="6500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an</a:t>
            </a:r>
            <a:r>
              <a:rPr sz="6500" spc="-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effective</a:t>
            </a:r>
            <a:r>
              <a:rPr sz="6500" spc="-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bond</a:t>
            </a:r>
            <a:r>
              <a:rPr sz="6500" spc="-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to</a:t>
            </a:r>
            <a:r>
              <a:rPr sz="6500" spc="-3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650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any </a:t>
            </a:r>
            <a:r>
              <a:rPr sz="6500" dirty="0">
                <a:solidFill>
                  <a:srgbClr val="FFFFFF"/>
                </a:solidFill>
                <a:latin typeface="American Typewriter"/>
                <a:cs typeface="American Typewriter"/>
              </a:rPr>
              <a:t>type of tooth </a:t>
            </a:r>
            <a:r>
              <a:rPr sz="65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structure.</a:t>
            </a:r>
            <a:endParaRPr sz="6500">
              <a:latin typeface="American Typewriter"/>
              <a:cs typeface="American Typewriter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78FD69E-190B-D011-2165-25E8AF4FE799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A83FB60-83DF-B4A7-C81C-3ADB77C991E2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441E98D-3A65-A1BE-591E-7B5A1F34AFC6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BBDF38A-5B46-9743-552E-7533AD0FCF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371" y="1887"/>
            <a:ext cx="15487360" cy="107143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BD69512C-6B39-1135-178A-292189CDE914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25FC4885-1148-04B6-0C1B-F61E9432890E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9384871-E028-75CB-DA6B-24EDFF42661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9A5A23A7-3468-9FB7-2D01-D08F4F9CCF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50360">
              <a:lnSpc>
                <a:spcPct val="100000"/>
              </a:lnSpc>
              <a:spcBef>
                <a:spcPts val="95"/>
              </a:spcBef>
            </a:pPr>
            <a:r>
              <a:rPr sz="11200" i="0" spc="55" dirty="0">
                <a:solidFill>
                  <a:srgbClr val="FF2700"/>
                </a:solidFill>
                <a:latin typeface="Chalkduster"/>
                <a:cs typeface="Chalkduster"/>
              </a:rPr>
              <a:t>S</a:t>
            </a:r>
            <a:r>
              <a:rPr sz="11200" i="0" spc="670" dirty="0">
                <a:solidFill>
                  <a:srgbClr val="FF2700"/>
                </a:solidFill>
                <a:latin typeface="Chalkduster"/>
                <a:cs typeface="Chalkduster"/>
              </a:rPr>
              <a:t>m</a:t>
            </a:r>
            <a:r>
              <a:rPr sz="11200" i="0" spc="175" dirty="0">
                <a:solidFill>
                  <a:srgbClr val="FF2700"/>
                </a:solidFill>
                <a:latin typeface="Chalkduster"/>
                <a:cs typeface="Chalkduster"/>
              </a:rPr>
              <a:t>e</a:t>
            </a:r>
            <a:r>
              <a:rPr sz="11200" i="0" spc="-1095" dirty="0">
                <a:solidFill>
                  <a:srgbClr val="FF2700"/>
                </a:solidFill>
                <a:latin typeface="Chalkduster"/>
                <a:cs typeface="Chalkduster"/>
              </a:rPr>
              <a:t>a</a:t>
            </a:r>
            <a:r>
              <a:rPr sz="11200" i="0" spc="175" dirty="0">
                <a:solidFill>
                  <a:srgbClr val="FF2700"/>
                </a:solidFill>
                <a:latin typeface="Chalkduster"/>
                <a:cs typeface="Chalkduster"/>
              </a:rPr>
              <a:t>r</a:t>
            </a:r>
            <a:r>
              <a:rPr sz="11200" i="0" spc="815" dirty="0">
                <a:solidFill>
                  <a:srgbClr val="FF2700"/>
                </a:solidFill>
                <a:latin typeface="Chalkduster"/>
                <a:cs typeface="Chalkduster"/>
              </a:rPr>
              <a:t> </a:t>
            </a:r>
            <a:r>
              <a:rPr sz="11200" i="0" spc="-750" dirty="0">
                <a:solidFill>
                  <a:srgbClr val="FF2700"/>
                </a:solidFill>
                <a:latin typeface="Chalkduster"/>
                <a:cs typeface="Chalkduster"/>
              </a:rPr>
              <a:t>L</a:t>
            </a:r>
            <a:r>
              <a:rPr sz="11200" i="0" spc="-60" dirty="0">
                <a:solidFill>
                  <a:srgbClr val="FF2700"/>
                </a:solidFill>
                <a:latin typeface="Chalkduster"/>
                <a:cs typeface="Chalkduster"/>
              </a:rPr>
              <a:t>a</a:t>
            </a:r>
            <a:r>
              <a:rPr sz="11200" i="0" spc="-965" dirty="0">
                <a:solidFill>
                  <a:srgbClr val="FF2700"/>
                </a:solidFill>
                <a:latin typeface="Chalkduster"/>
                <a:cs typeface="Chalkduster"/>
              </a:rPr>
              <a:t>y</a:t>
            </a:r>
            <a:r>
              <a:rPr sz="11200" i="0" spc="-300" dirty="0">
                <a:solidFill>
                  <a:srgbClr val="FF2700"/>
                </a:solidFill>
                <a:latin typeface="Chalkduster"/>
                <a:cs typeface="Chalkduster"/>
              </a:rPr>
              <a:t>e</a:t>
            </a:r>
            <a:r>
              <a:rPr sz="11200" i="0" spc="-70" dirty="0">
                <a:solidFill>
                  <a:srgbClr val="FF2700"/>
                </a:solidFill>
                <a:latin typeface="Chalkduster"/>
                <a:cs typeface="Chalkduster"/>
              </a:rPr>
              <a:t>r</a:t>
            </a:r>
            <a:endParaRPr sz="11200">
              <a:latin typeface="Chalkduster"/>
              <a:cs typeface="Chalkduster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1756" y="2794151"/>
            <a:ext cx="13532485" cy="344360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32740" marR="463550" algn="ctr">
              <a:lnSpc>
                <a:spcPts val="6720"/>
              </a:lnSpc>
              <a:spcBef>
                <a:spcPts val="495"/>
              </a:spcBef>
              <a:tabLst>
                <a:tab pos="4417060" algn="l"/>
                <a:tab pos="6493510" algn="l"/>
              </a:tabLst>
            </a:pPr>
            <a:r>
              <a:rPr sz="5750" spc="-10" dirty="0">
                <a:solidFill>
                  <a:srgbClr val="F8FCF7"/>
                </a:solidFill>
                <a:latin typeface="American Typewriter"/>
                <a:cs typeface="American Typewriter"/>
              </a:rPr>
              <a:t>Denatured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	cutting</a:t>
            </a:r>
            <a:r>
              <a:rPr sz="5750" spc="-5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CEC00"/>
                </a:solidFill>
                <a:latin typeface="American Typewriter"/>
                <a:cs typeface="American Typewriter"/>
              </a:rPr>
              <a:t>debris</a:t>
            </a:r>
            <a:r>
              <a:rPr sz="5750" spc="80" dirty="0">
                <a:solidFill>
                  <a:srgbClr val="FCEC00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formed</a:t>
            </a:r>
            <a:r>
              <a:rPr sz="5750" spc="114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spc="-25" dirty="0">
                <a:solidFill>
                  <a:srgbClr val="F8FCF7"/>
                </a:solidFill>
                <a:latin typeface="American Typewriter"/>
                <a:cs typeface="American Typewriter"/>
              </a:rPr>
              <a:t>by </a:t>
            </a:r>
            <a:r>
              <a:rPr sz="5750" spc="-10" dirty="0">
                <a:solidFill>
                  <a:srgbClr val="F8FCF7"/>
                </a:solidFill>
                <a:latin typeface="American Typewriter"/>
                <a:cs typeface="American Typewriter"/>
              </a:rPr>
              <a:t>instrumentation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	of</a:t>
            </a:r>
            <a:r>
              <a:rPr sz="5750" spc="20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spc="-10" dirty="0">
                <a:solidFill>
                  <a:srgbClr val="F8FCF7"/>
                </a:solidFill>
                <a:latin typeface="American Typewriter"/>
                <a:cs typeface="American Typewriter"/>
              </a:rPr>
              <a:t>dentin.</a:t>
            </a:r>
            <a:endParaRPr sz="5750">
              <a:latin typeface="American Typewriter"/>
              <a:cs typeface="American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300">
              <a:latin typeface="American Typewriter"/>
              <a:cs typeface="American Typewriter"/>
            </a:endParaRPr>
          </a:p>
          <a:p>
            <a:pPr algn="ctr">
              <a:lnSpc>
                <a:spcPct val="100000"/>
              </a:lnSpc>
            </a:pP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It</a:t>
            </a:r>
            <a:r>
              <a:rPr sz="5750" spc="-55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is</a:t>
            </a:r>
            <a:r>
              <a:rPr sz="5750" spc="60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b="1" dirty="0">
                <a:solidFill>
                  <a:srgbClr val="89828E"/>
                </a:solidFill>
                <a:latin typeface="American Typewriter"/>
                <a:cs typeface="American Typewriter"/>
              </a:rPr>
              <a:t>welded</a:t>
            </a:r>
            <a:r>
              <a:rPr sz="5750" b="1" spc="20" dirty="0">
                <a:solidFill>
                  <a:srgbClr val="89828E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to</a:t>
            </a:r>
            <a:r>
              <a:rPr sz="5750" spc="40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the</a:t>
            </a:r>
            <a:r>
              <a:rPr sz="5750" spc="65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tooth</a:t>
            </a:r>
            <a:r>
              <a:rPr sz="5750" spc="65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5750" dirty="0">
                <a:solidFill>
                  <a:srgbClr val="F8FCF7"/>
                </a:solidFill>
                <a:latin typeface="American Typewriter"/>
                <a:cs typeface="American Typewriter"/>
              </a:rPr>
              <a:t>surface.</a:t>
            </a:r>
            <a:r>
              <a:rPr sz="5750" spc="65" dirty="0">
                <a:solidFill>
                  <a:srgbClr val="F8FCF7"/>
                </a:solidFill>
                <a:latin typeface="American Typewriter"/>
                <a:cs typeface="American Typewriter"/>
              </a:rPr>
              <a:t> </a:t>
            </a:r>
            <a:r>
              <a:rPr sz="3800" dirty="0">
                <a:solidFill>
                  <a:srgbClr val="FF42F9"/>
                </a:solidFill>
                <a:latin typeface="American Typewriter"/>
                <a:cs typeface="American Typewriter"/>
              </a:rPr>
              <a:t>(6</a:t>
            </a:r>
            <a:r>
              <a:rPr sz="3800" spc="-105" dirty="0">
                <a:solidFill>
                  <a:srgbClr val="FF42F9"/>
                </a:solidFill>
                <a:latin typeface="American Typewriter"/>
                <a:cs typeface="American Typewriter"/>
              </a:rPr>
              <a:t> </a:t>
            </a:r>
            <a:r>
              <a:rPr sz="3800" spc="-20" dirty="0">
                <a:solidFill>
                  <a:srgbClr val="FF42F9"/>
                </a:solidFill>
                <a:latin typeface="American Typewriter"/>
                <a:cs typeface="American Typewriter"/>
              </a:rPr>
              <a:t>MPa)</a:t>
            </a:r>
            <a:endParaRPr sz="3800">
              <a:latin typeface="American Typewriter"/>
              <a:cs typeface="American Typewrite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5823" y="6199785"/>
            <a:ext cx="2654935" cy="0"/>
          </a:xfrm>
          <a:custGeom>
            <a:avLst/>
            <a:gdLst/>
            <a:ahLst/>
            <a:cxnLst/>
            <a:rect l="l" t="t" r="r" b="b"/>
            <a:pathLst>
              <a:path w="2654934">
                <a:moveTo>
                  <a:pt x="0" y="0"/>
                </a:moveTo>
                <a:lnTo>
                  <a:pt x="2654788" y="0"/>
                </a:lnTo>
              </a:path>
            </a:pathLst>
          </a:custGeom>
          <a:ln w="14659">
            <a:solidFill>
              <a:srgbClr val="898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E30A1C9F-AEA1-4556-B10B-6C0FC695A08D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D2426F9-7D65-E017-F62A-A84C82E26290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AFB06D4-D541-3B48-9133-68C735243140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70FDBAE0-56F1-EBD7-9CFF-7839854F55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03441" y="361003"/>
            <a:ext cx="10608945" cy="1494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600" b="1" dirty="0">
                <a:solidFill>
                  <a:srgbClr val="FFFFFF"/>
                </a:solidFill>
                <a:latin typeface="American Typewriter"/>
                <a:cs typeface="American Typewriter"/>
              </a:rPr>
              <a:t>STEP</a:t>
            </a:r>
            <a:r>
              <a:rPr sz="9600" b="1" spc="254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9600" b="1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#</a:t>
            </a:r>
            <a:r>
              <a:rPr lang="en-US" sz="9600" b="1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1</a:t>
            </a:r>
            <a:endParaRPr sz="9600" dirty="0">
              <a:latin typeface="American Typewriter"/>
              <a:cs typeface="American Typewrite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0330" y="4420737"/>
            <a:ext cx="11008360" cy="31794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 algn="ctr">
              <a:lnSpc>
                <a:spcPts val="6100"/>
              </a:lnSpc>
              <a:spcBef>
                <a:spcPts val="630"/>
              </a:spcBef>
            </a:pP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Cleaning</a:t>
            </a:r>
            <a:r>
              <a:rPr sz="5450" spc="-2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5450" spc="-204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enamel</a:t>
            </a:r>
            <a:r>
              <a:rPr sz="5450" spc="-2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removes</a:t>
            </a:r>
            <a:r>
              <a:rPr sz="5450" spc="-204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the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biofilm</a:t>
            </a:r>
            <a:r>
              <a:rPr sz="5450" spc="-14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and</a:t>
            </a:r>
            <a:r>
              <a:rPr sz="5450" spc="-1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smear</a:t>
            </a:r>
            <a:r>
              <a:rPr sz="5450" spc="-1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layer</a:t>
            </a:r>
            <a:r>
              <a:rPr sz="5450" spc="-1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on</a:t>
            </a:r>
            <a:r>
              <a:rPr sz="5450" spc="-14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these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surfaces,</a:t>
            </a:r>
            <a:r>
              <a:rPr sz="5450" spc="-2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enhancing</a:t>
            </a:r>
            <a:r>
              <a:rPr sz="5450" spc="-2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5450" spc="-204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overall </a:t>
            </a:r>
            <a:r>
              <a:rPr sz="5450" dirty="0">
                <a:solidFill>
                  <a:srgbClr val="FFFFFF"/>
                </a:solidFill>
                <a:latin typeface="American Typewriter"/>
                <a:cs typeface="American Typewriter"/>
              </a:rPr>
              <a:t>bonding</a:t>
            </a:r>
            <a:r>
              <a:rPr sz="5450" spc="-2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54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process.</a:t>
            </a:r>
            <a:endParaRPr sz="5450" dirty="0">
              <a:latin typeface="American Typewriter"/>
              <a:cs typeface="American Typewriter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1999" y="6702932"/>
            <a:ext cx="1267910" cy="10153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9896" y="4617632"/>
            <a:ext cx="1421360" cy="10058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4315523A-9C17-F058-8495-6C3A22AB8BF8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40B7565-0E63-45E6-CF6F-D50C7F713A3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97C33DF4-CD5C-EE58-FF8D-CFEB2A50BE36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D5A9F20B-566E-4337-9D6F-0B28CC6B59C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4D207-16FD-C7C7-6CC3-DB406C6E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11" y="69454"/>
            <a:ext cx="18352476" cy="938719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6022C-D04D-0057-5D6E-2B02C9DA7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1335" y="69454"/>
            <a:ext cx="12910819" cy="8825493"/>
          </a:xfrm>
        </p:spPr>
        <p:txBody>
          <a:bodyPr/>
          <a:lstStyle/>
          <a:p>
            <a:r>
              <a:rPr lang="en-US" sz="9600" dirty="0">
                <a:latin typeface="Britannic Bold" panose="020B0903060703020204" pitchFamily="34" charset="0"/>
              </a:rPr>
              <a:t>STEP 2   </a:t>
            </a:r>
            <a:r>
              <a:rPr lang="en-US" sz="6000" dirty="0">
                <a:solidFill>
                  <a:srgbClr val="FFFF00"/>
                </a:solidFill>
                <a:latin typeface="Britannic Bold" panose="020B0903060703020204" pitchFamily="34" charset="0"/>
              </a:rPr>
              <a:t>Enamel</a:t>
            </a:r>
          </a:p>
          <a:p>
            <a:endParaRPr lang="en-US" sz="9600" dirty="0">
              <a:latin typeface="Britannic Bold" panose="020B0903060703020204" pitchFamily="34" charset="0"/>
            </a:endParaRPr>
          </a:p>
          <a:p>
            <a:r>
              <a:rPr lang="en-US" dirty="0"/>
              <a:t>TOTAL ETCH, </a:t>
            </a:r>
            <a:r>
              <a:rPr lang="en-US" dirty="0">
                <a:solidFill>
                  <a:srgbClr val="00B0F0"/>
                </a:solidFill>
              </a:rPr>
              <a:t>37% phosphoric acid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15 SECONDS – WASH, GENTLY DRY</a:t>
            </a:r>
          </a:p>
          <a:p>
            <a:endParaRPr lang="en-US" dirty="0"/>
          </a:p>
          <a:p>
            <a:r>
              <a:rPr lang="en-US" dirty="0"/>
              <a:t>On enamel, </a:t>
            </a:r>
            <a:r>
              <a:rPr lang="en-US" dirty="0">
                <a:solidFill>
                  <a:srgbClr val="00B0F0"/>
                </a:solidFill>
              </a:rPr>
              <a:t>37 % phosphoric acid</a:t>
            </a:r>
            <a:r>
              <a:rPr lang="en-US" dirty="0"/>
              <a:t> etching helps remove the smear layer and create a microscopically rough surface.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216C27F-46DD-F924-3419-ECCB6295EA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7850" y="1463675"/>
            <a:ext cx="493315" cy="28141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4F9E252B-834D-5E59-040E-268E805D5D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42221" y="9061569"/>
            <a:ext cx="3392473" cy="1603495"/>
          </a:xfrm>
          <a:prstGeom prst="rect">
            <a:avLst/>
          </a:prstGeom>
        </p:spPr>
      </p:pic>
      <p:grpSp>
        <p:nvGrpSpPr>
          <p:cNvPr id="6" name="object 5">
            <a:extLst>
              <a:ext uri="{FF2B5EF4-FFF2-40B4-BE49-F238E27FC236}">
                <a16:creationId xmlns:a16="http://schemas.microsoft.com/office/drawing/2014/main" id="{AEC24EEA-7731-7EEE-9178-216279FFBDEF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8FF5F96-8712-B3CD-61B6-7C08DCF0D17D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47D8F96-937A-0BAF-1250-03952294CF9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C55105E4-9A87-CA00-0E32-C0D7D374AFB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153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5ACB-B7DA-186E-3C8E-7B286D2B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5850" y="1539875"/>
            <a:ext cx="1632436" cy="7666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CD9FE-A869-CA2C-B3C7-0E4C4DD1C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3650" y="549275"/>
            <a:ext cx="12910819" cy="8825493"/>
          </a:xfrm>
        </p:spPr>
        <p:txBody>
          <a:bodyPr/>
          <a:lstStyle/>
          <a:p>
            <a:r>
              <a:rPr lang="en-US" sz="9600" dirty="0">
                <a:latin typeface="Britannic Bold" panose="020B0903060703020204" pitchFamily="34" charset="0"/>
              </a:rPr>
              <a:t>STEP 2   </a:t>
            </a:r>
            <a:r>
              <a:rPr lang="en-US" sz="6000" dirty="0">
                <a:solidFill>
                  <a:srgbClr val="FFFF00"/>
                </a:solidFill>
                <a:latin typeface="Britannic Bold" panose="020B0903060703020204" pitchFamily="34" charset="0"/>
              </a:rPr>
              <a:t>Dentin</a:t>
            </a:r>
          </a:p>
          <a:p>
            <a:endParaRPr lang="en-US" sz="9600" dirty="0">
              <a:latin typeface="Britannic Bold" panose="020B0903060703020204" pitchFamily="34" charset="0"/>
            </a:endParaRPr>
          </a:p>
          <a:p>
            <a:r>
              <a:rPr lang="en-US" dirty="0"/>
              <a:t>TOTAL ETCH, </a:t>
            </a:r>
            <a:r>
              <a:rPr lang="en-US" dirty="0">
                <a:solidFill>
                  <a:srgbClr val="00B0F0"/>
                </a:solidFill>
              </a:rPr>
              <a:t>37% phosphoric acid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15 SECONDS – WASH, GENTLY DRY</a:t>
            </a:r>
          </a:p>
          <a:p>
            <a:r>
              <a:rPr lang="en-US" dirty="0"/>
              <a:t>Etching removes the smear layer (good) but </a:t>
            </a:r>
            <a:r>
              <a:rPr lang="en-US" dirty="0" err="1"/>
              <a:t>excessvie</a:t>
            </a:r>
            <a:r>
              <a:rPr lang="en-US" dirty="0"/>
              <a:t> etching removes excess calcium from the hydroxyapatite (bad). You must etch properly.</a:t>
            </a: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BDB6C977-05E9-F8F6-7419-EE327093277E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5D23036-274D-6A01-5212-9551ADA04CA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AB4D6512-FCF6-2BED-5FCC-6F35FF100C86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7424F653-2E8D-5038-CB77-67925302BD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  <p:pic>
        <p:nvPicPr>
          <p:cNvPr id="8" name="object 7">
            <a:extLst>
              <a:ext uri="{FF2B5EF4-FFF2-40B4-BE49-F238E27FC236}">
                <a16:creationId xmlns:a16="http://schemas.microsoft.com/office/drawing/2014/main" id="{B67D3E28-0A75-4C67-1960-D00DEBF9C7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9377" y="8931275"/>
            <a:ext cx="3392473" cy="1603495"/>
          </a:xfrm>
          <a:prstGeom prst="rect">
            <a:avLst/>
          </a:prstGeom>
        </p:spPr>
      </p:pic>
      <p:pic>
        <p:nvPicPr>
          <p:cNvPr id="9" name="object 2">
            <a:extLst>
              <a:ext uri="{FF2B5EF4-FFF2-40B4-BE49-F238E27FC236}">
                <a16:creationId xmlns:a16="http://schemas.microsoft.com/office/drawing/2014/main" id="{023B2012-F98C-522F-85C5-69858EBAC4C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57850" y="1463675"/>
            <a:ext cx="493315" cy="28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2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604872" y="1343258"/>
            <a:ext cx="14957425" cy="5830570"/>
            <a:chOff x="2604872" y="1343258"/>
            <a:chExt cx="14957425" cy="5830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0085" y="5317679"/>
              <a:ext cx="108125" cy="358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4872" y="1343258"/>
              <a:ext cx="6923181" cy="58300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0656" y="1343258"/>
              <a:ext cx="7931338" cy="58300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296538" y="10290019"/>
            <a:ext cx="164528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5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pH~0.7</a:t>
            </a:r>
            <a:endParaRPr sz="3550">
              <a:latin typeface="American Typewriter"/>
              <a:cs typeface="American Typewriter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1008" y="7742777"/>
            <a:ext cx="5217462" cy="24660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93365" y="-236358"/>
            <a:ext cx="10328910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91860" algn="l"/>
              </a:tabLst>
            </a:pPr>
            <a:r>
              <a:rPr sz="9900" b="1" i="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Exposed</a:t>
            </a:r>
            <a:r>
              <a:rPr sz="9900" b="1" i="0" dirty="0">
                <a:solidFill>
                  <a:srgbClr val="FFFFFF"/>
                </a:solidFill>
                <a:latin typeface="American Typewriter"/>
                <a:cs typeface="American Typewriter"/>
              </a:rPr>
              <a:t>	</a:t>
            </a:r>
            <a:r>
              <a:rPr sz="9900" b="1" i="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Dentin</a:t>
            </a:r>
            <a:endParaRPr sz="9900">
              <a:latin typeface="American Typewriter"/>
              <a:cs typeface="American Typewriter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0942" y="7385874"/>
            <a:ext cx="2157002" cy="6073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5298" y="1300587"/>
            <a:ext cx="11808760" cy="591542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13" name="object 5">
            <a:extLst>
              <a:ext uri="{FF2B5EF4-FFF2-40B4-BE49-F238E27FC236}">
                <a16:creationId xmlns:a16="http://schemas.microsoft.com/office/drawing/2014/main" id="{9DB16CCE-E372-DF79-6FAA-52C07832BF73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1769C132-93C3-5640-6C6D-425B3AA283F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721E203D-83EA-BB6D-6D87-35F19FA6D1CE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8">
              <a:extLst>
                <a:ext uri="{FF2B5EF4-FFF2-40B4-BE49-F238E27FC236}">
                  <a16:creationId xmlns:a16="http://schemas.microsoft.com/office/drawing/2014/main" id="{064E9B7E-45A6-0558-1A24-D53B189C68D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389A-1656-389A-40B8-EE587CF3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49" y="2225675"/>
            <a:ext cx="184637" cy="808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454F1-930B-D45C-C0FE-00DF9B88A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1650" y="-78432"/>
            <a:ext cx="12987019" cy="6647974"/>
          </a:xfrm>
        </p:spPr>
        <p:txBody>
          <a:bodyPr/>
          <a:lstStyle/>
          <a:p>
            <a:r>
              <a:rPr lang="en-US" sz="9600" dirty="0">
                <a:latin typeface="Britannic Bold" panose="020B0903060703020204" pitchFamily="34" charset="0"/>
              </a:rPr>
              <a:t>STEP 3  </a:t>
            </a:r>
            <a:endParaRPr lang="en-US" sz="6000" dirty="0">
              <a:solidFill>
                <a:srgbClr val="FFFF00"/>
              </a:solidFill>
              <a:latin typeface="Britannic Bold" panose="020B0903060703020204" pitchFamily="34" charset="0"/>
            </a:endParaRPr>
          </a:p>
          <a:p>
            <a:endParaRPr lang="en-US" sz="9600" dirty="0">
              <a:latin typeface="Britannic Bold" panose="020B0903060703020204" pitchFamily="34" charset="0"/>
            </a:endParaRPr>
          </a:p>
          <a:p>
            <a:r>
              <a:rPr lang="en-US" sz="4000" dirty="0"/>
              <a:t>Apply </a:t>
            </a:r>
            <a:r>
              <a:rPr lang="en-US" sz="4000" dirty="0" err="1"/>
              <a:t>FiteBac</a:t>
            </a:r>
            <a:r>
              <a:rPr lang="en-US" sz="4000" dirty="0"/>
              <a:t> to enamel and dentin.</a:t>
            </a:r>
          </a:p>
          <a:p>
            <a:r>
              <a:rPr lang="en-US" sz="4000" dirty="0"/>
              <a:t>A methacrylate QAS will penetrate the dentin, remove the smear layer and mineralize the dentin to protect the dentin and kill bacteria on contact.  This will enhance the long-term bond.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7358449-43CD-A5AE-2B8F-A9451C8959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1369" y="7331075"/>
            <a:ext cx="1755307" cy="2223081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id="{4E0062A0-DEEA-86F5-8C9B-528E66032EF8}"/>
              </a:ext>
            </a:extLst>
          </p:cNvPr>
          <p:cNvGrpSpPr/>
          <p:nvPr/>
        </p:nvGrpSpPr>
        <p:grpSpPr>
          <a:xfrm>
            <a:off x="130856" y="10008678"/>
            <a:ext cx="4428741" cy="1052184"/>
            <a:chOff x="9125369" y="6148504"/>
            <a:chExt cx="2996565" cy="6470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D89563F-2AA0-49A0-D34D-48275E88188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515D0FC-D6E4-6088-A629-FE006D7B39D5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01EFCEF6-BF9A-014C-803E-D7FC3571C38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827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859" y="3131483"/>
            <a:ext cx="18834424" cy="69097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975" y="269273"/>
            <a:ext cx="1759108" cy="24292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8093" rIns="0" bIns="0" rtlCol="0">
            <a:spAutoFit/>
          </a:bodyPr>
          <a:lstStyle/>
          <a:p>
            <a:pPr marL="3198495">
              <a:lnSpc>
                <a:spcPct val="100000"/>
              </a:lnSpc>
              <a:spcBef>
                <a:spcPts val="125"/>
              </a:spcBef>
            </a:pPr>
            <a:r>
              <a:rPr sz="3600" i="0" dirty="0">
                <a:latin typeface="Canela Text"/>
                <a:cs typeface="Canela Text"/>
              </a:rPr>
              <a:t>One</a:t>
            </a:r>
            <a:r>
              <a:rPr sz="3600" i="0" spc="-60" dirty="0">
                <a:latin typeface="Canela Text"/>
                <a:cs typeface="Canela Text"/>
              </a:rPr>
              <a:t> </a:t>
            </a:r>
            <a:r>
              <a:rPr sz="3600" i="0" dirty="0">
                <a:latin typeface="Canela Text"/>
                <a:cs typeface="Canela Text"/>
              </a:rPr>
              <a:t>of</a:t>
            </a:r>
            <a:r>
              <a:rPr sz="3600" i="0" spc="-60" dirty="0">
                <a:latin typeface="Canela Text"/>
                <a:cs typeface="Canela Text"/>
              </a:rPr>
              <a:t> </a:t>
            </a:r>
            <a:r>
              <a:rPr sz="3600" i="0" dirty="0">
                <a:latin typeface="Canela Text"/>
                <a:cs typeface="Canela Text"/>
              </a:rPr>
              <a:t>these</a:t>
            </a:r>
            <a:r>
              <a:rPr sz="3600" i="0" spc="-55" dirty="0">
                <a:latin typeface="Canela Text"/>
                <a:cs typeface="Canela Text"/>
              </a:rPr>
              <a:t> </a:t>
            </a:r>
            <a:r>
              <a:rPr sz="3600" i="0" dirty="0">
                <a:latin typeface="Canela Text"/>
                <a:cs typeface="Canela Text"/>
              </a:rPr>
              <a:t>two</a:t>
            </a:r>
            <a:r>
              <a:rPr sz="3600" i="0" spc="-60" dirty="0">
                <a:latin typeface="Canela Text"/>
                <a:cs typeface="Canela Text"/>
              </a:rPr>
              <a:t> </a:t>
            </a:r>
            <a:r>
              <a:rPr sz="3600" i="0" spc="-10" dirty="0">
                <a:latin typeface="Canela Text"/>
                <a:cs typeface="Canela Text"/>
              </a:rPr>
              <a:t>techniques</a:t>
            </a:r>
            <a:r>
              <a:rPr sz="3600" i="0" spc="-55" dirty="0">
                <a:latin typeface="Canela Text"/>
                <a:cs typeface="Canela Text"/>
              </a:rPr>
              <a:t> </a:t>
            </a:r>
            <a:r>
              <a:rPr sz="3600" i="0" dirty="0">
                <a:latin typeface="Canela Text"/>
                <a:cs typeface="Canela Text"/>
              </a:rPr>
              <a:t>MUST</a:t>
            </a:r>
            <a:r>
              <a:rPr sz="3600" i="0" spc="-60" dirty="0">
                <a:latin typeface="Canela Text"/>
                <a:cs typeface="Canela Text"/>
              </a:rPr>
              <a:t> </a:t>
            </a:r>
            <a:r>
              <a:rPr sz="3600" i="0" dirty="0">
                <a:latin typeface="Canela Text"/>
                <a:cs typeface="Canela Text"/>
              </a:rPr>
              <a:t>be</a:t>
            </a:r>
            <a:r>
              <a:rPr sz="3600" i="0" spc="-55" dirty="0">
                <a:latin typeface="Canela Text"/>
                <a:cs typeface="Canela Text"/>
              </a:rPr>
              <a:t> </a:t>
            </a:r>
            <a:r>
              <a:rPr sz="3600" i="0" spc="-10" dirty="0">
                <a:latin typeface="Canela Text"/>
                <a:cs typeface="Canela Text"/>
              </a:rPr>
              <a:t>employed!!!</a:t>
            </a:r>
            <a:endParaRPr sz="3600">
              <a:latin typeface="Canela Text"/>
              <a:cs typeface="Canela Tex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3CFB9F9C-26A6-94E6-EE30-F892A63668FE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20D62B8-0695-C090-2807-CF0F4212FB7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BF45E37-A191-B7E3-FAC8-6296521A3FDE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AFE0E69B-A1D5-4552-C98D-183EA77D2F6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F570-3F9B-D214-7B7B-757E441F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9228286" y="2306559"/>
            <a:ext cx="45719" cy="3001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B09E0-0F49-F8B0-732F-05E65E51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1335" y="244475"/>
            <a:ext cx="12910819" cy="10741402"/>
          </a:xfrm>
        </p:spPr>
        <p:txBody>
          <a:bodyPr/>
          <a:lstStyle/>
          <a:p>
            <a:r>
              <a:rPr lang="en-US" sz="9600" dirty="0">
                <a:latin typeface="Britannic Bold" panose="020B0903060703020204" pitchFamily="34" charset="0"/>
              </a:rPr>
              <a:t>STEP 4</a:t>
            </a:r>
            <a:r>
              <a:rPr lang="en-US" sz="13100" dirty="0">
                <a:latin typeface="Britannic Bold" panose="020B0903060703020204" pitchFamily="34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Britannic Bold" panose="020B0903060703020204" pitchFamily="34" charset="0"/>
              </a:rPr>
              <a:t>Bonding to Enamel and Dentin</a:t>
            </a:r>
          </a:p>
          <a:p>
            <a:endParaRPr lang="en-US" sz="13100" dirty="0">
              <a:latin typeface="Britannic Bold" panose="020B0903060703020204" pitchFamily="34" charset="0"/>
            </a:endParaRPr>
          </a:p>
          <a:p>
            <a:r>
              <a:rPr lang="en-US" dirty="0"/>
              <a:t>Apply two separate coats of All Bond Universal and scrub with a </a:t>
            </a:r>
            <a:r>
              <a:rPr lang="en-US" dirty="0" err="1"/>
              <a:t>microbrush</a:t>
            </a:r>
            <a:r>
              <a:rPr lang="en-US" dirty="0"/>
              <a:t> for  10 -15 seconds per each coat.</a:t>
            </a:r>
          </a:p>
          <a:p>
            <a:endParaRPr lang="en-US" dirty="0"/>
          </a:p>
          <a:p>
            <a:r>
              <a:rPr lang="en-US" dirty="0"/>
              <a:t>Air dry after second coat for 10 second and light cure for 10 seconds.</a:t>
            </a:r>
          </a:p>
        </p:txBody>
      </p:sp>
      <p:pic>
        <p:nvPicPr>
          <p:cNvPr id="4" name="object 10">
            <a:extLst>
              <a:ext uri="{FF2B5EF4-FFF2-40B4-BE49-F238E27FC236}">
                <a16:creationId xmlns:a16="http://schemas.microsoft.com/office/drawing/2014/main" id="{D1C10E1D-F2BE-21A2-AAA2-0199903E7E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48250" y="3063875"/>
            <a:ext cx="761745" cy="186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38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59125">
              <a:lnSpc>
                <a:spcPct val="100000"/>
              </a:lnSpc>
              <a:spcBef>
                <a:spcPts val="105"/>
              </a:spcBef>
            </a:pPr>
            <a:r>
              <a:rPr sz="8900" i="0" dirty="0">
                <a:solidFill>
                  <a:srgbClr val="FFFFFF"/>
                </a:solidFill>
                <a:latin typeface="HelveticaNeue-Medium"/>
                <a:cs typeface="HelveticaNeue-Medium"/>
              </a:rPr>
              <a:t>LIGHT </a:t>
            </a:r>
            <a:r>
              <a:rPr sz="8900" i="0" spc="-10" dirty="0">
                <a:solidFill>
                  <a:srgbClr val="FFFFFF"/>
                </a:solidFill>
                <a:latin typeface="HelveticaNeue-Medium"/>
                <a:cs typeface="HelveticaNeue-Medium"/>
              </a:rPr>
              <a:t>CURING!!</a:t>
            </a:r>
            <a:endParaRPr sz="8900">
              <a:latin typeface="HelveticaNeue-Medium"/>
              <a:cs typeface="HelveticaNeue-Medium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6490">
              <a:lnSpc>
                <a:spcPts val="2975"/>
              </a:lnSpc>
            </a:pPr>
            <a:r>
              <a:rPr sz="2950" dirty="0">
                <a:solidFill>
                  <a:srgbClr val="FFFFFF"/>
                </a:solidFill>
              </a:rPr>
              <a:t>John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Comisi,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dirty="0">
                <a:solidFill>
                  <a:srgbClr val="FFFFFF"/>
                </a:solidFill>
              </a:rPr>
              <a:t>DDS,</a:t>
            </a:r>
            <a:r>
              <a:rPr sz="2950" spc="5" dirty="0">
                <a:solidFill>
                  <a:srgbClr val="FFFFFF"/>
                </a:solidFill>
              </a:rPr>
              <a:t> </a:t>
            </a:r>
            <a:r>
              <a:rPr sz="2950" spc="-20" dirty="0">
                <a:solidFill>
                  <a:srgbClr val="FFFFFF"/>
                </a:solidFill>
              </a:rPr>
              <a:t>MAGD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386994" y="6423221"/>
            <a:ext cx="1383601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If</a:t>
            </a:r>
            <a:r>
              <a:rPr sz="4250" spc="-1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energy</a:t>
            </a:r>
            <a:r>
              <a:rPr sz="4250" spc="-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is not</a:t>
            </a:r>
            <a:r>
              <a:rPr sz="4250" spc="-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available,</a:t>
            </a:r>
            <a:r>
              <a:rPr sz="4250" spc="-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the components</a:t>
            </a:r>
            <a:r>
              <a:rPr sz="4250" spc="-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will</a:t>
            </a:r>
            <a:r>
              <a:rPr sz="4250" spc="-5" dirty="0">
                <a:solidFill>
                  <a:srgbClr val="FFFFFF"/>
                </a:solidFill>
                <a:latin typeface="Helvetica Neue"/>
                <a:cs typeface="Helvetica Neue"/>
              </a:rPr>
              <a:t> </a:t>
            </a:r>
            <a:r>
              <a:rPr sz="4250" dirty="0">
                <a:solidFill>
                  <a:srgbClr val="FFFFFF"/>
                </a:solidFill>
                <a:latin typeface="Helvetica Neue"/>
                <a:cs typeface="Helvetica Neue"/>
              </a:rPr>
              <a:t>NOT </a:t>
            </a:r>
            <a:r>
              <a:rPr sz="4250" spc="-10" dirty="0">
                <a:solidFill>
                  <a:srgbClr val="FFFFFF"/>
                </a:solidFill>
                <a:latin typeface="Helvetica Neue"/>
                <a:cs typeface="Helvetica Neue"/>
              </a:rPr>
              <a:t>cure!!</a:t>
            </a:r>
            <a:endParaRPr sz="4250">
              <a:latin typeface="Helvetica Neue"/>
              <a:cs typeface="Helvetica Neue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1D789AA-C729-00F6-ABE4-47FBC958F2F5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8B14A93-FA0B-487B-DADA-8026AB688091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BBE8B13-834D-C8A9-77B1-7F7D186F6A8F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5EE22AE-0FE4-A111-7AA9-CDB884E559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414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3669" y="2612651"/>
            <a:ext cx="7474584" cy="13830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5150"/>
              </a:lnSpc>
              <a:spcBef>
                <a:spcPts val="585"/>
              </a:spcBef>
            </a:pPr>
            <a:r>
              <a:rPr sz="4600" spc="-290" dirty="0">
                <a:solidFill>
                  <a:srgbClr val="FFFFFF"/>
                </a:solidFill>
              </a:rPr>
              <a:t>Pre-</a:t>
            </a:r>
            <a:r>
              <a:rPr sz="4600" spc="-325" dirty="0">
                <a:solidFill>
                  <a:srgbClr val="FFFFFF"/>
                </a:solidFill>
              </a:rPr>
              <a:t>Exposure</a:t>
            </a:r>
            <a:r>
              <a:rPr sz="4600" spc="-235" dirty="0">
                <a:solidFill>
                  <a:srgbClr val="FFFFFF"/>
                </a:solidFill>
              </a:rPr>
              <a:t> </a:t>
            </a:r>
            <a:r>
              <a:rPr sz="4600" spc="-260" dirty="0">
                <a:solidFill>
                  <a:srgbClr val="FFFFFF"/>
                </a:solidFill>
              </a:rPr>
              <a:t>Checklist</a:t>
            </a:r>
            <a:r>
              <a:rPr sz="4600" spc="-235" dirty="0">
                <a:solidFill>
                  <a:srgbClr val="FFFFFF"/>
                </a:solidFill>
              </a:rPr>
              <a:t> </a:t>
            </a:r>
            <a:r>
              <a:rPr sz="4600" spc="-10" dirty="0">
                <a:solidFill>
                  <a:srgbClr val="FFFFFF"/>
                </a:solidFill>
              </a:rPr>
              <a:t>for</a:t>
            </a:r>
            <a:r>
              <a:rPr sz="4600" spc="-254" dirty="0">
                <a:solidFill>
                  <a:srgbClr val="FFFFFF"/>
                </a:solidFill>
              </a:rPr>
              <a:t> </a:t>
            </a:r>
            <a:r>
              <a:rPr sz="4600" spc="-105" dirty="0">
                <a:solidFill>
                  <a:srgbClr val="FFFFFF"/>
                </a:solidFill>
              </a:rPr>
              <a:t>Light </a:t>
            </a:r>
            <a:r>
              <a:rPr sz="4600" spc="-254" dirty="0">
                <a:solidFill>
                  <a:srgbClr val="FFFFFF"/>
                </a:solidFill>
              </a:rPr>
              <a:t>Curing</a:t>
            </a:r>
            <a:r>
              <a:rPr sz="4600" spc="-195" dirty="0">
                <a:solidFill>
                  <a:srgbClr val="FFFFFF"/>
                </a:solidFill>
              </a:rPr>
              <a:t> </a:t>
            </a:r>
            <a:r>
              <a:rPr sz="4600" spc="-20" dirty="0">
                <a:solidFill>
                  <a:srgbClr val="FFFFFF"/>
                </a:solidFill>
              </a:rPr>
              <a:t>Unit</a:t>
            </a:r>
            <a:endParaRPr sz="4600"/>
          </a:p>
        </p:txBody>
      </p:sp>
      <p:grpSp>
        <p:nvGrpSpPr>
          <p:cNvPr id="4" name="object 4"/>
          <p:cNvGrpSpPr/>
          <p:nvPr/>
        </p:nvGrpSpPr>
        <p:grpSpPr>
          <a:xfrm>
            <a:off x="1308464" y="5342918"/>
            <a:ext cx="7588884" cy="3438525"/>
            <a:chOff x="1308464" y="5342918"/>
            <a:chExt cx="7588884" cy="3438525"/>
          </a:xfrm>
        </p:grpSpPr>
        <p:sp>
          <p:nvSpPr>
            <p:cNvPr id="5" name="object 5"/>
            <p:cNvSpPr/>
            <p:nvPr/>
          </p:nvSpPr>
          <p:spPr>
            <a:xfrm>
              <a:off x="1375423" y="6672260"/>
              <a:ext cx="7516495" cy="2103755"/>
            </a:xfrm>
            <a:custGeom>
              <a:avLst/>
              <a:gdLst/>
              <a:ahLst/>
              <a:cxnLst/>
              <a:rect l="l" t="t" r="r" b="b"/>
              <a:pathLst>
                <a:path w="7516495" h="2103754">
                  <a:moveTo>
                    <a:pt x="7516463" y="0"/>
                  </a:moveTo>
                  <a:lnTo>
                    <a:pt x="0" y="0"/>
                  </a:lnTo>
                  <a:lnTo>
                    <a:pt x="0" y="2103660"/>
                  </a:lnTo>
                  <a:lnTo>
                    <a:pt x="7516463" y="2103660"/>
                  </a:lnTo>
                  <a:lnTo>
                    <a:pt x="7516463" y="0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5423" y="6672260"/>
              <a:ext cx="7516495" cy="2103755"/>
            </a:xfrm>
            <a:custGeom>
              <a:avLst/>
              <a:gdLst/>
              <a:ahLst/>
              <a:cxnLst/>
              <a:rect l="l" t="t" r="r" b="b"/>
              <a:pathLst>
                <a:path w="7516495" h="2103754">
                  <a:moveTo>
                    <a:pt x="0" y="0"/>
                  </a:moveTo>
                  <a:lnTo>
                    <a:pt x="7516463" y="0"/>
                  </a:lnTo>
                  <a:lnTo>
                    <a:pt x="7516463" y="2103660"/>
                  </a:lnTo>
                  <a:lnTo>
                    <a:pt x="0" y="210366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8464" y="5342918"/>
              <a:ext cx="5470941" cy="1669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174" y="5416214"/>
              <a:ext cx="5261524" cy="146031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71759" y="5224550"/>
            <a:ext cx="6141720" cy="2406650"/>
          </a:xfrm>
          <a:prstGeom prst="rect">
            <a:avLst/>
          </a:prstGeom>
        </p:spPr>
        <p:txBody>
          <a:bodyPr vert="horz" wrap="square" lIns="0" tIns="448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35"/>
              </a:spcBef>
            </a:pPr>
            <a:r>
              <a:rPr sz="4950" spc="-29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sz="495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spc="-90" dirty="0">
                <a:solidFill>
                  <a:srgbClr val="FFFFFF"/>
                </a:solidFill>
                <a:latin typeface="Arial"/>
                <a:cs typeface="Arial"/>
              </a:rPr>
              <a:t>precautions</a:t>
            </a:r>
            <a:endParaRPr sz="4950">
              <a:latin typeface="Arial"/>
              <a:cs typeface="Arial"/>
            </a:endParaRPr>
          </a:p>
          <a:p>
            <a:pPr marL="725805" indent="-470534">
              <a:lnSpc>
                <a:spcPct val="100000"/>
              </a:lnSpc>
              <a:spcBef>
                <a:spcPts val="3434"/>
              </a:spcBef>
              <a:buChar char="•"/>
              <a:tabLst>
                <a:tab pos="725805" algn="l"/>
              </a:tabLst>
            </a:pPr>
            <a:r>
              <a:rPr sz="4950" spc="-545" dirty="0">
                <a:latin typeface="Arial"/>
                <a:cs typeface="Arial"/>
              </a:rPr>
              <a:t>Eye</a:t>
            </a:r>
            <a:r>
              <a:rPr sz="4950" spc="-235" dirty="0">
                <a:latin typeface="Arial"/>
                <a:cs typeface="Arial"/>
              </a:rPr>
              <a:t> </a:t>
            </a:r>
            <a:r>
              <a:rPr sz="4950" spc="-220" dirty="0">
                <a:latin typeface="Arial"/>
                <a:cs typeface="Arial"/>
              </a:rPr>
              <a:t>safety</a:t>
            </a:r>
            <a:r>
              <a:rPr sz="4950" spc="-235" dirty="0">
                <a:latin typeface="Arial"/>
                <a:cs typeface="Arial"/>
              </a:rPr>
              <a:t> </a:t>
            </a:r>
            <a:r>
              <a:rPr sz="4950" spc="-260" dirty="0">
                <a:latin typeface="Arial"/>
                <a:cs typeface="Arial"/>
              </a:rPr>
              <a:t>is</a:t>
            </a:r>
            <a:r>
              <a:rPr sz="4950" spc="-235" dirty="0">
                <a:latin typeface="Arial"/>
                <a:cs typeface="Arial"/>
              </a:rPr>
              <a:t> </a:t>
            </a:r>
            <a:r>
              <a:rPr sz="4950" spc="-110" dirty="0">
                <a:latin typeface="Arial"/>
                <a:cs typeface="Arial"/>
              </a:rPr>
              <a:t>required</a:t>
            </a:r>
            <a:endParaRPr sz="49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66226" y="596432"/>
            <a:ext cx="2789443" cy="278944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627033" y="10"/>
            <a:ext cx="10477500" cy="11308715"/>
            <a:chOff x="9627033" y="10"/>
            <a:chExt cx="10477500" cy="1130871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27033" y="4490951"/>
              <a:ext cx="4523425" cy="452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51102" y="10"/>
              <a:ext cx="6452997" cy="541115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56154" y="6812748"/>
              <a:ext cx="5241651" cy="449580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18" name="object 5">
            <a:extLst>
              <a:ext uri="{FF2B5EF4-FFF2-40B4-BE49-F238E27FC236}">
                <a16:creationId xmlns:a16="http://schemas.microsoft.com/office/drawing/2014/main" id="{B7CD187C-2442-BA86-091B-4AE42F0D27DC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18B81D07-6C01-7A7C-3008-9D9BCC32DF5D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07FF8A85-B8A4-0B5B-6D05-A01EFE743B56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6B333109-B99F-00A1-4FE4-37CB80AA5D9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96" y="10387703"/>
            <a:ext cx="2539748" cy="6142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8433" y="770012"/>
            <a:ext cx="10342829" cy="100311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2385" y="2566033"/>
            <a:ext cx="8415655" cy="6167120"/>
          </a:xfrm>
          <a:prstGeom prst="rect">
            <a:avLst/>
          </a:prstGeom>
        </p:spPr>
        <p:txBody>
          <a:bodyPr vert="horz" wrap="square" lIns="0" tIns="560705" rIns="0" bIns="0" rtlCol="0">
            <a:spAutoFit/>
          </a:bodyPr>
          <a:lstStyle/>
          <a:p>
            <a:pPr marL="12700" marR="85725" indent="118745" algn="ctr">
              <a:lnSpc>
                <a:spcPct val="77400"/>
              </a:lnSpc>
              <a:spcBef>
                <a:spcPts val="4415"/>
              </a:spcBef>
            </a:pPr>
            <a:r>
              <a:rPr sz="15800" b="1" spc="-1515" dirty="0">
                <a:solidFill>
                  <a:srgbClr val="000090"/>
                </a:solidFill>
                <a:latin typeface="Arial"/>
                <a:cs typeface="Arial"/>
              </a:rPr>
              <a:t>Thi</a:t>
            </a:r>
            <a:r>
              <a:rPr sz="15800" b="1" dirty="0">
                <a:solidFill>
                  <a:srgbClr val="000090"/>
                </a:solidFill>
                <a:latin typeface="Arial"/>
                <a:cs typeface="Arial"/>
              </a:rPr>
              <a:t>s</a:t>
            </a:r>
            <a:r>
              <a:rPr sz="15800" b="1" spc="-299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15800" b="1" spc="-1500" dirty="0">
                <a:solidFill>
                  <a:srgbClr val="000090"/>
                </a:solidFill>
                <a:latin typeface="Arial"/>
                <a:cs typeface="Arial"/>
              </a:rPr>
              <a:t>i</a:t>
            </a:r>
            <a:r>
              <a:rPr sz="15800" b="1" dirty="0">
                <a:solidFill>
                  <a:srgbClr val="000090"/>
                </a:solidFill>
                <a:latin typeface="Arial"/>
                <a:cs typeface="Arial"/>
              </a:rPr>
              <a:t>s</a:t>
            </a:r>
            <a:r>
              <a:rPr sz="15800" b="1" spc="-298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15800" b="1" spc="-50" dirty="0">
                <a:solidFill>
                  <a:srgbClr val="000090"/>
                </a:solidFill>
                <a:latin typeface="Arial"/>
                <a:cs typeface="Arial"/>
              </a:rPr>
              <a:t>a </a:t>
            </a:r>
            <a:r>
              <a:rPr sz="15800" b="1" spc="-1400" dirty="0">
                <a:solidFill>
                  <a:srgbClr val="000090"/>
                </a:solidFill>
                <a:latin typeface="Arial"/>
                <a:cs typeface="Arial"/>
              </a:rPr>
              <a:t>Recip</a:t>
            </a:r>
            <a:r>
              <a:rPr sz="15800" b="1" dirty="0">
                <a:solidFill>
                  <a:srgbClr val="000090"/>
                </a:solidFill>
                <a:latin typeface="Arial"/>
                <a:cs typeface="Arial"/>
              </a:rPr>
              <a:t>e</a:t>
            </a:r>
            <a:r>
              <a:rPr sz="15800" b="1" spc="-279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15800" b="1" spc="-765" dirty="0">
                <a:solidFill>
                  <a:srgbClr val="000090"/>
                </a:solidFill>
                <a:latin typeface="Arial"/>
                <a:cs typeface="Arial"/>
              </a:rPr>
              <a:t>for </a:t>
            </a:r>
            <a:r>
              <a:rPr sz="15800" b="1" spc="-1095" dirty="0">
                <a:solidFill>
                  <a:srgbClr val="000090"/>
                </a:solidFill>
                <a:latin typeface="Arial"/>
                <a:cs typeface="Arial"/>
              </a:rPr>
              <a:t>Failure</a:t>
            </a:r>
            <a:endParaRPr sz="15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2882" y="140728"/>
            <a:ext cx="7559143" cy="110974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D1E1F3B7-785A-A1F2-448D-5733D9F66C05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91521C1-46A7-2EA2-0EE5-E4347757162D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A6D113C-8104-D50E-EF66-31C60CD31408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3C83785C-3658-E433-515A-AE23DDB461D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0" i="0" spc="-295" dirty="0">
                <a:solidFill>
                  <a:srgbClr val="660066"/>
                </a:solidFill>
                <a:latin typeface="Arial"/>
                <a:cs typeface="Arial"/>
              </a:rPr>
              <a:t>Must</a:t>
            </a:r>
            <a:r>
              <a:rPr sz="14500" i="0" spc="-7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4500" i="0" spc="-1250" dirty="0">
                <a:solidFill>
                  <a:srgbClr val="660066"/>
                </a:solidFill>
                <a:latin typeface="Arial"/>
                <a:cs typeface="Arial"/>
              </a:rPr>
              <a:t>Use</a:t>
            </a:r>
            <a:r>
              <a:rPr sz="14500" i="0" spc="-7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4500" i="0" spc="-1585" dirty="0">
                <a:solidFill>
                  <a:srgbClr val="660066"/>
                </a:solidFill>
                <a:latin typeface="Arial"/>
                <a:cs typeface="Arial"/>
              </a:rPr>
              <a:t>Eye</a:t>
            </a:r>
            <a:r>
              <a:rPr sz="14500" i="0" spc="-7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4500" i="0" spc="-440" dirty="0">
                <a:solidFill>
                  <a:srgbClr val="660066"/>
                </a:solidFill>
                <a:latin typeface="Arial"/>
                <a:cs typeface="Arial"/>
              </a:rPr>
              <a:t>Protection</a:t>
            </a:r>
            <a:endParaRPr sz="145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100307" y="2685799"/>
            <a:ext cx="5849620" cy="8643620"/>
            <a:chOff x="12100307" y="2685799"/>
            <a:chExt cx="5849620" cy="8643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4550" y="2780020"/>
              <a:ext cx="5660940" cy="84840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203387" y="2780037"/>
              <a:ext cx="5652135" cy="8455025"/>
            </a:xfrm>
            <a:custGeom>
              <a:avLst/>
              <a:gdLst/>
              <a:ahLst/>
              <a:cxnLst/>
              <a:rect l="l" t="t" r="r" b="b"/>
              <a:pathLst>
                <a:path w="5652134" h="8455025">
                  <a:moveTo>
                    <a:pt x="0" y="0"/>
                  </a:moveTo>
                  <a:lnTo>
                    <a:pt x="5652107" y="8454597"/>
                  </a:lnTo>
                </a:path>
              </a:pathLst>
            </a:custGeom>
            <a:ln w="188475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94545" y="2780037"/>
              <a:ext cx="5661025" cy="8455025"/>
            </a:xfrm>
            <a:custGeom>
              <a:avLst/>
              <a:gdLst/>
              <a:ahLst/>
              <a:cxnLst/>
              <a:rect l="l" t="t" r="r" b="b"/>
              <a:pathLst>
                <a:path w="5661025" h="8455025">
                  <a:moveTo>
                    <a:pt x="5660942" y="0"/>
                  </a:moveTo>
                  <a:lnTo>
                    <a:pt x="0" y="8454598"/>
                  </a:lnTo>
                </a:path>
              </a:pathLst>
            </a:custGeom>
            <a:ln w="188475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825" y="2866299"/>
            <a:ext cx="11140917" cy="75486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92E7DE1-CECE-CEF9-F288-03FB70E0D068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76F7301C-4DEF-EF00-7D3B-DBA733B3929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9AF1A0-EC95-4733-AEA9-3AF937942CC5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3B809007-52EB-9FEB-76A9-FBD09980D12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8993" y="625715"/>
            <a:ext cx="5430487" cy="102276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33755" y="970730"/>
            <a:ext cx="7603490" cy="419069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43000" marR="1127125" indent="-1130935">
              <a:lnSpc>
                <a:spcPts val="12040"/>
              </a:lnSpc>
              <a:spcBef>
                <a:spcPts val="360"/>
              </a:spcBef>
              <a:buFont typeface="Arial"/>
              <a:buChar char="•"/>
              <a:tabLst>
                <a:tab pos="1143000" algn="l"/>
              </a:tabLst>
            </a:pPr>
            <a:r>
              <a:rPr sz="5400" b="1" spc="-605" dirty="0">
                <a:latin typeface="Arial"/>
                <a:cs typeface="Arial"/>
              </a:rPr>
              <a:t>Wear</a:t>
            </a:r>
            <a:r>
              <a:rPr sz="5400" b="1" spc="-505" dirty="0">
                <a:latin typeface="Arial"/>
                <a:cs typeface="Arial"/>
              </a:rPr>
              <a:t> </a:t>
            </a:r>
            <a:r>
              <a:rPr sz="5400" spc="-1105" dirty="0">
                <a:latin typeface="Arial"/>
                <a:cs typeface="Arial"/>
              </a:rPr>
              <a:t>Eye </a:t>
            </a:r>
            <a:r>
              <a:rPr sz="5400" spc="-305" dirty="0">
                <a:latin typeface="Arial"/>
                <a:cs typeface="Arial"/>
              </a:rPr>
              <a:t>Protection</a:t>
            </a:r>
            <a:endParaRPr sz="5400" dirty="0">
              <a:latin typeface="Arial"/>
              <a:cs typeface="Arial"/>
            </a:endParaRPr>
          </a:p>
          <a:p>
            <a:pPr marL="1143000" indent="-1130300">
              <a:lnSpc>
                <a:spcPct val="100000"/>
              </a:lnSpc>
              <a:spcBef>
                <a:spcPts val="3685"/>
              </a:spcBef>
              <a:buFont typeface="Arial"/>
              <a:buChar char="•"/>
              <a:tabLst>
                <a:tab pos="1143000" algn="l"/>
              </a:tabLst>
            </a:pPr>
            <a:r>
              <a:rPr sz="5400" b="1" spc="-690" dirty="0">
                <a:latin typeface="Arial"/>
                <a:cs typeface="Arial"/>
              </a:rPr>
              <a:t>Stabilize</a:t>
            </a:r>
            <a:r>
              <a:rPr sz="5400" b="1" spc="-455" dirty="0">
                <a:latin typeface="Arial"/>
                <a:cs typeface="Arial"/>
              </a:rPr>
              <a:t> </a:t>
            </a:r>
            <a:r>
              <a:rPr sz="5400" spc="60" dirty="0">
                <a:latin typeface="Arial"/>
                <a:cs typeface="Arial"/>
              </a:rPr>
              <a:t>tip</a:t>
            </a:r>
            <a:endParaRPr sz="5400" dirty="0">
              <a:latin typeface="Arial"/>
              <a:cs typeface="Arial"/>
            </a:endParaRPr>
          </a:p>
          <a:p>
            <a:pPr marL="1143000" marR="5080" indent="-1130935">
              <a:lnSpc>
                <a:spcPct val="101299"/>
              </a:lnSpc>
              <a:spcBef>
                <a:spcPts val="3960"/>
              </a:spcBef>
              <a:buFont typeface="Arial"/>
              <a:buChar char="•"/>
              <a:tabLst>
                <a:tab pos="1143000" algn="l"/>
              </a:tabLst>
            </a:pPr>
            <a:r>
              <a:rPr sz="5400" b="1" spc="-735" dirty="0">
                <a:latin typeface="Arial"/>
                <a:cs typeface="Arial"/>
              </a:rPr>
              <a:t>Watch</a:t>
            </a:r>
            <a:r>
              <a:rPr sz="5400" b="1" spc="-500" dirty="0">
                <a:latin typeface="Arial"/>
                <a:cs typeface="Arial"/>
              </a:rPr>
              <a:t> </a:t>
            </a:r>
            <a:r>
              <a:rPr sz="5400" spc="-405" dirty="0">
                <a:latin typeface="Arial"/>
                <a:cs typeface="Arial"/>
              </a:rPr>
              <a:t>when </a:t>
            </a:r>
            <a:r>
              <a:rPr sz="5400" spc="-114" dirty="0">
                <a:latin typeface="Arial"/>
                <a:cs typeface="Arial"/>
              </a:rPr>
              <a:t>light</a:t>
            </a:r>
            <a:r>
              <a:rPr sz="5400" spc="-565" dirty="0">
                <a:latin typeface="Arial"/>
                <a:cs typeface="Arial"/>
              </a:rPr>
              <a:t> </a:t>
            </a:r>
            <a:r>
              <a:rPr sz="5400" spc="-370" dirty="0">
                <a:latin typeface="Arial"/>
                <a:cs typeface="Arial"/>
              </a:rPr>
              <a:t>curing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9B2AD8BD-2E51-23A4-D42C-361CA3FDE170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4712E57-6187-6AD2-5E9D-FC5FFA41058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1F1331D-41D1-2561-E6C3-4526F8E7804F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60F5E522-3AAB-F32B-0656-49FEA77B45B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1252" y="1620070"/>
            <a:ext cx="17254855" cy="31730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indent="854075">
              <a:lnSpc>
                <a:spcPts val="4860"/>
              </a:lnSpc>
              <a:spcBef>
                <a:spcPts val="170"/>
              </a:spcBef>
            </a:pPr>
            <a:r>
              <a:rPr sz="3950" b="1" spc="-365" dirty="0">
                <a:latin typeface="Arial"/>
                <a:cs typeface="Arial"/>
              </a:rPr>
              <a:t>Curing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35" dirty="0">
                <a:latin typeface="Arial"/>
                <a:cs typeface="Arial"/>
              </a:rPr>
              <a:t>light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40" dirty="0">
                <a:latin typeface="Arial"/>
                <a:cs typeface="Arial"/>
              </a:rPr>
              <a:t>needs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145" dirty="0">
                <a:latin typeface="Arial"/>
                <a:cs typeface="Arial"/>
              </a:rPr>
              <a:t>to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60" dirty="0">
                <a:latin typeface="Arial"/>
                <a:cs typeface="Arial"/>
              </a:rPr>
              <a:t>be</a:t>
            </a:r>
            <a:r>
              <a:rPr sz="3950" b="1" spc="-175" dirty="0">
                <a:latin typeface="Arial"/>
                <a:cs typeface="Arial"/>
              </a:rPr>
              <a:t> </a:t>
            </a:r>
            <a:r>
              <a:rPr sz="3950" b="1" spc="-370" dirty="0">
                <a:latin typeface="Arial"/>
                <a:cs typeface="Arial"/>
              </a:rPr>
              <a:t>close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145" dirty="0">
                <a:latin typeface="Arial"/>
                <a:cs typeface="Arial"/>
              </a:rPr>
              <a:t>to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85" dirty="0">
                <a:latin typeface="Arial"/>
                <a:cs typeface="Arial"/>
              </a:rPr>
              <a:t>and</a:t>
            </a:r>
            <a:r>
              <a:rPr sz="3950" b="1" spc="-175" dirty="0">
                <a:latin typeface="Arial"/>
                <a:cs typeface="Arial"/>
              </a:rPr>
              <a:t> </a:t>
            </a:r>
            <a:r>
              <a:rPr sz="3950" b="1" spc="-220" dirty="0">
                <a:latin typeface="Arial"/>
                <a:cs typeface="Arial"/>
              </a:rPr>
              <a:t>effectively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20" dirty="0">
                <a:latin typeface="Arial"/>
                <a:cs typeface="Arial"/>
              </a:rPr>
              <a:t>cover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65" dirty="0">
                <a:latin typeface="Arial"/>
                <a:cs typeface="Arial"/>
              </a:rPr>
              <a:t>the</a:t>
            </a:r>
            <a:r>
              <a:rPr sz="3950" b="1" spc="-175" dirty="0">
                <a:latin typeface="Arial"/>
                <a:cs typeface="Arial"/>
              </a:rPr>
              <a:t> </a:t>
            </a:r>
            <a:r>
              <a:rPr sz="3950" b="1" spc="-180" dirty="0">
                <a:latin typeface="Arial"/>
                <a:cs typeface="Arial"/>
              </a:rPr>
              <a:t>entire </a:t>
            </a:r>
            <a:r>
              <a:rPr sz="3950" b="1" spc="-229" dirty="0">
                <a:latin typeface="Arial"/>
                <a:cs typeface="Arial"/>
              </a:rPr>
              <a:t>restoration,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5" dirty="0">
                <a:latin typeface="Arial"/>
                <a:cs typeface="Arial"/>
              </a:rPr>
              <a:t>or </a:t>
            </a:r>
            <a:r>
              <a:rPr sz="3950" b="1" spc="-260" dirty="0">
                <a:latin typeface="Arial"/>
                <a:cs typeface="Arial"/>
              </a:rPr>
              <a:t>need</a:t>
            </a:r>
            <a:r>
              <a:rPr sz="3950" b="1" spc="-200" dirty="0">
                <a:latin typeface="Arial"/>
                <a:cs typeface="Arial"/>
              </a:rPr>
              <a:t> </a:t>
            </a:r>
            <a:r>
              <a:rPr sz="3950" b="1" spc="-145" dirty="0">
                <a:latin typeface="Arial"/>
                <a:cs typeface="Arial"/>
              </a:rPr>
              <a:t>to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54" dirty="0">
                <a:latin typeface="Arial"/>
                <a:cs typeface="Arial"/>
              </a:rPr>
              <a:t>overlap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170" dirty="0">
                <a:latin typeface="Arial"/>
                <a:cs typeface="Arial"/>
              </a:rPr>
              <a:t>the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35" dirty="0">
                <a:latin typeface="Arial"/>
                <a:cs typeface="Arial"/>
              </a:rPr>
              <a:t>curing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195" dirty="0">
                <a:latin typeface="Arial"/>
                <a:cs typeface="Arial"/>
              </a:rPr>
              <a:t>of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70" dirty="0">
                <a:latin typeface="Arial"/>
                <a:cs typeface="Arial"/>
              </a:rPr>
              <a:t>the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35" dirty="0">
                <a:latin typeface="Arial"/>
                <a:cs typeface="Arial"/>
              </a:rPr>
              <a:t>restoration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45" dirty="0">
                <a:latin typeface="Arial"/>
                <a:cs typeface="Arial"/>
              </a:rPr>
              <a:t>to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260" dirty="0">
                <a:latin typeface="Arial"/>
                <a:cs typeface="Arial"/>
              </a:rPr>
              <a:t>be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30" dirty="0">
                <a:latin typeface="Arial"/>
                <a:cs typeface="Arial"/>
              </a:rPr>
              <a:t>sure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45" dirty="0">
                <a:latin typeface="Arial"/>
                <a:cs typeface="Arial"/>
              </a:rPr>
              <a:t>to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95" dirty="0">
                <a:latin typeface="Arial"/>
                <a:cs typeface="Arial"/>
              </a:rPr>
              <a:t>achieve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10" dirty="0">
                <a:latin typeface="Arial"/>
                <a:cs typeface="Arial"/>
              </a:rPr>
              <a:t>maximum </a:t>
            </a:r>
            <a:r>
              <a:rPr sz="3950" b="1" spc="-325" dirty="0">
                <a:latin typeface="Arial"/>
                <a:cs typeface="Arial"/>
              </a:rPr>
              <a:t>possible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60" dirty="0">
                <a:latin typeface="Arial"/>
                <a:cs typeface="Arial"/>
              </a:rPr>
              <a:t>cure.</a:t>
            </a:r>
            <a:r>
              <a:rPr sz="3950" b="1" spc="-175" dirty="0">
                <a:latin typeface="Arial"/>
                <a:cs typeface="Arial"/>
              </a:rPr>
              <a:t> </a:t>
            </a:r>
            <a:r>
              <a:rPr sz="3950" b="1" spc="-325" dirty="0">
                <a:latin typeface="Arial"/>
                <a:cs typeface="Arial"/>
              </a:rPr>
              <a:t>The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40" dirty="0">
                <a:latin typeface="Arial"/>
                <a:cs typeface="Arial"/>
              </a:rPr>
              <a:t>deeper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70" dirty="0">
                <a:latin typeface="Arial"/>
                <a:cs typeface="Arial"/>
              </a:rPr>
              <a:t>the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25" dirty="0">
                <a:latin typeface="Arial"/>
                <a:cs typeface="Arial"/>
              </a:rPr>
              <a:t>prep,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170" dirty="0">
                <a:latin typeface="Arial"/>
                <a:cs typeface="Arial"/>
              </a:rPr>
              <a:t>the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60" dirty="0">
                <a:latin typeface="Arial"/>
                <a:cs typeface="Arial"/>
              </a:rPr>
              <a:t>more</a:t>
            </a:r>
            <a:r>
              <a:rPr sz="3950" b="1" spc="-175" dirty="0">
                <a:latin typeface="Arial"/>
                <a:cs typeface="Arial"/>
              </a:rPr>
              <a:t> </a:t>
            </a:r>
            <a:r>
              <a:rPr sz="3950" b="1" spc="-229" dirty="0">
                <a:latin typeface="Arial"/>
                <a:cs typeface="Arial"/>
              </a:rPr>
              <a:t>light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05" dirty="0">
                <a:latin typeface="Arial"/>
                <a:cs typeface="Arial"/>
              </a:rPr>
              <a:t>energy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85" dirty="0">
                <a:latin typeface="Arial"/>
                <a:cs typeface="Arial"/>
              </a:rPr>
              <a:t>is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30" dirty="0">
                <a:latin typeface="Arial"/>
                <a:cs typeface="Arial"/>
              </a:rPr>
              <a:t>needed.</a:t>
            </a:r>
            <a:endParaRPr sz="3950">
              <a:latin typeface="Arial"/>
              <a:cs typeface="Arial"/>
            </a:endParaRPr>
          </a:p>
          <a:p>
            <a:pPr marL="12700" marR="876300" indent="854075">
              <a:lnSpc>
                <a:spcPct val="102600"/>
              </a:lnSpc>
              <a:spcBef>
                <a:spcPts val="405"/>
              </a:spcBef>
            </a:pPr>
            <a:r>
              <a:rPr sz="3950" b="1" spc="-459" dirty="0">
                <a:latin typeface="Arial"/>
                <a:cs typeface="Arial"/>
              </a:rPr>
              <a:t>A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25" dirty="0">
                <a:latin typeface="Arial"/>
                <a:cs typeface="Arial"/>
              </a:rPr>
              <a:t>Plastic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30" dirty="0">
                <a:latin typeface="Arial"/>
                <a:cs typeface="Arial"/>
              </a:rPr>
              <a:t>Sleeve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290" dirty="0">
                <a:latin typeface="Arial"/>
                <a:cs typeface="Arial"/>
              </a:rPr>
              <a:t>on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160" dirty="0">
                <a:latin typeface="Arial"/>
                <a:cs typeface="Arial"/>
              </a:rPr>
              <a:t>the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30" dirty="0">
                <a:latin typeface="Arial"/>
                <a:cs typeface="Arial"/>
              </a:rPr>
              <a:t>curing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29" dirty="0">
                <a:latin typeface="Arial"/>
                <a:cs typeface="Arial"/>
              </a:rPr>
              <a:t>light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85" dirty="0">
                <a:latin typeface="Arial"/>
                <a:cs typeface="Arial"/>
              </a:rPr>
              <a:t>is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15" dirty="0">
                <a:latin typeface="Arial"/>
                <a:cs typeface="Arial"/>
              </a:rPr>
              <a:t>optimally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45" dirty="0">
                <a:latin typeface="Arial"/>
                <a:cs typeface="Arial"/>
              </a:rPr>
              <a:t>needed,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05" dirty="0">
                <a:latin typeface="Arial"/>
                <a:cs typeface="Arial"/>
              </a:rPr>
              <a:t>make</a:t>
            </a:r>
            <a:r>
              <a:rPr sz="3950" b="1" spc="-180" dirty="0">
                <a:latin typeface="Arial"/>
                <a:cs typeface="Arial"/>
              </a:rPr>
              <a:t> </a:t>
            </a:r>
            <a:r>
              <a:rPr sz="3950" b="1" spc="-335" dirty="0">
                <a:latin typeface="Arial"/>
                <a:cs typeface="Arial"/>
              </a:rPr>
              <a:t>sure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55" dirty="0">
                <a:latin typeface="Arial"/>
                <a:cs typeface="Arial"/>
              </a:rPr>
              <a:t>seem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5" dirty="0">
                <a:latin typeface="Arial"/>
                <a:cs typeface="Arial"/>
              </a:rPr>
              <a:t>of </a:t>
            </a:r>
            <a:r>
              <a:rPr sz="3950" b="1" spc="-295" dirty="0">
                <a:latin typeface="Arial"/>
                <a:cs typeface="Arial"/>
              </a:rPr>
              <a:t>plastic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305" dirty="0">
                <a:latin typeface="Arial"/>
                <a:cs typeface="Arial"/>
              </a:rPr>
              <a:t>sleeve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75" dirty="0">
                <a:latin typeface="Arial"/>
                <a:cs typeface="Arial"/>
              </a:rPr>
              <a:t>does</a:t>
            </a:r>
            <a:r>
              <a:rPr sz="3950" b="1" spc="-195" dirty="0">
                <a:latin typeface="Arial"/>
                <a:cs typeface="Arial"/>
              </a:rPr>
              <a:t> not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465" dirty="0">
                <a:latin typeface="Arial"/>
                <a:cs typeface="Arial"/>
              </a:rPr>
              <a:t>cross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260" dirty="0">
                <a:latin typeface="Arial"/>
                <a:cs typeface="Arial"/>
              </a:rPr>
              <a:t>over</a:t>
            </a:r>
            <a:r>
              <a:rPr sz="3950" b="1" spc="-195" dirty="0">
                <a:latin typeface="Arial"/>
                <a:cs typeface="Arial"/>
              </a:rPr>
              <a:t> </a:t>
            </a:r>
            <a:r>
              <a:rPr sz="3950" b="1" spc="-170" dirty="0">
                <a:latin typeface="Arial"/>
                <a:cs typeface="Arial"/>
              </a:rPr>
              <a:t>the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335" dirty="0">
                <a:latin typeface="Arial"/>
                <a:cs typeface="Arial"/>
              </a:rPr>
              <a:t>curing</a:t>
            </a:r>
            <a:r>
              <a:rPr sz="3950" b="1" spc="-185" dirty="0">
                <a:latin typeface="Arial"/>
                <a:cs typeface="Arial"/>
              </a:rPr>
              <a:t> </a:t>
            </a:r>
            <a:r>
              <a:rPr sz="3950" b="1" spc="-229" dirty="0">
                <a:latin typeface="Arial"/>
                <a:cs typeface="Arial"/>
              </a:rPr>
              <a:t>light</a:t>
            </a:r>
            <a:r>
              <a:rPr sz="3950" b="1" spc="-190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aperture.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83097" y="381122"/>
            <a:ext cx="11739245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800" b="1" i="0" spc="-465" dirty="0">
                <a:latin typeface="Arial"/>
                <a:cs typeface="Arial"/>
              </a:rPr>
              <a:t>Optimizing</a:t>
            </a:r>
            <a:r>
              <a:rPr sz="4800" b="1" i="0" spc="-325" dirty="0">
                <a:latin typeface="Arial"/>
                <a:cs typeface="Arial"/>
              </a:rPr>
              <a:t> </a:t>
            </a:r>
            <a:r>
              <a:rPr sz="4800" b="1" i="0" spc="-530" dirty="0">
                <a:latin typeface="Arial"/>
                <a:cs typeface="Arial"/>
              </a:rPr>
              <a:t>Clinical</a:t>
            </a:r>
            <a:r>
              <a:rPr sz="4800" b="1" i="0" spc="-330" dirty="0">
                <a:latin typeface="Arial"/>
                <a:cs typeface="Arial"/>
              </a:rPr>
              <a:t> </a:t>
            </a:r>
            <a:r>
              <a:rPr sz="4800" b="1" i="0" spc="-575" dirty="0">
                <a:latin typeface="Arial"/>
                <a:cs typeface="Arial"/>
              </a:rPr>
              <a:t>Effectiveness</a:t>
            </a:r>
            <a:endParaRPr sz="4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9081" y="4907981"/>
            <a:ext cx="6206527" cy="62660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9667096F-45FF-3F28-6D93-0226BDF6769D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3F5F3A79-69E6-9B56-1C39-52DFC2284B6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6A8DAED-E13C-3EAD-F965-E203B0770C53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FC3F76B5-74F3-716E-3069-F417F62FE9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0231" rIns="0" bIns="0" rtlCol="0">
            <a:spAutoFit/>
          </a:bodyPr>
          <a:lstStyle/>
          <a:p>
            <a:pPr marL="58166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Tip</a:t>
            </a:r>
            <a:r>
              <a:rPr spc="-315" dirty="0"/>
              <a:t> </a:t>
            </a:r>
            <a:r>
              <a:rPr spc="-285" dirty="0"/>
              <a:t>Position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0989" y="2384715"/>
            <a:ext cx="8190865" cy="8569325"/>
            <a:chOff x="990989" y="2384715"/>
            <a:chExt cx="8190865" cy="8569325"/>
          </a:xfrm>
        </p:grpSpPr>
        <p:sp>
          <p:nvSpPr>
            <p:cNvPr id="4" name="object 4"/>
            <p:cNvSpPr/>
            <p:nvPr/>
          </p:nvSpPr>
          <p:spPr>
            <a:xfrm>
              <a:off x="1001460" y="3966639"/>
              <a:ext cx="8169909" cy="6977380"/>
            </a:xfrm>
            <a:custGeom>
              <a:avLst/>
              <a:gdLst/>
              <a:ahLst/>
              <a:cxnLst/>
              <a:rect l="l" t="t" r="r" b="b"/>
              <a:pathLst>
                <a:path w="8169909" h="6977380">
                  <a:moveTo>
                    <a:pt x="0" y="0"/>
                  </a:moveTo>
                  <a:lnTo>
                    <a:pt x="8169498" y="0"/>
                  </a:lnTo>
                  <a:lnTo>
                    <a:pt x="8169498" y="6976811"/>
                  </a:lnTo>
                  <a:lnTo>
                    <a:pt x="0" y="697681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56247" y="2395186"/>
              <a:ext cx="7402830" cy="1830705"/>
            </a:xfrm>
            <a:custGeom>
              <a:avLst/>
              <a:gdLst/>
              <a:ahLst/>
              <a:cxnLst/>
              <a:rect l="l" t="t" r="r" b="b"/>
              <a:pathLst>
                <a:path w="7402830" h="1830704">
                  <a:moveTo>
                    <a:pt x="7097709" y="0"/>
                  </a:moveTo>
                  <a:lnTo>
                    <a:pt x="305053" y="0"/>
                  </a:lnTo>
                  <a:lnTo>
                    <a:pt x="255572" y="3992"/>
                  </a:lnTo>
                  <a:lnTo>
                    <a:pt x="208632" y="15551"/>
                  </a:lnTo>
                  <a:lnTo>
                    <a:pt x="164863" y="34049"/>
                  </a:lnTo>
                  <a:lnTo>
                    <a:pt x="124892" y="58857"/>
                  </a:lnTo>
                  <a:lnTo>
                    <a:pt x="89348" y="89348"/>
                  </a:lnTo>
                  <a:lnTo>
                    <a:pt x="58857" y="124892"/>
                  </a:lnTo>
                  <a:lnTo>
                    <a:pt x="34049" y="164863"/>
                  </a:lnTo>
                  <a:lnTo>
                    <a:pt x="15551" y="208632"/>
                  </a:lnTo>
                  <a:lnTo>
                    <a:pt x="3992" y="255572"/>
                  </a:lnTo>
                  <a:lnTo>
                    <a:pt x="0" y="305053"/>
                  </a:lnTo>
                  <a:lnTo>
                    <a:pt x="0" y="1525231"/>
                  </a:lnTo>
                  <a:lnTo>
                    <a:pt x="3992" y="1574712"/>
                  </a:lnTo>
                  <a:lnTo>
                    <a:pt x="15551" y="1621651"/>
                  </a:lnTo>
                  <a:lnTo>
                    <a:pt x="34049" y="1665420"/>
                  </a:lnTo>
                  <a:lnTo>
                    <a:pt x="58857" y="1705391"/>
                  </a:lnTo>
                  <a:lnTo>
                    <a:pt x="89348" y="1740936"/>
                  </a:lnTo>
                  <a:lnTo>
                    <a:pt x="124892" y="1771426"/>
                  </a:lnTo>
                  <a:lnTo>
                    <a:pt x="164863" y="1796235"/>
                  </a:lnTo>
                  <a:lnTo>
                    <a:pt x="208632" y="1814732"/>
                  </a:lnTo>
                  <a:lnTo>
                    <a:pt x="255572" y="1826291"/>
                  </a:lnTo>
                  <a:lnTo>
                    <a:pt x="305053" y="1830284"/>
                  </a:lnTo>
                  <a:lnTo>
                    <a:pt x="7097709" y="1830284"/>
                  </a:lnTo>
                  <a:lnTo>
                    <a:pt x="7147190" y="1826291"/>
                  </a:lnTo>
                  <a:lnTo>
                    <a:pt x="7194130" y="1814732"/>
                  </a:lnTo>
                  <a:lnTo>
                    <a:pt x="7237899" y="1796235"/>
                  </a:lnTo>
                  <a:lnTo>
                    <a:pt x="7277870" y="1771426"/>
                  </a:lnTo>
                  <a:lnTo>
                    <a:pt x="7313415" y="1740936"/>
                  </a:lnTo>
                  <a:lnTo>
                    <a:pt x="7343905" y="1705391"/>
                  </a:lnTo>
                  <a:lnTo>
                    <a:pt x="7368713" y="1665420"/>
                  </a:lnTo>
                  <a:lnTo>
                    <a:pt x="7387211" y="1621651"/>
                  </a:lnTo>
                  <a:lnTo>
                    <a:pt x="7398770" y="1574712"/>
                  </a:lnTo>
                  <a:lnTo>
                    <a:pt x="7402763" y="1525231"/>
                  </a:lnTo>
                  <a:lnTo>
                    <a:pt x="7402763" y="305053"/>
                  </a:lnTo>
                  <a:lnTo>
                    <a:pt x="7398770" y="255572"/>
                  </a:lnTo>
                  <a:lnTo>
                    <a:pt x="7387211" y="208632"/>
                  </a:lnTo>
                  <a:lnTo>
                    <a:pt x="7368713" y="164863"/>
                  </a:lnTo>
                  <a:lnTo>
                    <a:pt x="7343905" y="124892"/>
                  </a:lnTo>
                  <a:lnTo>
                    <a:pt x="7313415" y="89348"/>
                  </a:lnTo>
                  <a:lnTo>
                    <a:pt x="7277870" y="58857"/>
                  </a:lnTo>
                  <a:lnTo>
                    <a:pt x="7237899" y="34049"/>
                  </a:lnTo>
                  <a:lnTo>
                    <a:pt x="7194130" y="15551"/>
                  </a:lnTo>
                  <a:lnTo>
                    <a:pt x="7147190" y="3992"/>
                  </a:lnTo>
                  <a:lnTo>
                    <a:pt x="7097709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56247" y="2395186"/>
              <a:ext cx="7402830" cy="1830705"/>
            </a:xfrm>
            <a:custGeom>
              <a:avLst/>
              <a:gdLst/>
              <a:ahLst/>
              <a:cxnLst/>
              <a:rect l="l" t="t" r="r" b="b"/>
              <a:pathLst>
                <a:path w="7402830" h="1830704">
                  <a:moveTo>
                    <a:pt x="305053" y="0"/>
                  </a:moveTo>
                  <a:lnTo>
                    <a:pt x="7097709" y="0"/>
                  </a:lnTo>
                  <a:lnTo>
                    <a:pt x="7147190" y="3992"/>
                  </a:lnTo>
                  <a:lnTo>
                    <a:pt x="7194130" y="15551"/>
                  </a:lnTo>
                  <a:lnTo>
                    <a:pt x="7237899" y="34049"/>
                  </a:lnTo>
                  <a:lnTo>
                    <a:pt x="7277870" y="58857"/>
                  </a:lnTo>
                  <a:lnTo>
                    <a:pt x="7313415" y="89348"/>
                  </a:lnTo>
                  <a:lnTo>
                    <a:pt x="7343905" y="124892"/>
                  </a:lnTo>
                  <a:lnTo>
                    <a:pt x="7368713" y="164863"/>
                  </a:lnTo>
                  <a:lnTo>
                    <a:pt x="7387211" y="208632"/>
                  </a:lnTo>
                  <a:lnTo>
                    <a:pt x="7398770" y="255572"/>
                  </a:lnTo>
                  <a:lnTo>
                    <a:pt x="7402763" y="305053"/>
                  </a:lnTo>
                  <a:lnTo>
                    <a:pt x="7402763" y="1525231"/>
                  </a:lnTo>
                  <a:lnTo>
                    <a:pt x="7398770" y="1574712"/>
                  </a:lnTo>
                  <a:lnTo>
                    <a:pt x="7387211" y="1621651"/>
                  </a:lnTo>
                  <a:lnTo>
                    <a:pt x="7368713" y="1665420"/>
                  </a:lnTo>
                  <a:lnTo>
                    <a:pt x="7343905" y="1705391"/>
                  </a:lnTo>
                  <a:lnTo>
                    <a:pt x="7313415" y="1740936"/>
                  </a:lnTo>
                  <a:lnTo>
                    <a:pt x="7277870" y="1771426"/>
                  </a:lnTo>
                  <a:lnTo>
                    <a:pt x="7237899" y="1796234"/>
                  </a:lnTo>
                  <a:lnTo>
                    <a:pt x="7194130" y="1814732"/>
                  </a:lnTo>
                  <a:lnTo>
                    <a:pt x="7147190" y="1826291"/>
                  </a:lnTo>
                  <a:lnTo>
                    <a:pt x="7097709" y="1830284"/>
                  </a:lnTo>
                  <a:lnTo>
                    <a:pt x="305053" y="1830284"/>
                  </a:lnTo>
                  <a:lnTo>
                    <a:pt x="255572" y="1826291"/>
                  </a:lnTo>
                  <a:lnTo>
                    <a:pt x="208632" y="1814732"/>
                  </a:lnTo>
                  <a:lnTo>
                    <a:pt x="164863" y="1796234"/>
                  </a:lnTo>
                  <a:lnTo>
                    <a:pt x="124892" y="1771426"/>
                  </a:lnTo>
                  <a:lnTo>
                    <a:pt x="89348" y="1740936"/>
                  </a:lnTo>
                  <a:lnTo>
                    <a:pt x="58857" y="1705391"/>
                  </a:lnTo>
                  <a:lnTo>
                    <a:pt x="34049" y="1665420"/>
                  </a:lnTo>
                  <a:lnTo>
                    <a:pt x="15551" y="1621651"/>
                  </a:lnTo>
                  <a:lnTo>
                    <a:pt x="3992" y="1574712"/>
                  </a:lnTo>
                  <a:lnTo>
                    <a:pt x="0" y="1525231"/>
                  </a:lnTo>
                  <a:lnTo>
                    <a:pt x="0" y="305053"/>
                  </a:lnTo>
                  <a:lnTo>
                    <a:pt x="3992" y="255572"/>
                  </a:lnTo>
                  <a:lnTo>
                    <a:pt x="15551" y="208632"/>
                  </a:lnTo>
                  <a:lnTo>
                    <a:pt x="34049" y="164863"/>
                  </a:lnTo>
                  <a:lnTo>
                    <a:pt x="58857" y="124892"/>
                  </a:lnTo>
                  <a:lnTo>
                    <a:pt x="89348" y="89348"/>
                  </a:lnTo>
                  <a:lnTo>
                    <a:pt x="124892" y="58857"/>
                  </a:lnTo>
                  <a:lnTo>
                    <a:pt x="164863" y="34049"/>
                  </a:lnTo>
                  <a:lnTo>
                    <a:pt x="208632" y="15551"/>
                  </a:lnTo>
                  <a:lnTo>
                    <a:pt x="255572" y="3992"/>
                  </a:lnTo>
                  <a:lnTo>
                    <a:pt x="305053" y="0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23307" y="2984401"/>
            <a:ext cx="7484745" cy="6706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z="3300" spc="-120" dirty="0">
                <a:solidFill>
                  <a:srgbClr val="FFFFFF"/>
                </a:solidFill>
                <a:latin typeface="Arial"/>
                <a:cs typeface="Arial"/>
              </a:rPr>
              <a:t>Optimizing</a:t>
            </a:r>
            <a:r>
              <a:rPr sz="33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00" spc="-165" dirty="0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sz="33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FFFFFF"/>
                </a:solidFill>
                <a:latin typeface="Arial"/>
                <a:cs typeface="Arial"/>
              </a:rPr>
              <a:t>Effectiveness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50">
              <a:latin typeface="Arial"/>
              <a:cs typeface="Arial"/>
            </a:endParaRPr>
          </a:p>
          <a:p>
            <a:pPr marL="389255" indent="-376555">
              <a:lnSpc>
                <a:spcPct val="100000"/>
              </a:lnSpc>
              <a:buChar char="•"/>
              <a:tabLst>
                <a:tab pos="389255" algn="l"/>
              </a:tabLst>
            </a:pPr>
            <a:r>
              <a:rPr sz="3300" spc="-210" dirty="0">
                <a:latin typeface="Arial"/>
                <a:cs typeface="Arial"/>
              </a:rPr>
              <a:t>Factors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100" dirty="0">
                <a:latin typeface="Arial"/>
                <a:cs typeface="Arial"/>
              </a:rPr>
              <a:t>during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45" dirty="0">
                <a:latin typeface="Arial"/>
                <a:cs typeface="Arial"/>
              </a:rPr>
              <a:t>exposure</a:t>
            </a:r>
            <a:endParaRPr sz="3300">
              <a:latin typeface="Arial"/>
              <a:cs typeface="Arial"/>
            </a:endParaRPr>
          </a:p>
          <a:p>
            <a:pPr marL="577850" marR="862965" lvl="1" indent="-377190">
              <a:lnSpc>
                <a:spcPts val="3710"/>
              </a:lnSpc>
              <a:spcBef>
                <a:spcPts val="660"/>
              </a:spcBef>
              <a:buChar char="•"/>
              <a:tabLst>
                <a:tab pos="577850" algn="l"/>
              </a:tabLst>
            </a:pPr>
            <a:r>
              <a:rPr sz="3300" spc="-180" dirty="0">
                <a:latin typeface="Arial"/>
                <a:cs typeface="Arial"/>
              </a:rPr>
              <a:t>Tip</a:t>
            </a:r>
            <a:r>
              <a:rPr sz="3300" spc="-160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positioning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135" dirty="0">
                <a:latin typeface="Arial"/>
                <a:cs typeface="Arial"/>
              </a:rPr>
              <a:t>(create</a:t>
            </a:r>
            <a:r>
              <a:rPr sz="3300" spc="-160" dirty="0">
                <a:latin typeface="Arial"/>
                <a:cs typeface="Arial"/>
              </a:rPr>
              <a:t> </a:t>
            </a:r>
            <a:r>
              <a:rPr sz="3300" spc="-120" dirty="0">
                <a:latin typeface="Arial"/>
                <a:cs typeface="Arial"/>
              </a:rPr>
              <a:t>no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165" dirty="0">
                <a:latin typeface="Arial"/>
                <a:cs typeface="Arial"/>
              </a:rPr>
              <a:t>shadows) </a:t>
            </a:r>
            <a:r>
              <a:rPr sz="3300" spc="-100" dirty="0">
                <a:latin typeface="Arial"/>
                <a:cs typeface="Arial"/>
              </a:rPr>
              <a:t>Minimize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tip-</a:t>
            </a:r>
            <a:r>
              <a:rPr sz="3300" spc="-30" dirty="0">
                <a:latin typeface="Arial"/>
                <a:cs typeface="Arial"/>
              </a:rPr>
              <a:t>to-</a:t>
            </a:r>
            <a:r>
              <a:rPr sz="3300" spc="-80" dirty="0">
                <a:latin typeface="Arial"/>
                <a:cs typeface="Arial"/>
              </a:rPr>
              <a:t>target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distance.</a:t>
            </a:r>
            <a:endParaRPr sz="3300">
              <a:latin typeface="Arial"/>
              <a:cs typeface="Arial"/>
            </a:endParaRPr>
          </a:p>
          <a:p>
            <a:pPr marL="577850" marR="158115" lvl="1" indent="-377190">
              <a:lnSpc>
                <a:spcPts val="3710"/>
              </a:lnSpc>
              <a:spcBef>
                <a:spcPts val="570"/>
              </a:spcBef>
              <a:buChar char="•"/>
              <a:tabLst>
                <a:tab pos="577850" algn="l"/>
              </a:tabLst>
            </a:pPr>
            <a:r>
              <a:rPr sz="3300" spc="-105" dirty="0">
                <a:latin typeface="Arial"/>
                <a:cs typeface="Arial"/>
              </a:rPr>
              <a:t>Direct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120" dirty="0">
                <a:latin typeface="Arial"/>
                <a:cs typeface="Arial"/>
              </a:rPr>
              <a:t>observation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of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80" dirty="0">
                <a:latin typeface="Arial"/>
                <a:cs typeface="Arial"/>
              </a:rPr>
              <a:t>target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during </a:t>
            </a:r>
            <a:r>
              <a:rPr sz="3300" spc="-165" dirty="0">
                <a:latin typeface="Arial"/>
                <a:cs typeface="Arial"/>
              </a:rPr>
              <a:t>exposure. </a:t>
            </a:r>
            <a:r>
              <a:rPr sz="3300" spc="-395" dirty="0">
                <a:latin typeface="Arial"/>
                <a:cs typeface="Arial"/>
              </a:rPr>
              <a:t>(LOOK</a:t>
            </a:r>
            <a:r>
              <a:rPr sz="3300" spc="-160" dirty="0">
                <a:latin typeface="Arial"/>
                <a:cs typeface="Arial"/>
              </a:rPr>
              <a:t> </a:t>
            </a:r>
            <a:r>
              <a:rPr sz="3300" spc="-55" dirty="0">
                <a:latin typeface="Arial"/>
                <a:cs typeface="Arial"/>
              </a:rPr>
              <a:t>at</a:t>
            </a:r>
            <a:r>
              <a:rPr sz="3300" spc="-160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the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85" dirty="0">
                <a:latin typeface="Arial"/>
                <a:cs typeface="Arial"/>
              </a:rPr>
              <a:t>restoration</a:t>
            </a:r>
            <a:r>
              <a:rPr sz="3300" spc="-160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with </a:t>
            </a:r>
            <a:r>
              <a:rPr sz="3300" spc="-220" dirty="0">
                <a:latin typeface="Arial"/>
                <a:cs typeface="Arial"/>
              </a:rPr>
              <a:t>eye</a:t>
            </a:r>
            <a:r>
              <a:rPr sz="3300" spc="-155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protection!!!)</a:t>
            </a:r>
            <a:endParaRPr sz="3300">
              <a:latin typeface="Arial"/>
              <a:cs typeface="Arial"/>
            </a:endParaRPr>
          </a:p>
          <a:p>
            <a:pPr marL="577850" lvl="1" indent="-377190">
              <a:lnSpc>
                <a:spcPct val="100000"/>
              </a:lnSpc>
              <a:spcBef>
                <a:spcPts val="245"/>
              </a:spcBef>
              <a:buChar char="•"/>
              <a:tabLst>
                <a:tab pos="577850" algn="l"/>
              </a:tabLst>
            </a:pPr>
            <a:r>
              <a:rPr sz="3300" spc="-280" dirty="0">
                <a:latin typeface="Arial"/>
                <a:cs typeface="Arial"/>
              </a:rPr>
              <a:t>Keep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the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light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535" dirty="0">
                <a:latin typeface="Arial"/>
                <a:cs typeface="Arial"/>
              </a:rPr>
              <a:t>STABLE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120" dirty="0">
                <a:latin typeface="Arial"/>
                <a:cs typeface="Arial"/>
              </a:rPr>
              <a:t>on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the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tooth.</a:t>
            </a:r>
            <a:endParaRPr sz="3300">
              <a:latin typeface="Arial"/>
              <a:cs typeface="Arial"/>
            </a:endParaRPr>
          </a:p>
          <a:p>
            <a:pPr marL="577850" marR="5080" lvl="1" indent="-377190">
              <a:lnSpc>
                <a:spcPts val="3710"/>
              </a:lnSpc>
              <a:spcBef>
                <a:spcPts val="655"/>
              </a:spcBef>
              <a:buChar char="•"/>
              <a:tabLst>
                <a:tab pos="577850" algn="l"/>
              </a:tabLst>
            </a:pPr>
            <a:r>
              <a:rPr sz="3300" spc="-125" dirty="0">
                <a:latin typeface="Arial"/>
                <a:cs typeface="Arial"/>
              </a:rPr>
              <a:t>Adjust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175" dirty="0">
                <a:latin typeface="Arial"/>
                <a:cs typeface="Arial"/>
              </a:rPr>
              <a:t>exposure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80" dirty="0">
                <a:latin typeface="Arial"/>
                <a:cs typeface="Arial"/>
              </a:rPr>
              <a:t>duration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for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210" dirty="0">
                <a:latin typeface="Arial"/>
                <a:cs typeface="Arial"/>
              </a:rPr>
              <a:t>decrease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25" dirty="0">
                <a:latin typeface="Arial"/>
                <a:cs typeface="Arial"/>
              </a:rPr>
              <a:t>in </a:t>
            </a:r>
            <a:r>
              <a:rPr sz="3300" spc="-100" dirty="0">
                <a:latin typeface="Arial"/>
                <a:cs typeface="Arial"/>
              </a:rPr>
              <a:t>power</a:t>
            </a:r>
            <a:r>
              <a:rPr sz="3300" spc="-17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of</a:t>
            </a:r>
            <a:r>
              <a:rPr sz="3300" spc="-180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light.</a:t>
            </a:r>
            <a:endParaRPr sz="3300">
              <a:latin typeface="Arial"/>
              <a:cs typeface="Arial"/>
            </a:endParaRPr>
          </a:p>
          <a:p>
            <a:pPr marL="577850" marR="375920" lvl="1" indent="-377190">
              <a:lnSpc>
                <a:spcPts val="3710"/>
              </a:lnSpc>
              <a:spcBef>
                <a:spcPts val="575"/>
              </a:spcBef>
              <a:buChar char="•"/>
              <a:tabLst>
                <a:tab pos="577850" algn="l"/>
              </a:tabLst>
            </a:pPr>
            <a:r>
              <a:rPr sz="3300" dirty="0">
                <a:latin typeface="Arial"/>
                <a:cs typeface="Arial"/>
              </a:rPr>
              <a:t>If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-120" dirty="0">
                <a:latin typeface="Arial"/>
                <a:cs typeface="Arial"/>
              </a:rPr>
              <a:t>curing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155" dirty="0">
                <a:latin typeface="Arial"/>
                <a:cs typeface="Arial"/>
              </a:rPr>
              <a:t>longer,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80" dirty="0">
                <a:latin typeface="Arial"/>
                <a:cs typeface="Arial"/>
              </a:rPr>
              <a:t>air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135" dirty="0">
                <a:latin typeface="Arial"/>
                <a:cs typeface="Arial"/>
              </a:rPr>
              <a:t>cool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the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tooth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20" dirty="0">
                <a:latin typeface="Arial"/>
                <a:cs typeface="Arial"/>
              </a:rPr>
              <a:t>with </a:t>
            </a:r>
            <a:r>
              <a:rPr sz="3300" spc="-30" dirty="0">
                <a:latin typeface="Arial"/>
                <a:cs typeface="Arial"/>
              </a:rPr>
              <a:t>air/water</a:t>
            </a:r>
            <a:r>
              <a:rPr sz="3300" spc="-180" dirty="0">
                <a:latin typeface="Arial"/>
                <a:cs typeface="Arial"/>
              </a:rPr>
              <a:t> </a:t>
            </a:r>
            <a:r>
              <a:rPr sz="3300" spc="-30" dirty="0">
                <a:latin typeface="Arial"/>
                <a:cs typeface="Arial"/>
              </a:rPr>
              <a:t>syringe.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738437" y="845050"/>
            <a:ext cx="3898900" cy="3889375"/>
            <a:chOff x="10738437" y="845050"/>
            <a:chExt cx="3898900" cy="38893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38437" y="845050"/>
              <a:ext cx="3898661" cy="38887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35194" y="845050"/>
              <a:ext cx="845050" cy="84505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587813" y="5872988"/>
            <a:ext cx="4152900" cy="4198620"/>
            <a:chOff x="10587813" y="5872988"/>
            <a:chExt cx="4152900" cy="41986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87813" y="6669987"/>
              <a:ext cx="3898658" cy="34015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29989" y="5872988"/>
              <a:ext cx="2010411" cy="201041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89060" y="7186555"/>
            <a:ext cx="3898661" cy="236843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5774922" y="845052"/>
            <a:ext cx="3898900" cy="3919220"/>
            <a:chOff x="15774922" y="845052"/>
            <a:chExt cx="3898900" cy="391922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74922" y="845052"/>
              <a:ext cx="3898659" cy="3918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21181" y="908517"/>
              <a:ext cx="845050" cy="84505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99422" y="6033145"/>
            <a:ext cx="845050" cy="84505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20" name="object 5">
            <a:extLst>
              <a:ext uri="{FF2B5EF4-FFF2-40B4-BE49-F238E27FC236}">
                <a16:creationId xmlns:a16="http://schemas.microsoft.com/office/drawing/2014/main" id="{7CEC19B0-76C0-9029-ECE6-6DFD02F71978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6F8E6EB2-2CBB-A149-C637-A9E2007B1DFA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2F01A7BC-003A-B427-6C30-D40AAB0000AA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8">
              <a:extLst>
                <a:ext uri="{FF2B5EF4-FFF2-40B4-BE49-F238E27FC236}">
                  <a16:creationId xmlns:a16="http://schemas.microsoft.com/office/drawing/2014/main" id="{98DF07E3-4DDB-8C61-101F-FE5CBF028B3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30" y="316901"/>
            <a:ext cx="18002250" cy="14888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600" b="1" i="0" spc="-1405" dirty="0">
                <a:latin typeface="Arial"/>
                <a:cs typeface="Arial"/>
              </a:rPr>
              <a:t>Cove</a:t>
            </a:r>
            <a:r>
              <a:rPr sz="9600" b="1" i="0" spc="-70" dirty="0">
                <a:latin typeface="Arial"/>
                <a:cs typeface="Arial"/>
              </a:rPr>
              <a:t>r</a:t>
            </a:r>
            <a:r>
              <a:rPr sz="9600" b="1" i="0" spc="-2520" dirty="0">
                <a:latin typeface="Arial"/>
                <a:cs typeface="Arial"/>
              </a:rPr>
              <a:t> </a:t>
            </a:r>
            <a:r>
              <a:rPr sz="9600" b="1" i="0" spc="-1225" dirty="0">
                <a:latin typeface="Arial"/>
                <a:cs typeface="Arial"/>
              </a:rPr>
              <a:t>Restoratio</a:t>
            </a:r>
            <a:r>
              <a:rPr sz="9600" b="1" i="0" spc="-60" dirty="0">
                <a:latin typeface="Arial"/>
                <a:cs typeface="Arial"/>
              </a:rPr>
              <a:t>n</a:t>
            </a:r>
            <a:r>
              <a:rPr sz="9600" b="1" i="0" spc="-2200" dirty="0">
                <a:latin typeface="Arial"/>
                <a:cs typeface="Arial"/>
              </a:rPr>
              <a:t> </a:t>
            </a:r>
            <a:r>
              <a:rPr sz="9600" b="1" i="0" spc="-570" dirty="0">
                <a:latin typeface="Arial"/>
                <a:cs typeface="Arial"/>
              </a:rPr>
              <a:t>wit</a:t>
            </a:r>
            <a:r>
              <a:rPr sz="9600" b="1" i="0" spc="-60" dirty="0">
                <a:latin typeface="Arial"/>
                <a:cs typeface="Arial"/>
              </a:rPr>
              <a:t>h</a:t>
            </a:r>
            <a:r>
              <a:rPr sz="9600" b="1" i="0" spc="-110" dirty="0">
                <a:latin typeface="Arial"/>
                <a:cs typeface="Arial"/>
              </a:rPr>
              <a:t> </a:t>
            </a:r>
            <a:r>
              <a:rPr sz="9600" b="1" i="0" spc="-1495" dirty="0">
                <a:latin typeface="Arial"/>
                <a:cs typeface="Arial"/>
              </a:rPr>
              <a:t>T</a:t>
            </a:r>
            <a:r>
              <a:rPr sz="9600" b="1" i="0" spc="-1255" dirty="0">
                <a:latin typeface="Arial"/>
                <a:cs typeface="Arial"/>
              </a:rPr>
              <a:t>i</a:t>
            </a:r>
            <a:r>
              <a:rPr sz="9600" b="1" i="0" spc="-85" dirty="0">
                <a:latin typeface="Arial"/>
                <a:cs typeface="Arial"/>
              </a:rPr>
              <a:t>p</a:t>
            </a:r>
            <a:endParaRPr sz="96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4794" y="3256862"/>
            <a:ext cx="7123387" cy="68082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74041" y="5340987"/>
            <a:ext cx="2673846" cy="25532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031" y="3256861"/>
            <a:ext cx="6547236" cy="70967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451E8750-58CD-E1B1-DB9B-7A17F43794A1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32A5CDBB-10CE-E4A7-55FB-082B18658B7E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D58892-A6F9-3E72-FED2-D148E4227934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385A797A-812D-AAAD-EBA4-8A7BA77F36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631" y="809237"/>
            <a:ext cx="17489170" cy="287401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3145155" marR="75565" indent="-3133090">
              <a:lnSpc>
                <a:spcPts val="10550"/>
              </a:lnSpc>
              <a:spcBef>
                <a:spcPts val="1525"/>
              </a:spcBef>
            </a:pPr>
            <a:r>
              <a:rPr sz="9900" b="1" i="0" spc="-965" dirty="0">
                <a:latin typeface="Arial"/>
                <a:cs typeface="Arial"/>
              </a:rPr>
              <a:t>Positio</a:t>
            </a:r>
            <a:r>
              <a:rPr sz="9900" b="1" i="0" spc="-45" dirty="0">
                <a:latin typeface="Arial"/>
                <a:cs typeface="Arial"/>
              </a:rPr>
              <a:t>n</a:t>
            </a:r>
            <a:r>
              <a:rPr sz="9900" b="1" i="0" spc="-1775" dirty="0">
                <a:latin typeface="Arial"/>
                <a:cs typeface="Arial"/>
              </a:rPr>
              <a:t> </a:t>
            </a:r>
            <a:r>
              <a:rPr sz="9900" b="1" i="0" spc="-969" dirty="0">
                <a:latin typeface="Arial"/>
                <a:cs typeface="Arial"/>
              </a:rPr>
              <a:t>Ligh</a:t>
            </a:r>
            <a:r>
              <a:rPr sz="9900" b="1" i="0" spc="-50" dirty="0">
                <a:latin typeface="Arial"/>
                <a:cs typeface="Arial"/>
              </a:rPr>
              <a:t>t</a:t>
            </a:r>
            <a:r>
              <a:rPr sz="9900" b="1" i="0" spc="-1785" dirty="0">
                <a:latin typeface="Arial"/>
                <a:cs typeface="Arial"/>
              </a:rPr>
              <a:t> </a:t>
            </a:r>
            <a:r>
              <a:rPr sz="9900" b="1" i="0" spc="-2380" dirty="0">
                <a:latin typeface="Arial"/>
                <a:cs typeface="Arial"/>
              </a:rPr>
              <a:t>T</a:t>
            </a:r>
            <a:r>
              <a:rPr sz="9900" b="1" i="0" spc="-440" dirty="0">
                <a:latin typeface="Arial"/>
                <a:cs typeface="Arial"/>
              </a:rPr>
              <a:t>o</a:t>
            </a:r>
            <a:r>
              <a:rPr sz="9900" b="1" i="0" spc="-725" dirty="0">
                <a:latin typeface="Arial"/>
                <a:cs typeface="Arial"/>
              </a:rPr>
              <a:t>Minimiz</a:t>
            </a:r>
            <a:r>
              <a:rPr sz="9900" b="1" i="0" spc="-50" dirty="0">
                <a:latin typeface="Arial"/>
                <a:cs typeface="Arial"/>
              </a:rPr>
              <a:t>e</a:t>
            </a:r>
            <a:r>
              <a:rPr sz="9900" b="1" i="0" spc="-1265" dirty="0">
                <a:latin typeface="Arial"/>
                <a:cs typeface="Arial"/>
              </a:rPr>
              <a:t> </a:t>
            </a:r>
            <a:r>
              <a:rPr sz="9900" b="1" i="0" spc="-725" dirty="0">
                <a:latin typeface="Arial"/>
                <a:cs typeface="Arial"/>
              </a:rPr>
              <a:t>Thermal </a:t>
            </a:r>
            <a:r>
              <a:rPr sz="9900" b="1" i="0" spc="-985" dirty="0">
                <a:latin typeface="Arial"/>
                <a:cs typeface="Arial"/>
              </a:rPr>
              <a:t>Damag</a:t>
            </a:r>
            <a:r>
              <a:rPr sz="9900" b="1" i="0" spc="-65" dirty="0">
                <a:latin typeface="Arial"/>
                <a:cs typeface="Arial"/>
              </a:rPr>
              <a:t>e</a:t>
            </a:r>
            <a:r>
              <a:rPr sz="9900" b="1" i="0" spc="-1745" dirty="0">
                <a:latin typeface="Arial"/>
                <a:cs typeface="Arial"/>
              </a:rPr>
              <a:t> </a:t>
            </a:r>
            <a:r>
              <a:rPr sz="9900" b="1" i="0" spc="-2380" dirty="0">
                <a:latin typeface="Arial"/>
                <a:cs typeface="Arial"/>
              </a:rPr>
              <a:t>T</a:t>
            </a:r>
            <a:r>
              <a:rPr sz="9900" b="1" i="0" spc="-440" dirty="0">
                <a:latin typeface="Arial"/>
                <a:cs typeface="Arial"/>
              </a:rPr>
              <a:t>o</a:t>
            </a:r>
            <a:r>
              <a:rPr sz="9900" b="1" i="0" spc="-969" dirty="0">
                <a:latin typeface="Arial"/>
                <a:cs typeface="Arial"/>
              </a:rPr>
              <a:t>Sof</a:t>
            </a:r>
            <a:r>
              <a:rPr sz="9900" b="1" i="0" spc="-50" dirty="0">
                <a:latin typeface="Arial"/>
                <a:cs typeface="Arial"/>
              </a:rPr>
              <a:t>t</a:t>
            </a:r>
            <a:r>
              <a:rPr sz="9900" b="1" i="0" spc="-2010" dirty="0">
                <a:latin typeface="Arial"/>
                <a:cs typeface="Arial"/>
              </a:rPr>
              <a:t> </a:t>
            </a:r>
            <a:r>
              <a:rPr sz="9900" b="1" i="0" spc="-1255" dirty="0">
                <a:latin typeface="Arial"/>
                <a:cs typeface="Arial"/>
              </a:rPr>
              <a:t>Tissue</a:t>
            </a:r>
            <a:endParaRPr sz="9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92971" y="5220361"/>
            <a:ext cx="5515610" cy="5414645"/>
            <a:chOff x="3792971" y="5220361"/>
            <a:chExt cx="5515610" cy="5414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2971" y="5220361"/>
              <a:ext cx="5515225" cy="54145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1405" y="5407999"/>
              <a:ext cx="1695446" cy="161503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0986472" y="3551721"/>
            <a:ext cx="6002020" cy="7268209"/>
            <a:chOff x="10986472" y="3551721"/>
            <a:chExt cx="6002020" cy="726820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96942" y="5220361"/>
              <a:ext cx="5977620" cy="54177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996942" y="5220361"/>
              <a:ext cx="5981065" cy="5589270"/>
            </a:xfrm>
            <a:custGeom>
              <a:avLst/>
              <a:gdLst/>
              <a:ahLst/>
              <a:cxnLst/>
              <a:rect l="l" t="t" r="r" b="b"/>
              <a:pathLst>
                <a:path w="5981065" h="5589270">
                  <a:moveTo>
                    <a:pt x="0" y="0"/>
                  </a:moveTo>
                  <a:lnTo>
                    <a:pt x="5980970" y="5588940"/>
                  </a:lnTo>
                </a:path>
              </a:pathLst>
            </a:custGeom>
            <a:ln w="2094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96942" y="5200258"/>
              <a:ext cx="5981065" cy="5607685"/>
            </a:xfrm>
            <a:custGeom>
              <a:avLst/>
              <a:gdLst/>
              <a:ahLst/>
              <a:cxnLst/>
              <a:rect l="l" t="t" r="r" b="b"/>
              <a:pathLst>
                <a:path w="5981065" h="5607684">
                  <a:moveTo>
                    <a:pt x="0" y="5607647"/>
                  </a:moveTo>
                  <a:lnTo>
                    <a:pt x="5980970" y="0"/>
                  </a:lnTo>
                </a:path>
              </a:pathLst>
            </a:custGeom>
            <a:ln w="2094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04360" y="3551721"/>
              <a:ext cx="1300067" cy="18562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15"/>
              </a:lnSpc>
            </a:pPr>
            <a:r>
              <a:rPr dirty="0">
                <a:solidFill>
                  <a:srgbClr val="FFFFFF"/>
                </a:solidFill>
              </a:rPr>
              <a:t>John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Comisi,</a:t>
            </a:r>
            <a:r>
              <a:rPr spc="5" dirty="0"/>
              <a:t> </a:t>
            </a:r>
            <a:r>
              <a:rPr dirty="0"/>
              <a:t>DDS,</a:t>
            </a:r>
            <a:r>
              <a:rPr spc="5" dirty="0"/>
              <a:t> </a:t>
            </a:r>
            <a:r>
              <a:rPr spc="-20" dirty="0"/>
              <a:t>MAGD</a:t>
            </a:r>
          </a:p>
        </p:txBody>
      </p:sp>
      <p:grpSp>
        <p:nvGrpSpPr>
          <p:cNvPr id="12" name="object 5">
            <a:extLst>
              <a:ext uri="{FF2B5EF4-FFF2-40B4-BE49-F238E27FC236}">
                <a16:creationId xmlns:a16="http://schemas.microsoft.com/office/drawing/2014/main" id="{E8A83D3C-B056-0BE2-19AC-EC0FF57D8E7B}"/>
              </a:ext>
            </a:extLst>
          </p:cNvPr>
          <p:cNvGrpSpPr/>
          <p:nvPr/>
        </p:nvGrpSpPr>
        <p:grpSpPr>
          <a:xfrm>
            <a:off x="136909" y="9998076"/>
            <a:ext cx="4428741" cy="1052184"/>
            <a:chOff x="9125369" y="6148504"/>
            <a:chExt cx="2996565" cy="647065"/>
          </a:xfrm>
        </p:grpSpPr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045DE365-AF57-02D2-8776-1DD916581C28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C1BEFA3D-2676-87DC-3ED4-BFB4CC8EA65E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CF1CD32D-2F0E-B46D-2764-AD9DF8C4537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4494" y="551631"/>
            <a:ext cx="5026660" cy="1463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400" i="0" spc="-10" dirty="0">
                <a:solidFill>
                  <a:srgbClr val="FFF200"/>
                </a:solidFill>
                <a:latin typeface="Chalkduster"/>
                <a:cs typeface="Chalkduster"/>
              </a:rPr>
              <a:t>Review:</a:t>
            </a:r>
            <a:endParaRPr sz="9400">
              <a:latin typeface="Chalkduster"/>
              <a:cs typeface="Chalkduster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7517" y="2163618"/>
            <a:ext cx="17358360" cy="905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7244" indent="-597535">
              <a:lnSpc>
                <a:spcPts val="5250"/>
              </a:lnSpc>
              <a:buSzPct val="165853"/>
              <a:buChar char="•"/>
              <a:tabLst>
                <a:tab pos="817244" algn="l"/>
              </a:tabLst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What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are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b="1" dirty="0">
                <a:solidFill>
                  <a:srgbClr val="FFFFFF"/>
                </a:solidFill>
                <a:latin typeface="American Typewriter"/>
                <a:cs typeface="American Typewriter"/>
              </a:rPr>
              <a:t>4</a:t>
            </a:r>
            <a:r>
              <a:rPr sz="4100" b="1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steps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30" dirty="0">
                <a:solidFill>
                  <a:srgbClr val="FFFFFF"/>
                </a:solidFill>
                <a:latin typeface="American Typewriter"/>
                <a:cs typeface="American Typewriter"/>
              </a:rPr>
              <a:t>involved</a:t>
            </a:r>
            <a:r>
              <a:rPr sz="4100" spc="-7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in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 bonding</a:t>
            </a:r>
            <a:endParaRPr sz="4100">
              <a:latin typeface="American Typewriter"/>
              <a:cs typeface="American Typewriter"/>
            </a:endParaRPr>
          </a:p>
          <a:p>
            <a:pPr marL="628015">
              <a:lnSpc>
                <a:spcPts val="4570"/>
              </a:lnSpc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process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and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what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is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purpose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of</a:t>
            </a:r>
            <a:r>
              <a:rPr sz="410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each?</a:t>
            </a:r>
            <a:endParaRPr sz="4100">
              <a:latin typeface="American Typewriter"/>
              <a:cs typeface="American Typewriter"/>
            </a:endParaRPr>
          </a:p>
          <a:p>
            <a:pPr marL="945515">
              <a:lnSpc>
                <a:spcPts val="2110"/>
              </a:lnSpc>
              <a:spcBef>
                <a:spcPts val="1845"/>
              </a:spcBef>
            </a:pP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Biofilm</a:t>
            </a:r>
            <a:r>
              <a:rPr sz="2300" spc="-25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50" dirty="0">
                <a:solidFill>
                  <a:srgbClr val="FEF900"/>
                </a:solidFill>
                <a:latin typeface="Chalkduster"/>
                <a:cs typeface="Chalkduster"/>
              </a:rPr>
              <a:t>Removal,</a:t>
            </a:r>
            <a:r>
              <a:rPr sz="2300" spc="-23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Etch,</a:t>
            </a:r>
            <a:r>
              <a:rPr sz="2300" spc="-18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30" dirty="0">
                <a:solidFill>
                  <a:srgbClr val="FEF900"/>
                </a:solidFill>
                <a:latin typeface="Chalkduster"/>
                <a:cs typeface="Chalkduster"/>
              </a:rPr>
              <a:t>disinfect,</a:t>
            </a:r>
            <a:r>
              <a:rPr sz="2300" spc="-18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prime/bond</a:t>
            </a:r>
            <a:endParaRPr sz="2300">
              <a:latin typeface="Chalkduster"/>
              <a:cs typeface="Chalkduster"/>
            </a:endParaRPr>
          </a:p>
          <a:p>
            <a:pPr marL="711835" indent="-597535">
              <a:lnSpc>
                <a:spcPts val="7630"/>
              </a:lnSpc>
              <a:buSzPct val="165853"/>
              <a:buChar char="•"/>
              <a:tabLst>
                <a:tab pos="711835" algn="l"/>
              </a:tabLst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Review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smear</a:t>
            </a:r>
            <a:r>
              <a:rPr sz="4100" spc="-1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layer</a:t>
            </a:r>
            <a:r>
              <a:rPr sz="4100" spc="-7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and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its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importance</a:t>
            </a:r>
            <a:r>
              <a:rPr sz="4100" spc="-3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in</a:t>
            </a:r>
            <a:r>
              <a:rPr sz="4100" spc="-5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bonding.</a:t>
            </a:r>
            <a:endParaRPr sz="4100">
              <a:latin typeface="American Typewriter"/>
              <a:cs typeface="American Typewriter"/>
            </a:endParaRPr>
          </a:p>
          <a:p>
            <a:pPr marL="811530">
              <a:lnSpc>
                <a:spcPts val="1570"/>
              </a:lnSpc>
              <a:spcBef>
                <a:spcPts val="415"/>
              </a:spcBef>
              <a:tabLst>
                <a:tab pos="6823075" algn="l"/>
              </a:tabLst>
            </a:pP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Debris</a:t>
            </a:r>
            <a:r>
              <a:rPr sz="2300" spc="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that</a:t>
            </a:r>
            <a:r>
              <a:rPr sz="2300" spc="-5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is fused</a:t>
            </a:r>
            <a:r>
              <a:rPr sz="2300" spc="5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to</a:t>
            </a:r>
            <a:r>
              <a:rPr sz="2300" spc="-2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the</a:t>
            </a:r>
            <a:r>
              <a:rPr sz="2300" spc="2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dentin.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	</a:t>
            </a:r>
            <a:r>
              <a:rPr sz="2300" spc="50" dirty="0">
                <a:solidFill>
                  <a:srgbClr val="FEF900"/>
                </a:solidFill>
                <a:latin typeface="Chalkduster"/>
                <a:cs typeface="Chalkduster"/>
              </a:rPr>
              <a:t>Must</a:t>
            </a:r>
            <a:r>
              <a:rPr sz="2300" spc="10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be</a:t>
            </a:r>
            <a:r>
              <a:rPr sz="2300" spc="5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removed</a:t>
            </a:r>
            <a:r>
              <a:rPr sz="2300" spc="6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or</a:t>
            </a:r>
            <a:r>
              <a:rPr sz="2300" spc="6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modified</a:t>
            </a:r>
            <a:r>
              <a:rPr sz="2300" spc="8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to</a:t>
            </a:r>
            <a:r>
              <a:rPr sz="2300" spc="-6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bond</a:t>
            </a:r>
            <a:r>
              <a:rPr sz="2300" spc="2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well.</a:t>
            </a:r>
            <a:endParaRPr sz="2300">
              <a:latin typeface="Chalkduster"/>
              <a:cs typeface="Chalkduster"/>
            </a:endParaRPr>
          </a:p>
          <a:p>
            <a:pPr marL="811530" lvl="1" indent="-597535">
              <a:lnSpc>
                <a:spcPts val="6959"/>
              </a:lnSpc>
              <a:buSzPct val="165853"/>
              <a:buChar char="•"/>
              <a:tabLst>
                <a:tab pos="811530" algn="l"/>
              </a:tabLst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Know</a:t>
            </a:r>
            <a:r>
              <a:rPr sz="4100" spc="-1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-8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mechanism</a:t>
            </a:r>
            <a:r>
              <a:rPr sz="4100" spc="-1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by</a:t>
            </a:r>
            <a:r>
              <a:rPr sz="4100" spc="-8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which</a:t>
            </a:r>
            <a:r>
              <a:rPr sz="4100" spc="-11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composites</a:t>
            </a:r>
            <a:r>
              <a:rPr sz="4100" spc="-114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bond</a:t>
            </a:r>
            <a:endParaRPr sz="4100">
              <a:latin typeface="American Typewriter"/>
              <a:cs typeface="American Typewriter"/>
            </a:endParaRPr>
          </a:p>
          <a:p>
            <a:pPr marL="811530">
              <a:lnSpc>
                <a:spcPts val="4790"/>
              </a:lnSpc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to</a:t>
            </a:r>
            <a:r>
              <a:rPr sz="4100" spc="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teeth.</a:t>
            </a:r>
            <a:endParaRPr sz="4100">
              <a:latin typeface="American Typewriter"/>
              <a:cs typeface="American Typewriter"/>
            </a:endParaRPr>
          </a:p>
          <a:p>
            <a:pPr marL="862965">
              <a:lnSpc>
                <a:spcPts val="2095"/>
              </a:lnSpc>
              <a:spcBef>
                <a:spcPts val="1805"/>
              </a:spcBef>
            </a:pP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Micro-mechanical/mineral</a:t>
            </a:r>
            <a:r>
              <a:rPr sz="2300" spc="-10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exchange</a:t>
            </a:r>
            <a:r>
              <a:rPr sz="2300" spc="-9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(with</a:t>
            </a:r>
            <a:r>
              <a:rPr sz="2300" spc="-9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use</a:t>
            </a:r>
            <a:r>
              <a:rPr sz="2300" spc="-9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of</a:t>
            </a:r>
            <a:r>
              <a:rPr sz="2300" spc="-9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functional</a:t>
            </a:r>
            <a:r>
              <a:rPr sz="2300" spc="-9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monomers).</a:t>
            </a:r>
            <a:endParaRPr sz="2300">
              <a:latin typeface="Chalkduster"/>
              <a:cs typeface="Chalkduster"/>
            </a:endParaRPr>
          </a:p>
          <a:p>
            <a:pPr marL="772795" marR="4650105" lvl="2" indent="-398145">
              <a:lnSpc>
                <a:spcPct val="87200"/>
              </a:lnSpc>
              <a:spcBef>
                <a:spcPts val="395"/>
              </a:spcBef>
              <a:buSzPct val="165853"/>
              <a:buChar char="•"/>
              <a:tabLst>
                <a:tab pos="772795" algn="l"/>
                <a:tab pos="972185" algn="l"/>
              </a:tabLst>
            </a:pP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	Which</a:t>
            </a:r>
            <a:r>
              <a:rPr sz="4100" spc="-4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bonding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system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do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we</a:t>
            </a:r>
            <a:r>
              <a:rPr sz="4100" spc="-8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use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here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at</a:t>
            </a:r>
            <a:r>
              <a:rPr sz="4100" spc="-8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MUSC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and</a:t>
            </a:r>
            <a:r>
              <a:rPr sz="410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what</a:t>
            </a:r>
            <a:r>
              <a:rPr sz="410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are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the</a:t>
            </a:r>
            <a:r>
              <a:rPr sz="4100" spc="-25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steps</a:t>
            </a:r>
            <a:r>
              <a:rPr sz="4100" spc="-2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dirty="0">
                <a:solidFill>
                  <a:srgbClr val="FFFFFF"/>
                </a:solidFill>
                <a:latin typeface="American Typewriter"/>
                <a:cs typeface="American Typewriter"/>
              </a:rPr>
              <a:t>for</a:t>
            </a:r>
            <a:r>
              <a:rPr sz="4100" spc="-90" dirty="0">
                <a:solidFill>
                  <a:srgbClr val="FFFFFF"/>
                </a:solidFill>
                <a:latin typeface="American Typewriter"/>
                <a:cs typeface="American Typewriter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merican Typewriter"/>
                <a:cs typeface="American Typewriter"/>
              </a:rPr>
              <a:t>application?</a:t>
            </a:r>
            <a:endParaRPr sz="4100">
              <a:latin typeface="American Typewriter"/>
              <a:cs typeface="American Typewriter"/>
            </a:endParaRPr>
          </a:p>
          <a:p>
            <a:pPr marL="981710">
              <a:lnSpc>
                <a:spcPct val="100000"/>
              </a:lnSpc>
              <a:spcBef>
                <a:spcPts val="1805"/>
              </a:spcBef>
            </a:pP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All</a:t>
            </a:r>
            <a:r>
              <a:rPr sz="2300" spc="7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Bond</a:t>
            </a:r>
            <a:r>
              <a:rPr sz="2300" spc="7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Universal.</a:t>
            </a:r>
            <a:endParaRPr sz="2300">
              <a:latin typeface="Chalkduster"/>
              <a:cs typeface="Chalkduster"/>
            </a:endParaRPr>
          </a:p>
          <a:p>
            <a:pPr marL="981710" marR="3013710">
              <a:lnSpc>
                <a:spcPct val="125499"/>
              </a:lnSpc>
              <a:spcBef>
                <a:spcPts val="114"/>
              </a:spcBef>
            </a:pP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Steps:</a:t>
            </a:r>
            <a:r>
              <a:rPr sz="2300" spc="-8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Preppies,</a:t>
            </a:r>
            <a:r>
              <a:rPr sz="2300" spc="-8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Etch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(15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secs,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wash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and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25" dirty="0">
                <a:solidFill>
                  <a:srgbClr val="FEF900"/>
                </a:solidFill>
                <a:latin typeface="Chalkduster"/>
                <a:cs typeface="Chalkduster"/>
              </a:rPr>
              <a:t>gently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dry),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Disinfect</a:t>
            </a:r>
            <a:r>
              <a:rPr sz="2300" spc="-14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with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25" dirty="0">
                <a:solidFill>
                  <a:srgbClr val="FEF900"/>
                </a:solidFill>
                <a:latin typeface="Chalkduster"/>
                <a:cs typeface="Chalkduster"/>
              </a:rPr>
              <a:t>FiteBac,</a:t>
            </a:r>
            <a:r>
              <a:rPr sz="2300" spc="-14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apply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two</a:t>
            </a:r>
            <a:r>
              <a:rPr sz="2300" spc="-15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20" dirty="0">
                <a:solidFill>
                  <a:srgbClr val="FEF900"/>
                </a:solidFill>
                <a:latin typeface="Chalkduster"/>
                <a:cs typeface="Chalkduster"/>
              </a:rPr>
              <a:t>coats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(scrub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10-15</a:t>
            </a:r>
            <a:r>
              <a:rPr sz="2300" spc="-14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seconds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each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45" dirty="0">
                <a:solidFill>
                  <a:srgbClr val="FEF900"/>
                </a:solidFill>
                <a:latin typeface="Chalkduster"/>
                <a:cs typeface="Chalkduster"/>
              </a:rPr>
              <a:t>coat)</a:t>
            </a:r>
            <a:r>
              <a:rPr sz="2300" spc="-14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which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enables</a:t>
            </a:r>
            <a:r>
              <a:rPr sz="2300" spc="-14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prime/bond</a:t>
            </a:r>
            <a:r>
              <a:rPr sz="2300" spc="-8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to</a:t>
            </a:r>
            <a:r>
              <a:rPr sz="2300" spc="-75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occur,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air</a:t>
            </a:r>
            <a:r>
              <a:rPr sz="2300" spc="-12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dry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10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seconds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20" dirty="0">
                <a:solidFill>
                  <a:srgbClr val="FEF900"/>
                </a:solidFill>
                <a:latin typeface="Chalkduster"/>
                <a:cs typeface="Chalkduster"/>
              </a:rPr>
              <a:t>after</a:t>
            </a:r>
            <a:r>
              <a:rPr sz="2300" spc="-12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second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20" dirty="0">
                <a:solidFill>
                  <a:srgbClr val="FEF900"/>
                </a:solidFill>
                <a:latin typeface="Chalkduster"/>
                <a:cs typeface="Chalkduster"/>
              </a:rPr>
              <a:t>coat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and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then</a:t>
            </a:r>
            <a:r>
              <a:rPr sz="2300" spc="-120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light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cure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dirty="0">
                <a:solidFill>
                  <a:srgbClr val="FEF900"/>
                </a:solidFill>
                <a:latin typeface="Chalkduster"/>
                <a:cs typeface="Chalkduster"/>
              </a:rPr>
              <a:t>10</a:t>
            </a:r>
            <a:r>
              <a:rPr sz="2300" spc="-114" dirty="0">
                <a:solidFill>
                  <a:srgbClr val="FEF900"/>
                </a:solidFill>
                <a:latin typeface="Chalkduster"/>
                <a:cs typeface="Chalkduster"/>
              </a:rPr>
              <a:t> </a:t>
            </a:r>
            <a:r>
              <a:rPr sz="2300" spc="-10" dirty="0">
                <a:solidFill>
                  <a:srgbClr val="FEF900"/>
                </a:solidFill>
                <a:latin typeface="Chalkduster"/>
                <a:cs typeface="Chalkduster"/>
              </a:rPr>
              <a:t>seconds).</a:t>
            </a:r>
            <a:endParaRPr sz="2300">
              <a:latin typeface="Chalkduster"/>
              <a:cs typeface="Chalkduster"/>
            </a:endParaRPr>
          </a:p>
          <a:p>
            <a:pPr marR="17780" algn="r">
              <a:lnSpc>
                <a:spcPct val="100000"/>
              </a:lnSpc>
              <a:spcBef>
                <a:spcPts val="1725"/>
              </a:spcBef>
            </a:pPr>
            <a:r>
              <a:rPr sz="2950" dirty="0">
                <a:solidFill>
                  <a:srgbClr val="FFFFFF"/>
                </a:solidFill>
                <a:latin typeface="Helvetica-Light"/>
                <a:cs typeface="Helvetica-Light"/>
              </a:rPr>
              <a:t>John</a:t>
            </a:r>
            <a:r>
              <a:rPr sz="2950" spc="5" dirty="0">
                <a:solidFill>
                  <a:srgbClr val="FFFFFF"/>
                </a:solidFill>
                <a:latin typeface="Helvetica-Light"/>
                <a:cs typeface="Helvetica-Light"/>
              </a:rPr>
              <a:t> </a:t>
            </a:r>
            <a:r>
              <a:rPr sz="2950" dirty="0">
                <a:solidFill>
                  <a:srgbClr val="FFFFFF"/>
                </a:solidFill>
                <a:latin typeface="Helvetica-Light"/>
                <a:cs typeface="Helvetica-Light"/>
              </a:rPr>
              <a:t>C</a:t>
            </a:r>
            <a:r>
              <a:rPr sz="2950" spc="5" dirty="0">
                <a:solidFill>
                  <a:srgbClr val="FFFFFF"/>
                </a:solidFill>
                <a:latin typeface="Helvetica-Light"/>
                <a:cs typeface="Helvetica-Light"/>
              </a:rPr>
              <a:t> </a:t>
            </a:r>
            <a:r>
              <a:rPr sz="2950" dirty="0">
                <a:solidFill>
                  <a:srgbClr val="FFFFFF"/>
                </a:solidFill>
                <a:latin typeface="Helvetica-Light"/>
                <a:cs typeface="Helvetica-Light"/>
              </a:rPr>
              <a:t>Comisi,</a:t>
            </a:r>
            <a:r>
              <a:rPr sz="2950" spc="5" dirty="0">
                <a:solidFill>
                  <a:srgbClr val="FFFFFF"/>
                </a:solidFill>
                <a:latin typeface="Helvetica-Light"/>
                <a:cs typeface="Helvetica-Light"/>
              </a:rPr>
              <a:t> </a:t>
            </a:r>
            <a:r>
              <a:rPr sz="2950" dirty="0">
                <a:solidFill>
                  <a:srgbClr val="FFFFFF"/>
                </a:solidFill>
                <a:latin typeface="Helvetica-Light"/>
                <a:cs typeface="Helvetica-Light"/>
              </a:rPr>
              <a:t>DDS,</a:t>
            </a:r>
            <a:r>
              <a:rPr sz="2950" spc="5" dirty="0">
                <a:solidFill>
                  <a:srgbClr val="FFFFFF"/>
                </a:solidFill>
                <a:latin typeface="Helvetica-Light"/>
                <a:cs typeface="Helvetica-Light"/>
              </a:rPr>
              <a:t> </a:t>
            </a:r>
            <a:r>
              <a:rPr sz="2950" spc="-20" dirty="0">
                <a:solidFill>
                  <a:srgbClr val="FFFFFF"/>
                </a:solidFill>
                <a:latin typeface="Helvetica-Light"/>
                <a:cs typeface="Helvetica-Light"/>
              </a:rPr>
              <a:t>MAGD</a:t>
            </a:r>
            <a:endParaRPr sz="2950">
              <a:latin typeface="Helvetica-Light"/>
              <a:cs typeface="Helvetica-Light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766F18DF-320C-B6CF-5492-15A217CF5EC6}"/>
              </a:ext>
            </a:extLst>
          </p:cNvPr>
          <p:cNvGrpSpPr/>
          <p:nvPr/>
        </p:nvGrpSpPr>
        <p:grpSpPr>
          <a:xfrm>
            <a:off x="118223" y="10165391"/>
            <a:ext cx="4428741" cy="1052184"/>
            <a:chOff x="9125369" y="6148504"/>
            <a:chExt cx="2996565" cy="64706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52B02221-0B26-33E4-8874-A2D24F5DE99C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2983279" y="0"/>
                  </a:moveTo>
                  <a:lnTo>
                    <a:pt x="0" y="0"/>
                  </a:lnTo>
                  <a:lnTo>
                    <a:pt x="0" y="633878"/>
                  </a:lnTo>
                  <a:lnTo>
                    <a:pt x="2983279" y="633878"/>
                  </a:lnTo>
                  <a:lnTo>
                    <a:pt x="29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E007A6E-EC27-67DA-C152-223CBF823537}"/>
                </a:ext>
              </a:extLst>
            </p:cNvPr>
            <p:cNvSpPr/>
            <p:nvPr/>
          </p:nvSpPr>
          <p:spPr>
            <a:xfrm>
              <a:off x="9131719" y="6154854"/>
              <a:ext cx="2983865" cy="634365"/>
            </a:xfrm>
            <a:custGeom>
              <a:avLst/>
              <a:gdLst/>
              <a:ahLst/>
              <a:cxnLst/>
              <a:rect l="l" t="t" r="r" b="b"/>
              <a:pathLst>
                <a:path w="2983865" h="634365">
                  <a:moveTo>
                    <a:pt x="0" y="0"/>
                  </a:moveTo>
                  <a:lnTo>
                    <a:pt x="2983279" y="0"/>
                  </a:lnTo>
                  <a:lnTo>
                    <a:pt x="2983279" y="633878"/>
                  </a:lnTo>
                  <a:lnTo>
                    <a:pt x="0" y="63387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F2E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16630D82-1718-2BCD-3AE1-DC3ACF0EC12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1716" y="6173783"/>
              <a:ext cx="2743285" cy="59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810</Words>
  <Application>Microsoft Office PowerPoint</Application>
  <PresentationFormat>Custom</PresentationFormat>
  <Paragraphs>105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American Typewriter</vt:lpstr>
      <vt:lpstr>Arial</vt:lpstr>
      <vt:lpstr>Britannic Bold</vt:lpstr>
      <vt:lpstr>Canela Text</vt:lpstr>
      <vt:lpstr>Chalkduster</vt:lpstr>
      <vt:lpstr>Helvetica Neue</vt:lpstr>
      <vt:lpstr>Helvetica-Light</vt:lpstr>
      <vt:lpstr>HelveticaNeue-Medium</vt:lpstr>
      <vt:lpstr>Office Theme</vt:lpstr>
      <vt:lpstr>PowerPoint Presentation</vt:lpstr>
      <vt:lpstr>The Best Preparation</vt:lpstr>
      <vt:lpstr>Before you Prepare a tooth….</vt:lpstr>
      <vt:lpstr>PowerPoint Presentation</vt:lpstr>
      <vt:lpstr>PowerPoint Presentation</vt:lpstr>
      <vt:lpstr>Etch Disinfectant Prime</vt:lpstr>
      <vt:lpstr>BioFilm</vt:lpstr>
      <vt:lpstr>PowerPoint Presentation</vt:lpstr>
      <vt:lpstr>Smear Layer</vt:lpstr>
      <vt:lpstr>PowerPoint Presentation</vt:lpstr>
      <vt:lpstr>S</vt:lpstr>
      <vt:lpstr>PowerPoint Presentation</vt:lpstr>
      <vt:lpstr>Exposed Dentin</vt:lpstr>
      <vt:lpstr>PowerPoint Presentation</vt:lpstr>
      <vt:lpstr>One of these two techniques MUST be employed!!!</vt:lpstr>
      <vt:lpstr>PowerPoint Presentation</vt:lpstr>
      <vt:lpstr>LIGHT CURING!!</vt:lpstr>
      <vt:lpstr>Pre-Exposure Checklist for Light Curing Unit</vt:lpstr>
      <vt:lpstr>PowerPoint Presentation</vt:lpstr>
      <vt:lpstr>Must Use Eye Protection</vt:lpstr>
      <vt:lpstr>PowerPoint Presentation</vt:lpstr>
      <vt:lpstr>Optimizing Clinical Effectiveness</vt:lpstr>
      <vt:lpstr>Tip Position</vt:lpstr>
      <vt:lpstr>Cover Restoration with Tip</vt:lpstr>
      <vt:lpstr>Position Light ToMinimize Thermal Damage ToSoft Tissue</vt:lpstr>
      <vt:lpstr>Review: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Adhesive Dentistry Calibration Module - Comisi</dc:title>
  <cp:lastModifiedBy>Kirk, Jeffrey</cp:lastModifiedBy>
  <cp:revision>13</cp:revision>
  <cp:lastPrinted>2023-11-20T12:31:47Z</cp:lastPrinted>
  <dcterms:created xsi:type="dcterms:W3CDTF">2023-11-16T16:50:46Z</dcterms:created>
  <dcterms:modified xsi:type="dcterms:W3CDTF">2023-11-20T13:29:32Z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Keynote</vt:lpwstr>
  </property>
  <property fmtid="{D5CDD505-2E9C-101B-9397-08002B2CF9AE}" pid="4" name="LastSaved">
    <vt:filetime>2023-11-16T00:00:00Z</vt:filetime>
  </property>
  <property fmtid="{D5CDD505-2E9C-101B-9397-08002B2CF9AE}" pid="5" name="Producer">
    <vt:lpwstr>macOS Version 14.1 (Build 23B74) Quartz PDFContext</vt:lpwstr>
  </property>
</Properties>
</file>