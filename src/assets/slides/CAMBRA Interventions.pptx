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49"/>
  </p:notesMasterIdLst>
  <p:sldIdLst>
    <p:sldId id="256" r:id="rId2"/>
    <p:sldId id="366" r:id="rId3"/>
    <p:sldId id="259" r:id="rId4"/>
    <p:sldId id="257" r:id="rId5"/>
    <p:sldId id="266" r:id="rId6"/>
    <p:sldId id="258" r:id="rId7"/>
    <p:sldId id="310" r:id="rId8"/>
    <p:sldId id="279" r:id="rId9"/>
    <p:sldId id="281" r:id="rId10"/>
    <p:sldId id="305" r:id="rId11"/>
    <p:sldId id="282" r:id="rId12"/>
    <p:sldId id="283" r:id="rId13"/>
    <p:sldId id="275" r:id="rId14"/>
    <p:sldId id="364" r:id="rId15"/>
    <p:sldId id="284" r:id="rId16"/>
    <p:sldId id="285" r:id="rId17"/>
    <p:sldId id="286" r:id="rId18"/>
    <p:sldId id="301" r:id="rId19"/>
    <p:sldId id="277" r:id="rId20"/>
    <p:sldId id="311" r:id="rId21"/>
    <p:sldId id="312" r:id="rId22"/>
    <p:sldId id="260" r:id="rId23"/>
    <p:sldId id="327" r:id="rId24"/>
    <p:sldId id="270" r:id="rId25"/>
    <p:sldId id="294" r:id="rId26"/>
    <p:sldId id="295" r:id="rId27"/>
    <p:sldId id="296" r:id="rId28"/>
    <p:sldId id="268" r:id="rId29"/>
    <p:sldId id="328" r:id="rId30"/>
    <p:sldId id="272" r:id="rId31"/>
    <p:sldId id="271" r:id="rId32"/>
    <p:sldId id="288" r:id="rId33"/>
    <p:sldId id="289" r:id="rId34"/>
    <p:sldId id="290" r:id="rId35"/>
    <p:sldId id="362" r:id="rId36"/>
    <p:sldId id="361" r:id="rId37"/>
    <p:sldId id="360" r:id="rId38"/>
    <p:sldId id="261" r:id="rId39"/>
    <p:sldId id="356" r:id="rId40"/>
    <p:sldId id="359" r:id="rId41"/>
    <p:sldId id="262" r:id="rId42"/>
    <p:sldId id="263" r:id="rId43"/>
    <p:sldId id="264" r:id="rId44"/>
    <p:sldId id="363" r:id="rId45"/>
    <p:sldId id="265" r:id="rId46"/>
    <p:sldId id="357" r:id="rId47"/>
    <p:sldId id="365"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A41875-7F87-48AB-A58C-E6C3C39AB113}">
          <p14:sldIdLst>
            <p14:sldId id="256"/>
            <p14:sldId id="366"/>
            <p14:sldId id="259"/>
            <p14:sldId id="257"/>
            <p14:sldId id="266"/>
            <p14:sldId id="258"/>
            <p14:sldId id="310"/>
            <p14:sldId id="279"/>
            <p14:sldId id="281"/>
            <p14:sldId id="305"/>
            <p14:sldId id="282"/>
            <p14:sldId id="283"/>
            <p14:sldId id="275"/>
            <p14:sldId id="364"/>
            <p14:sldId id="284"/>
            <p14:sldId id="285"/>
            <p14:sldId id="286"/>
            <p14:sldId id="301"/>
            <p14:sldId id="277"/>
            <p14:sldId id="311"/>
            <p14:sldId id="312"/>
            <p14:sldId id="260"/>
            <p14:sldId id="327"/>
            <p14:sldId id="270"/>
            <p14:sldId id="294"/>
            <p14:sldId id="295"/>
            <p14:sldId id="296"/>
            <p14:sldId id="268"/>
            <p14:sldId id="328"/>
            <p14:sldId id="272"/>
            <p14:sldId id="271"/>
            <p14:sldId id="288"/>
            <p14:sldId id="289"/>
            <p14:sldId id="290"/>
            <p14:sldId id="362"/>
            <p14:sldId id="361"/>
            <p14:sldId id="360"/>
            <p14:sldId id="261"/>
            <p14:sldId id="356"/>
            <p14:sldId id="359"/>
            <p14:sldId id="262"/>
            <p14:sldId id="263"/>
            <p14:sldId id="264"/>
            <p14:sldId id="363"/>
            <p14:sldId id="265"/>
            <p14:sldId id="357"/>
            <p14:sldId id="365"/>
          </p14:sldIdLst>
        </p14:section>
        <p14:section name="Untitled Section" id="{82EEEFCA-0B4A-4EF4-A4C3-2D624E861ED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ver, Mullen" userId="b3c79ad9-cb24-4802-8ef0-c2a3dfbe8824" providerId="ADAL" clId="{EE110AC9-DF05-4065-B126-0F691587B165}"/>
    <pc:docChg chg="custSel modSld">
      <pc:chgData name="Coover, Mullen" userId="b3c79ad9-cb24-4802-8ef0-c2a3dfbe8824" providerId="ADAL" clId="{EE110AC9-DF05-4065-B126-0F691587B165}" dt="2022-01-27T17:11:00.727" v="55"/>
      <pc:docMkLst>
        <pc:docMk/>
      </pc:docMkLst>
      <pc:sldChg chg="addSp modSp mod">
        <pc:chgData name="Coover, Mullen" userId="b3c79ad9-cb24-4802-8ef0-c2a3dfbe8824" providerId="ADAL" clId="{EE110AC9-DF05-4065-B126-0F691587B165}" dt="2022-01-27T17:07:30.526" v="22" actId="1076"/>
        <pc:sldMkLst>
          <pc:docMk/>
          <pc:sldMk cId="479341230" sldId="257"/>
        </pc:sldMkLst>
        <pc:spChg chg="add mod">
          <ac:chgData name="Coover, Mullen" userId="b3c79ad9-cb24-4802-8ef0-c2a3dfbe8824" providerId="ADAL" clId="{EE110AC9-DF05-4065-B126-0F691587B165}" dt="2022-01-27T17:07:30.526" v="22" actId="1076"/>
          <ac:spMkLst>
            <pc:docMk/>
            <pc:sldMk cId="479341230" sldId="257"/>
            <ac:spMk id="10" creationId="{5B587283-3BB9-499A-821D-FBAD652AE9E2}"/>
          </ac:spMkLst>
        </pc:spChg>
      </pc:sldChg>
      <pc:sldChg chg="addSp modSp mod">
        <pc:chgData name="Coover, Mullen" userId="b3c79ad9-cb24-4802-8ef0-c2a3dfbe8824" providerId="ADAL" clId="{EE110AC9-DF05-4065-B126-0F691587B165}" dt="2022-01-27T17:06:56.155" v="18" actId="255"/>
        <pc:sldMkLst>
          <pc:docMk/>
          <pc:sldMk cId="2011832088" sldId="258"/>
        </pc:sldMkLst>
        <pc:spChg chg="add mod">
          <ac:chgData name="Coover, Mullen" userId="b3c79ad9-cb24-4802-8ef0-c2a3dfbe8824" providerId="ADAL" clId="{EE110AC9-DF05-4065-B126-0F691587B165}" dt="2022-01-27T17:06:56.155" v="18" actId="255"/>
          <ac:spMkLst>
            <pc:docMk/>
            <pc:sldMk cId="2011832088" sldId="258"/>
            <ac:spMk id="3" creationId="{2F4AA737-BA92-48B8-A030-75812F648987}"/>
          </ac:spMkLst>
        </pc:spChg>
      </pc:sldChg>
      <pc:sldChg chg="addSp modSp mod">
        <pc:chgData name="Coover, Mullen" userId="b3c79ad9-cb24-4802-8ef0-c2a3dfbe8824" providerId="ADAL" clId="{EE110AC9-DF05-4065-B126-0F691587B165}" dt="2022-01-27T17:07:46.790" v="24" actId="1076"/>
        <pc:sldMkLst>
          <pc:docMk/>
          <pc:sldMk cId="2109122293" sldId="259"/>
        </pc:sldMkLst>
        <pc:spChg chg="add mod">
          <ac:chgData name="Coover, Mullen" userId="b3c79ad9-cb24-4802-8ef0-c2a3dfbe8824" providerId="ADAL" clId="{EE110AC9-DF05-4065-B126-0F691587B165}" dt="2022-01-27T17:07:46.790" v="24" actId="1076"/>
          <ac:spMkLst>
            <pc:docMk/>
            <pc:sldMk cId="2109122293" sldId="259"/>
            <ac:spMk id="5" creationId="{B0D40913-B9AB-4F32-B0C0-2B0F61C4C7C6}"/>
          </ac:spMkLst>
        </pc:spChg>
      </pc:sldChg>
      <pc:sldChg chg="addSp modSp">
        <pc:chgData name="Coover, Mullen" userId="b3c79ad9-cb24-4802-8ef0-c2a3dfbe8824" providerId="ADAL" clId="{EE110AC9-DF05-4065-B126-0F691587B165}" dt="2022-01-27T17:10:27.096" v="49"/>
        <pc:sldMkLst>
          <pc:docMk/>
          <pc:sldMk cId="2052714406" sldId="261"/>
        </pc:sldMkLst>
        <pc:spChg chg="add mod">
          <ac:chgData name="Coover, Mullen" userId="b3c79ad9-cb24-4802-8ef0-c2a3dfbe8824" providerId="ADAL" clId="{EE110AC9-DF05-4065-B126-0F691587B165}" dt="2022-01-27T17:10:27.096" v="49"/>
          <ac:spMkLst>
            <pc:docMk/>
            <pc:sldMk cId="2052714406" sldId="261"/>
            <ac:spMk id="6" creationId="{60FA1E81-1C85-4A75-AEBB-50AD2DFABDD6}"/>
          </ac:spMkLst>
        </pc:spChg>
      </pc:sldChg>
      <pc:sldChg chg="addSp modSp mod">
        <pc:chgData name="Coover, Mullen" userId="b3c79ad9-cb24-4802-8ef0-c2a3dfbe8824" providerId="ADAL" clId="{EE110AC9-DF05-4065-B126-0F691587B165}" dt="2022-01-27T17:10:47.148" v="52"/>
        <pc:sldMkLst>
          <pc:docMk/>
          <pc:sldMk cId="2847874427" sldId="262"/>
        </pc:sldMkLst>
        <pc:spChg chg="mod">
          <ac:chgData name="Coover, Mullen" userId="b3c79ad9-cb24-4802-8ef0-c2a3dfbe8824" providerId="ADAL" clId="{EE110AC9-DF05-4065-B126-0F691587B165}" dt="2022-01-27T13:46:38.823" v="1" actId="14100"/>
          <ac:spMkLst>
            <pc:docMk/>
            <pc:sldMk cId="2847874427" sldId="262"/>
            <ac:spMk id="4" creationId="{77242894-AA78-46D5-B785-933EA1EE1808}"/>
          </ac:spMkLst>
        </pc:spChg>
        <pc:spChg chg="add mod">
          <ac:chgData name="Coover, Mullen" userId="b3c79ad9-cb24-4802-8ef0-c2a3dfbe8824" providerId="ADAL" clId="{EE110AC9-DF05-4065-B126-0F691587B165}" dt="2022-01-27T17:10:47.148" v="52"/>
          <ac:spMkLst>
            <pc:docMk/>
            <pc:sldMk cId="2847874427" sldId="262"/>
            <ac:spMk id="9" creationId="{34ED4150-C07A-465C-ABE3-E2483552A982}"/>
          </ac:spMkLst>
        </pc:spChg>
      </pc:sldChg>
      <pc:sldChg chg="addSp modSp">
        <pc:chgData name="Coover, Mullen" userId="b3c79ad9-cb24-4802-8ef0-c2a3dfbe8824" providerId="ADAL" clId="{EE110AC9-DF05-4065-B126-0F691587B165}" dt="2022-01-27T17:10:52.995" v="53"/>
        <pc:sldMkLst>
          <pc:docMk/>
          <pc:sldMk cId="2416802750" sldId="263"/>
        </pc:sldMkLst>
        <pc:spChg chg="add mod">
          <ac:chgData name="Coover, Mullen" userId="b3c79ad9-cb24-4802-8ef0-c2a3dfbe8824" providerId="ADAL" clId="{EE110AC9-DF05-4065-B126-0F691587B165}" dt="2022-01-27T17:10:52.995" v="53"/>
          <ac:spMkLst>
            <pc:docMk/>
            <pc:sldMk cId="2416802750" sldId="263"/>
            <ac:spMk id="5" creationId="{6BEEA0FF-5E2E-4D26-BEBD-E451D647169B}"/>
          </ac:spMkLst>
        </pc:spChg>
      </pc:sldChg>
      <pc:sldChg chg="addSp modSp">
        <pc:chgData name="Coover, Mullen" userId="b3c79ad9-cb24-4802-8ef0-c2a3dfbe8824" providerId="ADAL" clId="{EE110AC9-DF05-4065-B126-0F691587B165}" dt="2022-01-27T17:10:57.655" v="54"/>
        <pc:sldMkLst>
          <pc:docMk/>
          <pc:sldMk cId="609917639" sldId="264"/>
        </pc:sldMkLst>
        <pc:spChg chg="add mod">
          <ac:chgData name="Coover, Mullen" userId="b3c79ad9-cb24-4802-8ef0-c2a3dfbe8824" providerId="ADAL" clId="{EE110AC9-DF05-4065-B126-0F691587B165}" dt="2022-01-27T17:10:57.655" v="54"/>
          <ac:spMkLst>
            <pc:docMk/>
            <pc:sldMk cId="609917639" sldId="264"/>
            <ac:spMk id="6" creationId="{943F2896-AE7B-445C-872F-1AE88554F699}"/>
          </ac:spMkLst>
        </pc:spChg>
      </pc:sldChg>
      <pc:sldChg chg="addSp modSp mod">
        <pc:chgData name="Coover, Mullen" userId="b3c79ad9-cb24-4802-8ef0-c2a3dfbe8824" providerId="ADAL" clId="{EE110AC9-DF05-4065-B126-0F691587B165}" dt="2022-01-27T17:07:19.070" v="20" actId="1076"/>
        <pc:sldMkLst>
          <pc:docMk/>
          <pc:sldMk cId="1090462487" sldId="266"/>
        </pc:sldMkLst>
        <pc:spChg chg="add mod">
          <ac:chgData name="Coover, Mullen" userId="b3c79ad9-cb24-4802-8ef0-c2a3dfbe8824" providerId="ADAL" clId="{EE110AC9-DF05-4065-B126-0F691587B165}" dt="2022-01-27T17:07:19.070" v="20" actId="1076"/>
          <ac:spMkLst>
            <pc:docMk/>
            <pc:sldMk cId="1090462487" sldId="266"/>
            <ac:spMk id="8" creationId="{BD322D40-9A66-498F-A5A6-3AD2F3E9009A}"/>
          </ac:spMkLst>
        </pc:spChg>
      </pc:sldChg>
      <pc:sldChg chg="addSp modSp">
        <pc:chgData name="Coover, Mullen" userId="b3c79ad9-cb24-4802-8ef0-c2a3dfbe8824" providerId="ADAL" clId="{EE110AC9-DF05-4065-B126-0F691587B165}" dt="2022-01-27T17:10:31.328" v="50"/>
        <pc:sldMkLst>
          <pc:docMk/>
          <pc:sldMk cId="2414714310" sldId="356"/>
        </pc:sldMkLst>
        <pc:spChg chg="add mod">
          <ac:chgData name="Coover, Mullen" userId="b3c79ad9-cb24-4802-8ef0-c2a3dfbe8824" providerId="ADAL" clId="{EE110AC9-DF05-4065-B126-0F691587B165}" dt="2022-01-27T17:10:31.328" v="50"/>
          <ac:spMkLst>
            <pc:docMk/>
            <pc:sldMk cId="2414714310" sldId="356"/>
            <ac:spMk id="6" creationId="{BABC85B3-9C76-4C7E-A020-34D326AC3FD6}"/>
          </ac:spMkLst>
        </pc:spChg>
      </pc:sldChg>
      <pc:sldChg chg="addSp modSp">
        <pc:chgData name="Coover, Mullen" userId="b3c79ad9-cb24-4802-8ef0-c2a3dfbe8824" providerId="ADAL" clId="{EE110AC9-DF05-4065-B126-0F691587B165}" dt="2022-01-27T17:10:42.832" v="51"/>
        <pc:sldMkLst>
          <pc:docMk/>
          <pc:sldMk cId="668938516" sldId="359"/>
        </pc:sldMkLst>
        <pc:spChg chg="add mod">
          <ac:chgData name="Coover, Mullen" userId="b3c79ad9-cb24-4802-8ef0-c2a3dfbe8824" providerId="ADAL" clId="{EE110AC9-DF05-4065-B126-0F691587B165}" dt="2022-01-27T17:10:42.832" v="51"/>
          <ac:spMkLst>
            <pc:docMk/>
            <pc:sldMk cId="668938516" sldId="359"/>
            <ac:spMk id="6" creationId="{CC016E4C-1122-4566-812F-D8AA2095FFD6}"/>
          </ac:spMkLst>
        </pc:spChg>
      </pc:sldChg>
      <pc:sldChg chg="addSp modSp">
        <pc:chgData name="Coover, Mullen" userId="b3c79ad9-cb24-4802-8ef0-c2a3dfbe8824" providerId="ADAL" clId="{EE110AC9-DF05-4065-B126-0F691587B165}" dt="2022-01-27T17:10:21.091" v="48"/>
        <pc:sldMkLst>
          <pc:docMk/>
          <pc:sldMk cId="3184139801" sldId="360"/>
        </pc:sldMkLst>
        <pc:spChg chg="add mod">
          <ac:chgData name="Coover, Mullen" userId="b3c79ad9-cb24-4802-8ef0-c2a3dfbe8824" providerId="ADAL" clId="{EE110AC9-DF05-4065-B126-0F691587B165}" dt="2022-01-27T17:10:21.091" v="48"/>
          <ac:spMkLst>
            <pc:docMk/>
            <pc:sldMk cId="3184139801" sldId="360"/>
            <ac:spMk id="5" creationId="{A7A49B1C-02CF-43FD-B915-5BBE310E5ACD}"/>
          </ac:spMkLst>
        </pc:spChg>
      </pc:sldChg>
      <pc:sldChg chg="addSp delSp modSp mod">
        <pc:chgData name="Coover, Mullen" userId="b3c79ad9-cb24-4802-8ef0-c2a3dfbe8824" providerId="ADAL" clId="{EE110AC9-DF05-4065-B126-0F691587B165}" dt="2022-01-27T17:10:17.769" v="47" actId="478"/>
        <pc:sldMkLst>
          <pc:docMk/>
          <pc:sldMk cId="1030394669" sldId="361"/>
        </pc:sldMkLst>
        <pc:spChg chg="add del mod">
          <ac:chgData name="Coover, Mullen" userId="b3c79ad9-cb24-4802-8ef0-c2a3dfbe8824" providerId="ADAL" clId="{EE110AC9-DF05-4065-B126-0F691587B165}" dt="2022-01-27T17:10:17.769" v="47" actId="478"/>
          <ac:spMkLst>
            <pc:docMk/>
            <pc:sldMk cId="1030394669" sldId="361"/>
            <ac:spMk id="5" creationId="{A4F178FB-BA5D-43A4-80A5-60436FB2BE1F}"/>
          </ac:spMkLst>
        </pc:spChg>
        <pc:spChg chg="add mod">
          <ac:chgData name="Coover, Mullen" userId="b3c79ad9-cb24-4802-8ef0-c2a3dfbe8824" providerId="ADAL" clId="{EE110AC9-DF05-4065-B126-0F691587B165}" dt="2022-01-27T17:10:10.940" v="46"/>
          <ac:spMkLst>
            <pc:docMk/>
            <pc:sldMk cId="1030394669" sldId="361"/>
            <ac:spMk id="7" creationId="{17451665-2CE2-429B-B250-81F20A85F4E4}"/>
          </ac:spMkLst>
        </pc:spChg>
      </pc:sldChg>
      <pc:sldChg chg="addSp modSp mod">
        <pc:chgData name="Coover, Mullen" userId="b3c79ad9-cb24-4802-8ef0-c2a3dfbe8824" providerId="ADAL" clId="{EE110AC9-DF05-4065-B126-0F691587B165}" dt="2022-01-27T17:09:54.269" v="44" actId="1076"/>
        <pc:sldMkLst>
          <pc:docMk/>
          <pc:sldMk cId="2206001461" sldId="362"/>
        </pc:sldMkLst>
        <pc:spChg chg="add mod">
          <ac:chgData name="Coover, Mullen" userId="b3c79ad9-cb24-4802-8ef0-c2a3dfbe8824" providerId="ADAL" clId="{EE110AC9-DF05-4065-B126-0F691587B165}" dt="2022-01-27T17:09:54.269" v="44" actId="1076"/>
          <ac:spMkLst>
            <pc:docMk/>
            <pc:sldMk cId="2206001461" sldId="362"/>
            <ac:spMk id="5" creationId="{FA03224B-BF67-4B68-A55C-1A3DA6A7F308}"/>
          </ac:spMkLst>
        </pc:spChg>
      </pc:sldChg>
      <pc:sldChg chg="addSp modSp">
        <pc:chgData name="Coover, Mullen" userId="b3c79ad9-cb24-4802-8ef0-c2a3dfbe8824" providerId="ADAL" clId="{EE110AC9-DF05-4065-B126-0F691587B165}" dt="2022-01-27T17:11:00.727" v="55"/>
        <pc:sldMkLst>
          <pc:docMk/>
          <pc:sldMk cId="2849738331" sldId="363"/>
        </pc:sldMkLst>
        <pc:spChg chg="add mod">
          <ac:chgData name="Coover, Mullen" userId="b3c79ad9-cb24-4802-8ef0-c2a3dfbe8824" providerId="ADAL" clId="{EE110AC9-DF05-4065-B126-0F691587B165}" dt="2022-01-27T17:11:00.727" v="55"/>
          <ac:spMkLst>
            <pc:docMk/>
            <pc:sldMk cId="2849738331" sldId="363"/>
            <ac:spMk id="5" creationId="{1E73207D-E8DC-40C2-8BDC-49CDC624D979}"/>
          </ac:spMkLst>
        </pc:spChg>
      </pc:sldChg>
      <pc:sldChg chg="addSp modSp mod">
        <pc:chgData name="Coover, Mullen" userId="b3c79ad9-cb24-4802-8ef0-c2a3dfbe8824" providerId="ADAL" clId="{EE110AC9-DF05-4065-B126-0F691587B165}" dt="2022-01-27T17:08:21.620" v="27"/>
        <pc:sldMkLst>
          <pc:docMk/>
          <pc:sldMk cId="1794146126" sldId="364"/>
        </pc:sldMkLst>
        <pc:spChg chg="add mod">
          <ac:chgData name="Coover, Mullen" userId="b3c79ad9-cb24-4802-8ef0-c2a3dfbe8824" providerId="ADAL" clId="{EE110AC9-DF05-4065-B126-0F691587B165}" dt="2022-01-27T17:08:21.620" v="27"/>
          <ac:spMkLst>
            <pc:docMk/>
            <pc:sldMk cId="1794146126" sldId="364"/>
            <ac:spMk id="6" creationId="{79B0BAC0-9C75-4970-AD66-48EE901906AC}"/>
          </ac:spMkLst>
        </pc:spChg>
        <pc:picChg chg="mod">
          <ac:chgData name="Coover, Mullen" userId="b3c79ad9-cb24-4802-8ef0-c2a3dfbe8824" providerId="ADAL" clId="{EE110AC9-DF05-4065-B126-0F691587B165}" dt="2022-01-27T17:08:03.370" v="25" actId="1076"/>
          <ac:picMkLst>
            <pc:docMk/>
            <pc:sldMk cId="1794146126" sldId="364"/>
            <ac:picMk id="5" creationId="{585FCE01-507F-4B39-9C3B-27B1FF519E4B}"/>
          </ac:picMkLst>
        </pc:picChg>
        <pc:picChg chg="mod">
          <ac:chgData name="Coover, Mullen" userId="b3c79ad9-cb24-4802-8ef0-c2a3dfbe8824" providerId="ADAL" clId="{EE110AC9-DF05-4065-B126-0F691587B165}" dt="2022-01-27T17:08:08.475" v="26" actId="1076"/>
          <ac:picMkLst>
            <pc:docMk/>
            <pc:sldMk cId="1794146126" sldId="364"/>
            <ac:picMk id="7" creationId="{DC88306A-75F3-4DCF-A4D8-DFE7A541D337}"/>
          </ac:picMkLst>
        </pc:picChg>
      </pc:sldChg>
    </pc:docChg>
  </pc:docChgLst>
  <pc:docChgLst>
    <pc:chgData name="Coover, Mullen O" userId="b3c79ad9-cb24-4802-8ef0-c2a3dfbe8824" providerId="ADAL" clId="{DA95FA8D-524B-4A4E-B867-D9F5E603B1A0}"/>
    <pc:docChg chg="custSel modSld">
      <pc:chgData name="Coover, Mullen O" userId="b3c79ad9-cb24-4802-8ef0-c2a3dfbe8824" providerId="ADAL" clId="{DA95FA8D-524B-4A4E-B867-D9F5E603B1A0}" dt="2024-01-31T20:11:55.852" v="133" actId="20577"/>
      <pc:docMkLst>
        <pc:docMk/>
      </pc:docMkLst>
      <pc:sldChg chg="modSp mod">
        <pc:chgData name="Coover, Mullen O" userId="b3c79ad9-cb24-4802-8ef0-c2a3dfbe8824" providerId="ADAL" clId="{DA95FA8D-524B-4A4E-B867-D9F5E603B1A0}" dt="2024-01-31T20:07:28.835" v="51" actId="20577"/>
        <pc:sldMkLst>
          <pc:docMk/>
          <pc:sldMk cId="2847874427" sldId="262"/>
        </pc:sldMkLst>
        <pc:spChg chg="mod">
          <ac:chgData name="Coover, Mullen O" userId="b3c79ad9-cb24-4802-8ef0-c2a3dfbe8824" providerId="ADAL" clId="{DA95FA8D-524B-4A4E-B867-D9F5E603B1A0}" dt="2024-01-31T20:07:28.835" v="51" actId="20577"/>
          <ac:spMkLst>
            <pc:docMk/>
            <pc:sldMk cId="2847874427" sldId="262"/>
            <ac:spMk id="4" creationId="{77242894-AA78-46D5-B785-933EA1EE1808}"/>
          </ac:spMkLst>
        </pc:spChg>
      </pc:sldChg>
      <pc:sldChg chg="modSp mod">
        <pc:chgData name="Coover, Mullen O" userId="b3c79ad9-cb24-4802-8ef0-c2a3dfbe8824" providerId="ADAL" clId="{DA95FA8D-524B-4A4E-B867-D9F5E603B1A0}" dt="2024-01-31T20:08:13.803" v="54" actId="20577"/>
        <pc:sldMkLst>
          <pc:docMk/>
          <pc:sldMk cId="609917639" sldId="264"/>
        </pc:sldMkLst>
        <pc:spChg chg="mod">
          <ac:chgData name="Coover, Mullen O" userId="b3c79ad9-cb24-4802-8ef0-c2a3dfbe8824" providerId="ADAL" clId="{DA95FA8D-524B-4A4E-B867-D9F5E603B1A0}" dt="2024-01-31T20:08:13.803" v="54" actId="20577"/>
          <ac:spMkLst>
            <pc:docMk/>
            <pc:sldMk cId="609917639" sldId="264"/>
            <ac:spMk id="3" creationId="{66A2564B-65CC-4A75-9A97-3BDD56B95F69}"/>
          </ac:spMkLst>
        </pc:spChg>
      </pc:sldChg>
      <pc:sldChg chg="modSp mod">
        <pc:chgData name="Coover, Mullen O" userId="b3c79ad9-cb24-4802-8ef0-c2a3dfbe8824" providerId="ADAL" clId="{DA95FA8D-524B-4A4E-B867-D9F5E603B1A0}" dt="2024-01-31T20:04:01.107" v="13" actId="115"/>
        <pc:sldMkLst>
          <pc:docMk/>
          <pc:sldMk cId="2419576089" sldId="271"/>
        </pc:sldMkLst>
        <pc:spChg chg="mod">
          <ac:chgData name="Coover, Mullen O" userId="b3c79ad9-cb24-4802-8ef0-c2a3dfbe8824" providerId="ADAL" clId="{DA95FA8D-524B-4A4E-B867-D9F5E603B1A0}" dt="2024-01-31T20:04:01.107" v="13" actId="115"/>
          <ac:spMkLst>
            <pc:docMk/>
            <pc:sldMk cId="2419576089" sldId="271"/>
            <ac:spMk id="4" creationId="{00000000-0000-0000-0000-000000000000}"/>
          </ac:spMkLst>
        </pc:spChg>
      </pc:sldChg>
      <pc:sldChg chg="modSp mod">
        <pc:chgData name="Coover, Mullen O" userId="b3c79ad9-cb24-4802-8ef0-c2a3dfbe8824" providerId="ADAL" clId="{DA95FA8D-524B-4A4E-B867-D9F5E603B1A0}" dt="2024-01-31T20:03:02.704" v="12" actId="1076"/>
        <pc:sldMkLst>
          <pc:docMk/>
          <pc:sldMk cId="3776260801" sldId="272"/>
        </pc:sldMkLst>
        <pc:spChg chg="mod">
          <ac:chgData name="Coover, Mullen O" userId="b3c79ad9-cb24-4802-8ef0-c2a3dfbe8824" providerId="ADAL" clId="{DA95FA8D-524B-4A4E-B867-D9F5E603B1A0}" dt="2024-01-31T20:03:02.704" v="12" actId="1076"/>
          <ac:spMkLst>
            <pc:docMk/>
            <pc:sldMk cId="3776260801" sldId="272"/>
            <ac:spMk id="2" creationId="{00000000-0000-0000-0000-000000000000}"/>
          </ac:spMkLst>
        </pc:spChg>
        <pc:spChg chg="mod">
          <ac:chgData name="Coover, Mullen O" userId="b3c79ad9-cb24-4802-8ef0-c2a3dfbe8824" providerId="ADAL" clId="{DA95FA8D-524B-4A4E-B867-D9F5E603B1A0}" dt="2024-01-31T20:02:51.879" v="11" actId="1076"/>
          <ac:spMkLst>
            <pc:docMk/>
            <pc:sldMk cId="3776260801" sldId="272"/>
            <ac:spMk id="5" creationId="{00000000-0000-0000-0000-000000000000}"/>
          </ac:spMkLst>
        </pc:spChg>
      </pc:sldChg>
      <pc:sldChg chg="modSp mod">
        <pc:chgData name="Coover, Mullen O" userId="b3c79ad9-cb24-4802-8ef0-c2a3dfbe8824" providerId="ADAL" clId="{DA95FA8D-524B-4A4E-B867-D9F5E603B1A0}" dt="2024-01-31T19:59:20.844" v="0" actId="115"/>
        <pc:sldMkLst>
          <pc:docMk/>
          <pc:sldMk cId="1567203481" sldId="283"/>
        </pc:sldMkLst>
        <pc:spChg chg="mod">
          <ac:chgData name="Coover, Mullen O" userId="b3c79ad9-cb24-4802-8ef0-c2a3dfbe8824" providerId="ADAL" clId="{DA95FA8D-524B-4A4E-B867-D9F5E603B1A0}" dt="2024-01-31T19:59:20.844" v="0" actId="115"/>
          <ac:spMkLst>
            <pc:docMk/>
            <pc:sldMk cId="1567203481" sldId="283"/>
            <ac:spMk id="3" creationId="{00000000-0000-0000-0000-000000000000}"/>
          </ac:spMkLst>
        </pc:spChg>
      </pc:sldChg>
      <pc:sldChg chg="modSp mod">
        <pc:chgData name="Coover, Mullen O" userId="b3c79ad9-cb24-4802-8ef0-c2a3dfbe8824" providerId="ADAL" clId="{DA95FA8D-524B-4A4E-B867-D9F5E603B1A0}" dt="2024-01-31T20:00:04.210" v="8" actId="20577"/>
        <pc:sldMkLst>
          <pc:docMk/>
          <pc:sldMk cId="3766364919" sldId="284"/>
        </pc:sldMkLst>
        <pc:spChg chg="mod">
          <ac:chgData name="Coover, Mullen O" userId="b3c79ad9-cb24-4802-8ef0-c2a3dfbe8824" providerId="ADAL" clId="{DA95FA8D-524B-4A4E-B867-D9F5E603B1A0}" dt="2024-01-31T20:00:04.210" v="8" actId="20577"/>
          <ac:spMkLst>
            <pc:docMk/>
            <pc:sldMk cId="3766364919" sldId="284"/>
            <ac:spMk id="4" creationId="{00000000-0000-0000-0000-000000000000}"/>
          </ac:spMkLst>
        </pc:spChg>
      </pc:sldChg>
      <pc:sldChg chg="modSp mod">
        <pc:chgData name="Coover, Mullen O" userId="b3c79ad9-cb24-4802-8ef0-c2a3dfbe8824" providerId="ADAL" clId="{DA95FA8D-524B-4A4E-B867-D9F5E603B1A0}" dt="2024-01-31T20:05:27.789" v="14" actId="20577"/>
        <pc:sldMkLst>
          <pc:docMk/>
          <pc:sldMk cId="1214041659" sldId="290"/>
        </pc:sldMkLst>
        <pc:spChg chg="mod">
          <ac:chgData name="Coover, Mullen O" userId="b3c79ad9-cb24-4802-8ef0-c2a3dfbe8824" providerId="ADAL" clId="{DA95FA8D-524B-4A4E-B867-D9F5E603B1A0}" dt="2024-01-31T20:05:27.789" v="14" actId="20577"/>
          <ac:spMkLst>
            <pc:docMk/>
            <pc:sldMk cId="1214041659" sldId="290"/>
            <ac:spMk id="3" creationId="{00000000-0000-0000-0000-000000000000}"/>
          </ac:spMkLst>
        </pc:spChg>
      </pc:sldChg>
      <pc:sldChg chg="modSp mod">
        <pc:chgData name="Coover, Mullen O" userId="b3c79ad9-cb24-4802-8ef0-c2a3dfbe8824" providerId="ADAL" clId="{DA95FA8D-524B-4A4E-B867-D9F5E603B1A0}" dt="2024-01-31T20:09:37.456" v="60" actId="27636"/>
        <pc:sldMkLst>
          <pc:docMk/>
          <pc:sldMk cId="3913545588" sldId="367"/>
        </pc:sldMkLst>
        <pc:spChg chg="mod">
          <ac:chgData name="Coover, Mullen O" userId="b3c79ad9-cb24-4802-8ef0-c2a3dfbe8824" providerId="ADAL" clId="{DA95FA8D-524B-4A4E-B867-D9F5E603B1A0}" dt="2024-01-31T20:09:37.456" v="60" actId="27636"/>
          <ac:spMkLst>
            <pc:docMk/>
            <pc:sldMk cId="3913545588" sldId="367"/>
            <ac:spMk id="3" creationId="{59B85C5E-C85B-4107-32A1-1E25B909633A}"/>
          </ac:spMkLst>
        </pc:spChg>
      </pc:sldChg>
      <pc:sldChg chg="modSp mod">
        <pc:chgData name="Coover, Mullen O" userId="b3c79ad9-cb24-4802-8ef0-c2a3dfbe8824" providerId="ADAL" clId="{DA95FA8D-524B-4A4E-B867-D9F5E603B1A0}" dt="2024-01-31T20:11:55.852" v="133" actId="20577"/>
        <pc:sldMkLst>
          <pc:docMk/>
          <pc:sldMk cId="818267670" sldId="368"/>
        </pc:sldMkLst>
        <pc:spChg chg="mod">
          <ac:chgData name="Coover, Mullen O" userId="b3c79ad9-cb24-4802-8ef0-c2a3dfbe8824" providerId="ADAL" clId="{DA95FA8D-524B-4A4E-B867-D9F5E603B1A0}" dt="2024-01-31T20:11:55.852" v="133" actId="20577"/>
          <ac:spMkLst>
            <pc:docMk/>
            <pc:sldMk cId="818267670" sldId="368"/>
            <ac:spMk id="3" creationId="{6C4D2868-AA99-B1FA-467D-1630F8F4FFEB}"/>
          </ac:spMkLst>
        </pc:spChg>
      </pc:sldChg>
    </pc:docChg>
  </pc:docChgLst>
  <pc:docChgLst>
    <pc:chgData name="Mullen" userId="b3c79ad9-cb24-4802-8ef0-c2a3dfbe8824" providerId="ADAL" clId="{D19A802F-A9D2-49AD-8097-6845B62BBF8B}"/>
    <pc:docChg chg="custSel addSld modSld modSection">
      <pc:chgData name="Mullen" userId="b3c79ad9-cb24-4802-8ef0-c2a3dfbe8824" providerId="ADAL" clId="{D19A802F-A9D2-49AD-8097-6845B62BBF8B}" dt="2022-05-09T18:33:04.702" v="353" actId="14"/>
      <pc:docMkLst>
        <pc:docMk/>
      </pc:docMkLst>
      <pc:sldChg chg="modSp mod">
        <pc:chgData name="Mullen" userId="b3c79ad9-cb24-4802-8ef0-c2a3dfbe8824" providerId="ADAL" clId="{D19A802F-A9D2-49AD-8097-6845B62BBF8B}" dt="2022-05-09T18:13:47.079" v="47" actId="20577"/>
        <pc:sldMkLst>
          <pc:docMk/>
          <pc:sldMk cId="479341230" sldId="257"/>
        </pc:sldMkLst>
        <pc:spChg chg="mod">
          <ac:chgData name="Mullen" userId="b3c79ad9-cb24-4802-8ef0-c2a3dfbe8824" providerId="ADAL" clId="{D19A802F-A9D2-49AD-8097-6845B62BBF8B}" dt="2022-05-09T18:13:47.079" v="47" actId="20577"/>
          <ac:spMkLst>
            <pc:docMk/>
            <pc:sldMk cId="479341230" sldId="257"/>
            <ac:spMk id="12" creationId="{0DBB3453-62AB-4AEF-AF89-7A962AE760F1}"/>
          </ac:spMkLst>
        </pc:spChg>
      </pc:sldChg>
      <pc:sldChg chg="modSp mod">
        <pc:chgData name="Mullen" userId="b3c79ad9-cb24-4802-8ef0-c2a3dfbe8824" providerId="ADAL" clId="{D19A802F-A9D2-49AD-8097-6845B62BBF8B}" dt="2022-01-25T19:13:51.692" v="46" actId="114"/>
        <pc:sldMkLst>
          <pc:docMk/>
          <pc:sldMk cId="3766364919" sldId="284"/>
        </pc:sldMkLst>
        <pc:spChg chg="mod">
          <ac:chgData name="Mullen" userId="b3c79ad9-cb24-4802-8ef0-c2a3dfbe8824" providerId="ADAL" clId="{D19A802F-A9D2-49AD-8097-6845B62BBF8B}" dt="2022-01-25T19:13:51.692" v="46" actId="114"/>
          <ac:spMkLst>
            <pc:docMk/>
            <pc:sldMk cId="3766364919" sldId="284"/>
            <ac:spMk id="4" creationId="{00000000-0000-0000-0000-000000000000}"/>
          </ac:spMkLst>
        </pc:spChg>
      </pc:sldChg>
      <pc:sldChg chg="modSp mod">
        <pc:chgData name="Mullen" userId="b3c79ad9-cb24-4802-8ef0-c2a3dfbe8824" providerId="ADAL" clId="{D19A802F-A9D2-49AD-8097-6845B62BBF8B}" dt="2022-05-09T18:17:37.853" v="64" actId="20577"/>
        <pc:sldMkLst>
          <pc:docMk/>
          <pc:sldMk cId="3726726447" sldId="301"/>
        </pc:sldMkLst>
        <pc:spChg chg="mod">
          <ac:chgData name="Mullen" userId="b3c79ad9-cb24-4802-8ef0-c2a3dfbe8824" providerId="ADAL" clId="{D19A802F-A9D2-49AD-8097-6845B62BBF8B}" dt="2022-05-09T18:17:37.853" v="64" actId="20577"/>
          <ac:spMkLst>
            <pc:docMk/>
            <pc:sldMk cId="3726726447" sldId="301"/>
            <ac:spMk id="3" creationId="{00000000-0000-0000-0000-000000000000}"/>
          </ac:spMkLst>
        </pc:spChg>
      </pc:sldChg>
      <pc:sldChg chg="modSp new mod">
        <pc:chgData name="Mullen" userId="b3c79ad9-cb24-4802-8ef0-c2a3dfbe8824" providerId="ADAL" clId="{D19A802F-A9D2-49AD-8097-6845B62BBF8B}" dt="2022-05-09T18:29:23.052" v="264" actId="5793"/>
        <pc:sldMkLst>
          <pc:docMk/>
          <pc:sldMk cId="3913545588" sldId="367"/>
        </pc:sldMkLst>
        <pc:spChg chg="mod">
          <ac:chgData name="Mullen" userId="b3c79ad9-cb24-4802-8ef0-c2a3dfbe8824" providerId="ADAL" clId="{D19A802F-A9D2-49AD-8097-6845B62BBF8B}" dt="2022-05-09T18:23:13.737" v="83" actId="20577"/>
          <ac:spMkLst>
            <pc:docMk/>
            <pc:sldMk cId="3913545588" sldId="367"/>
            <ac:spMk id="2" creationId="{88ADBBCA-B3DC-A10F-0E24-37BB36FD4354}"/>
          </ac:spMkLst>
        </pc:spChg>
        <pc:spChg chg="mod">
          <ac:chgData name="Mullen" userId="b3c79ad9-cb24-4802-8ef0-c2a3dfbe8824" providerId="ADAL" clId="{D19A802F-A9D2-49AD-8097-6845B62BBF8B}" dt="2022-05-09T18:29:23.052" v="264" actId="5793"/>
          <ac:spMkLst>
            <pc:docMk/>
            <pc:sldMk cId="3913545588" sldId="367"/>
            <ac:spMk id="3" creationId="{59B85C5E-C85B-4107-32A1-1E25B909633A}"/>
          </ac:spMkLst>
        </pc:spChg>
      </pc:sldChg>
      <pc:sldChg chg="modSp new mod">
        <pc:chgData name="Mullen" userId="b3c79ad9-cb24-4802-8ef0-c2a3dfbe8824" providerId="ADAL" clId="{D19A802F-A9D2-49AD-8097-6845B62BBF8B}" dt="2022-05-09T18:33:04.702" v="353" actId="14"/>
        <pc:sldMkLst>
          <pc:docMk/>
          <pc:sldMk cId="818267670" sldId="368"/>
        </pc:sldMkLst>
        <pc:spChg chg="mod">
          <ac:chgData name="Mullen" userId="b3c79ad9-cb24-4802-8ef0-c2a3dfbe8824" providerId="ADAL" clId="{D19A802F-A9D2-49AD-8097-6845B62BBF8B}" dt="2022-05-09T18:33:04.702" v="353" actId="14"/>
          <ac:spMkLst>
            <pc:docMk/>
            <pc:sldMk cId="818267670" sldId="368"/>
            <ac:spMk id="3" creationId="{6C4D2868-AA99-B1FA-467D-1630F8F4FF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25E8FB-8523-495D-BD9C-46496AA2C4BB}" type="datetimeFigureOut">
              <a:rPr lang="en-US" smtClean="0"/>
              <a:t>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1F2E4A-395A-432C-B94C-DEE63EBC2BCE}" type="slidenum">
              <a:rPr lang="en-US" smtClean="0"/>
              <a:t>‹#›</a:t>
            </a:fld>
            <a:endParaRPr lang="en-US"/>
          </a:p>
        </p:txBody>
      </p:sp>
    </p:spTree>
    <p:extLst>
      <p:ext uri="{BB962C8B-B14F-4D97-AF65-F5344CB8AC3E}">
        <p14:creationId xmlns:p14="http://schemas.microsoft.com/office/powerpoint/2010/main" val="196591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tx2"/>
                </a:solidFill>
                <a:effectLst>
                  <a:outerShdw blurRad="38100" dist="38100" dir="2700000" algn="tl">
                    <a:srgbClr val="000000"/>
                  </a:outerShdw>
                </a:effectLst>
              </a:rPr>
              <a:t>Hildebrandt </a:t>
            </a:r>
            <a:r>
              <a:rPr lang="en-US" err="1">
                <a:solidFill>
                  <a:schemeClr val="tx2"/>
                </a:solidFill>
                <a:effectLst>
                  <a:outerShdw blurRad="38100" dist="38100" dir="2700000" algn="tl">
                    <a:srgbClr val="000000"/>
                  </a:outerShdw>
                </a:effectLst>
              </a:rPr>
              <a:t>Gh</a:t>
            </a:r>
            <a:r>
              <a:rPr lang="en-US">
                <a:solidFill>
                  <a:schemeClr val="tx2"/>
                </a:solidFill>
                <a:effectLst>
                  <a:outerShdw blurRad="38100" dist="38100" dir="2700000" algn="tl">
                    <a:srgbClr val="000000"/>
                  </a:outerShdw>
                </a:effectLst>
              </a:rPr>
              <a:t>, Sparks BS, </a:t>
            </a:r>
            <a:endParaRPr lang="en-US"/>
          </a:p>
        </p:txBody>
      </p:sp>
      <p:sp>
        <p:nvSpPr>
          <p:cNvPr id="4" name="Slide Number Placeholder 3"/>
          <p:cNvSpPr>
            <a:spLocks noGrp="1"/>
          </p:cNvSpPr>
          <p:nvPr>
            <p:ph type="sldNum" sz="quarter" idx="10"/>
          </p:nvPr>
        </p:nvSpPr>
        <p:spPr/>
        <p:txBody>
          <a:bodyPr/>
          <a:lstStyle/>
          <a:p>
            <a:fld id="{8401F235-1141-420A-8788-C24F5DD9A2DD}" type="slidenum">
              <a:rPr lang="en-US" smtClean="0"/>
              <a:t>28</a:t>
            </a:fld>
            <a:endParaRPr lang="en-US"/>
          </a:p>
        </p:txBody>
      </p:sp>
    </p:spTree>
    <p:extLst>
      <p:ext uri="{BB962C8B-B14F-4D97-AF65-F5344CB8AC3E}">
        <p14:creationId xmlns:p14="http://schemas.microsoft.com/office/powerpoint/2010/main" val="1083583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202EC82C-2D98-414D-9AFE-539D0FC7A9C9}" type="datetimeFigureOut">
              <a:rPr lang="en-US" smtClean="0"/>
              <a:t>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1669312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2EC82C-2D98-414D-9AFE-539D0FC7A9C9}"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2418311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02EC82C-2D98-414D-9AFE-539D0FC7A9C9}"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351606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309970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2EC82C-2D98-414D-9AFE-539D0FC7A9C9}" type="datetimeFigureOut">
              <a:rPr lang="en-US" smtClean="0"/>
              <a:t>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125149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2EC82C-2D98-414D-9AFE-539D0FC7A9C9}" type="datetimeFigureOut">
              <a:rPr lang="en-US" smtClean="0"/>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1437963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2EC82C-2D98-414D-9AFE-539D0FC7A9C9}" type="datetimeFigureOut">
              <a:rPr lang="en-US" smtClean="0"/>
              <a:t>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2786490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344770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199998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3386405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663658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692868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2EC82C-2D98-414D-9AFE-539D0FC7A9C9}"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177438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2EC82C-2D98-414D-9AFE-539D0FC7A9C9}" type="datetimeFigureOut">
              <a:rPr lang="en-US" smtClean="0"/>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453568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2EC82C-2D98-414D-9AFE-539D0FC7A9C9}" type="datetimeFigureOut">
              <a:rPr lang="en-US" smtClean="0"/>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4016817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2EC82C-2D98-414D-9AFE-539D0FC7A9C9}"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3520711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2EC82C-2D98-414D-9AFE-539D0FC7A9C9}"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6D895-0C9A-44BA-9DB7-F75A811B3839}" type="slidenum">
              <a:rPr lang="en-US" smtClean="0"/>
              <a:t>‹#›</a:t>
            </a:fld>
            <a:endParaRPr lang="en-US"/>
          </a:p>
        </p:txBody>
      </p:sp>
    </p:spTree>
    <p:extLst>
      <p:ext uri="{BB962C8B-B14F-4D97-AF65-F5344CB8AC3E}">
        <p14:creationId xmlns:p14="http://schemas.microsoft.com/office/powerpoint/2010/main" val="4878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202EC82C-2D98-414D-9AFE-539D0FC7A9C9}" type="datetimeFigureOut">
              <a:rPr lang="en-US" smtClean="0"/>
              <a:t>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946D895-0C9A-44BA-9DB7-F75A811B3839}" type="slidenum">
              <a:rPr lang="en-US" smtClean="0"/>
              <a:t>‹#›</a:t>
            </a:fld>
            <a:endParaRPr lang="en-US"/>
          </a:p>
        </p:txBody>
      </p:sp>
    </p:spTree>
    <p:extLst>
      <p:ext uri="{BB962C8B-B14F-4D97-AF65-F5344CB8AC3E}">
        <p14:creationId xmlns:p14="http://schemas.microsoft.com/office/powerpoint/2010/main" val="2942273227"/>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cbi.nlm.nih.gov/pmc/articles/PMC229260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66B6-C699-4258-99AB-6A1EEE77A46F}"/>
              </a:ext>
            </a:extLst>
          </p:cNvPr>
          <p:cNvSpPr>
            <a:spLocks noGrp="1"/>
          </p:cNvSpPr>
          <p:nvPr>
            <p:ph type="ctrTitle"/>
          </p:nvPr>
        </p:nvSpPr>
        <p:spPr>
          <a:xfrm>
            <a:off x="2677695" y="2608255"/>
            <a:ext cx="9144000" cy="1641490"/>
          </a:xfrm>
        </p:spPr>
        <p:txBody>
          <a:bodyPr/>
          <a:lstStyle/>
          <a:p>
            <a:r>
              <a:rPr lang="en-US"/>
              <a:t>CAMBRA</a:t>
            </a:r>
          </a:p>
        </p:txBody>
      </p:sp>
      <p:sp>
        <p:nvSpPr>
          <p:cNvPr id="3" name="Subtitle 2">
            <a:extLst>
              <a:ext uri="{FF2B5EF4-FFF2-40B4-BE49-F238E27FC236}">
                <a16:creationId xmlns:a16="http://schemas.microsoft.com/office/drawing/2014/main" id="{0D81ED28-565A-4B5C-BCB9-BD2BF9C88999}"/>
              </a:ext>
            </a:extLst>
          </p:cNvPr>
          <p:cNvSpPr>
            <a:spLocks noGrp="1"/>
          </p:cNvSpPr>
          <p:nvPr>
            <p:ph type="subTitle" idx="1"/>
          </p:nvPr>
        </p:nvSpPr>
        <p:spPr/>
        <p:txBody>
          <a:bodyPr/>
          <a:lstStyle/>
          <a:p>
            <a:r>
              <a:rPr lang="en-US"/>
              <a:t>Interventions / Treatments</a:t>
            </a:r>
          </a:p>
        </p:txBody>
      </p:sp>
    </p:spTree>
    <p:extLst>
      <p:ext uri="{BB962C8B-B14F-4D97-AF65-F5344CB8AC3E}">
        <p14:creationId xmlns:p14="http://schemas.microsoft.com/office/powerpoint/2010/main" val="1327142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BF37-6A3F-4378-ABC7-520C5DA1161F}"/>
              </a:ext>
            </a:extLst>
          </p:cNvPr>
          <p:cNvSpPr>
            <a:spLocks noGrp="1"/>
          </p:cNvSpPr>
          <p:nvPr>
            <p:ph type="title"/>
          </p:nvPr>
        </p:nvSpPr>
        <p:spPr/>
        <p:txBody>
          <a:bodyPr/>
          <a:lstStyle/>
          <a:p>
            <a:r>
              <a:rPr lang="en-US"/>
              <a:t>CAMBRA Interventions</a:t>
            </a:r>
          </a:p>
        </p:txBody>
      </p:sp>
      <p:sp>
        <p:nvSpPr>
          <p:cNvPr id="3" name="Content Placeholder 2">
            <a:extLst>
              <a:ext uri="{FF2B5EF4-FFF2-40B4-BE49-F238E27FC236}">
                <a16:creationId xmlns:a16="http://schemas.microsoft.com/office/drawing/2014/main" id="{396A3B56-86AA-4F55-9D4D-39472C7F11A9}"/>
              </a:ext>
            </a:extLst>
          </p:cNvPr>
          <p:cNvSpPr>
            <a:spLocks noGrp="1"/>
          </p:cNvSpPr>
          <p:nvPr>
            <p:ph idx="1"/>
          </p:nvPr>
        </p:nvSpPr>
        <p:spPr/>
        <p:txBody>
          <a:bodyPr/>
          <a:lstStyle/>
          <a:p>
            <a:r>
              <a:rPr lang="en-US"/>
              <a:t>Most of these are used to modify the biofilm</a:t>
            </a:r>
          </a:p>
          <a:p>
            <a:pPr lvl="1"/>
            <a:r>
              <a:rPr lang="en-US"/>
              <a:t>Make it less hospitable to acidophilic bacteria</a:t>
            </a:r>
          </a:p>
          <a:p>
            <a:r>
              <a:rPr lang="en-US"/>
              <a:t>Some also kill bacteria</a:t>
            </a:r>
          </a:p>
          <a:p>
            <a:endParaRPr lang="en-US"/>
          </a:p>
        </p:txBody>
      </p:sp>
    </p:spTree>
    <p:extLst>
      <p:ext uri="{BB962C8B-B14F-4D97-AF65-F5344CB8AC3E}">
        <p14:creationId xmlns:p14="http://schemas.microsoft.com/office/powerpoint/2010/main" val="1420220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B066-E82C-46A0-ACB0-672515E24375}"/>
              </a:ext>
            </a:extLst>
          </p:cNvPr>
          <p:cNvSpPr>
            <a:spLocks noGrp="1"/>
          </p:cNvSpPr>
          <p:nvPr>
            <p:ph type="title"/>
          </p:nvPr>
        </p:nvSpPr>
        <p:spPr/>
        <p:txBody>
          <a:bodyPr/>
          <a:lstStyle/>
          <a:p>
            <a:r>
              <a:rPr lang="en-US"/>
              <a:t>Regular Toothpaste</a:t>
            </a:r>
          </a:p>
        </p:txBody>
      </p:sp>
      <p:sp>
        <p:nvSpPr>
          <p:cNvPr id="3" name="Content Placeholder 2">
            <a:extLst>
              <a:ext uri="{FF2B5EF4-FFF2-40B4-BE49-F238E27FC236}">
                <a16:creationId xmlns:a16="http://schemas.microsoft.com/office/drawing/2014/main" id="{1E35D126-387E-433B-92E1-74B36A20B205}"/>
              </a:ext>
            </a:extLst>
          </p:cNvPr>
          <p:cNvSpPr>
            <a:spLocks noGrp="1"/>
          </p:cNvSpPr>
          <p:nvPr>
            <p:ph idx="1"/>
          </p:nvPr>
        </p:nvSpPr>
        <p:spPr/>
        <p:txBody>
          <a:bodyPr/>
          <a:lstStyle/>
          <a:p>
            <a:r>
              <a:rPr lang="en-US"/>
              <a:t>For LOW and some MODERATE risk patients</a:t>
            </a:r>
          </a:p>
          <a:p>
            <a:r>
              <a:rPr lang="en-US" sz="2400"/>
              <a:t>Toothpaste is milling paste – most will damage porcelain glaze and composite polish</a:t>
            </a:r>
          </a:p>
          <a:p>
            <a:pPr lvl="1"/>
            <a:r>
              <a:rPr lang="en-US" sz="2000"/>
              <a:t>Anything with an RDA &gt; 80  is too abrasive</a:t>
            </a:r>
          </a:p>
          <a:p>
            <a:r>
              <a:rPr lang="en-US" sz="2400"/>
              <a:t>Arm &amp; Hammer Complete Care has an RDA of 35 – safe for all restorations</a:t>
            </a:r>
          </a:p>
          <a:p>
            <a:r>
              <a:rPr lang="en-US" sz="2400"/>
              <a:t>Arm &amp; Hammer also raises the pH of oral environment</a:t>
            </a:r>
          </a:p>
          <a:p>
            <a:pPr lvl="1"/>
            <a:r>
              <a:rPr lang="en-US" sz="2200"/>
              <a:t>Discourages acidophilic (cariogenic) bacteria</a:t>
            </a:r>
          </a:p>
          <a:p>
            <a:endParaRPr lang="en-US"/>
          </a:p>
        </p:txBody>
      </p:sp>
      <p:pic>
        <p:nvPicPr>
          <p:cNvPr id="7" name="Picture 6" descr="Graphical user interface&#10;&#10;Description automatically generated">
            <a:extLst>
              <a:ext uri="{FF2B5EF4-FFF2-40B4-BE49-F238E27FC236}">
                <a16:creationId xmlns:a16="http://schemas.microsoft.com/office/drawing/2014/main" id="{03859429-5350-42DC-A56A-8EE869BF9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700" y="4841875"/>
            <a:ext cx="6337300" cy="1651000"/>
          </a:xfrm>
          <a:prstGeom prst="rect">
            <a:avLst/>
          </a:prstGeom>
        </p:spPr>
      </p:pic>
      <p:sp>
        <p:nvSpPr>
          <p:cNvPr id="5" name="TextBox 4">
            <a:extLst>
              <a:ext uri="{FF2B5EF4-FFF2-40B4-BE49-F238E27FC236}">
                <a16:creationId xmlns:a16="http://schemas.microsoft.com/office/drawing/2014/main" id="{B0D40913-B9AB-4F32-B0C0-2B0F61C4C7C6}"/>
              </a:ext>
            </a:extLst>
          </p:cNvPr>
          <p:cNvSpPr txBox="1"/>
          <p:nvPr/>
        </p:nvSpPr>
        <p:spPr>
          <a:xfrm>
            <a:off x="10130385" y="6611779"/>
            <a:ext cx="1883229" cy="246221"/>
          </a:xfrm>
          <a:prstGeom prst="rect">
            <a:avLst/>
          </a:prstGeom>
          <a:noFill/>
        </p:spPr>
        <p:txBody>
          <a:bodyPr wrap="square" rtlCol="0">
            <a:spAutoFit/>
          </a:bodyPr>
          <a:lstStyle/>
          <a:p>
            <a:r>
              <a:rPr lang="en-US" sz="1000"/>
              <a:t>Photo from web</a:t>
            </a:r>
          </a:p>
        </p:txBody>
      </p:sp>
    </p:spTree>
    <p:extLst>
      <p:ext uri="{BB962C8B-B14F-4D97-AF65-F5344CB8AC3E}">
        <p14:creationId xmlns:p14="http://schemas.microsoft.com/office/powerpoint/2010/main" val="2109122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ECAED-0849-4AB6-90A5-1861925B6E02}"/>
              </a:ext>
            </a:extLst>
          </p:cNvPr>
          <p:cNvSpPr>
            <a:spLocks noGrp="1"/>
          </p:cNvSpPr>
          <p:nvPr>
            <p:ph type="title"/>
          </p:nvPr>
        </p:nvSpPr>
        <p:spPr/>
        <p:txBody>
          <a:bodyPr/>
          <a:lstStyle/>
          <a:p>
            <a:r>
              <a:rPr lang="en-US"/>
              <a:t>High Fluoride Toothpaste</a:t>
            </a:r>
          </a:p>
        </p:txBody>
      </p:sp>
      <p:pic>
        <p:nvPicPr>
          <p:cNvPr id="11" name="Content Placeholder 10" descr="A package of food&#10;&#10;Description automatically generated with low confidence">
            <a:extLst>
              <a:ext uri="{FF2B5EF4-FFF2-40B4-BE49-F238E27FC236}">
                <a16:creationId xmlns:a16="http://schemas.microsoft.com/office/drawing/2014/main" id="{CC4D417C-8E49-4D10-9EA6-7C0580FC98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770483" y="4414835"/>
            <a:ext cx="3122625" cy="1763705"/>
          </a:xfrm>
        </p:spPr>
      </p:pic>
      <p:pic>
        <p:nvPicPr>
          <p:cNvPr id="5" name="Picture 4" descr="Graphical user interface, text&#10;&#10;Description automatically generated">
            <a:extLst>
              <a:ext uri="{FF2B5EF4-FFF2-40B4-BE49-F238E27FC236}">
                <a16:creationId xmlns:a16="http://schemas.microsoft.com/office/drawing/2014/main" id="{61891B1A-55FC-4F51-B073-B2C112AC9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607" y="1690688"/>
            <a:ext cx="6549398" cy="4354652"/>
          </a:xfrm>
          <a:prstGeom prst="rect">
            <a:avLst/>
          </a:prstGeom>
        </p:spPr>
      </p:pic>
      <p:pic>
        <p:nvPicPr>
          <p:cNvPr id="7" name="Picture 6" descr="A picture containing toothbrush&#10;&#10;Description automatically generated">
            <a:extLst>
              <a:ext uri="{FF2B5EF4-FFF2-40B4-BE49-F238E27FC236}">
                <a16:creationId xmlns:a16="http://schemas.microsoft.com/office/drawing/2014/main" id="{B092149A-618A-4B66-A1C9-2FB4CB0808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000" y="1825625"/>
            <a:ext cx="2683898" cy="1763704"/>
          </a:xfrm>
          <a:prstGeom prst="rect">
            <a:avLst/>
          </a:prstGeom>
        </p:spPr>
      </p:pic>
      <p:sp>
        <p:nvSpPr>
          <p:cNvPr id="8" name="TextBox 7">
            <a:extLst>
              <a:ext uri="{FF2B5EF4-FFF2-40B4-BE49-F238E27FC236}">
                <a16:creationId xmlns:a16="http://schemas.microsoft.com/office/drawing/2014/main" id="{39AE064C-6F79-4D83-A2B7-E47A6DB914C8}"/>
              </a:ext>
            </a:extLst>
          </p:cNvPr>
          <p:cNvSpPr txBox="1"/>
          <p:nvPr/>
        </p:nvSpPr>
        <p:spPr>
          <a:xfrm>
            <a:off x="1120000" y="3770461"/>
            <a:ext cx="2455299" cy="461665"/>
          </a:xfrm>
          <a:prstGeom prst="rect">
            <a:avLst/>
          </a:prstGeom>
          <a:noFill/>
        </p:spPr>
        <p:txBody>
          <a:bodyPr wrap="square" rtlCol="0">
            <a:spAutoFit/>
          </a:bodyPr>
          <a:lstStyle/>
          <a:p>
            <a:r>
              <a:rPr lang="en-US" sz="2400"/>
              <a:t>Pea-size amount</a:t>
            </a:r>
          </a:p>
        </p:txBody>
      </p:sp>
      <p:sp>
        <p:nvSpPr>
          <p:cNvPr id="9" name="TextBox 8">
            <a:extLst>
              <a:ext uri="{FF2B5EF4-FFF2-40B4-BE49-F238E27FC236}">
                <a16:creationId xmlns:a16="http://schemas.microsoft.com/office/drawing/2014/main" id="{D8A76C03-42D5-49B3-BB06-C0B5D5E7D54E}"/>
              </a:ext>
            </a:extLst>
          </p:cNvPr>
          <p:cNvSpPr txBox="1"/>
          <p:nvPr/>
        </p:nvSpPr>
        <p:spPr>
          <a:xfrm>
            <a:off x="6585995" y="4872942"/>
            <a:ext cx="3414532" cy="738664"/>
          </a:xfrm>
          <a:prstGeom prst="rect">
            <a:avLst/>
          </a:prstGeom>
          <a:noFill/>
        </p:spPr>
        <p:txBody>
          <a:bodyPr wrap="square" rtlCol="0">
            <a:spAutoFit/>
          </a:bodyPr>
          <a:lstStyle/>
          <a:p>
            <a:r>
              <a:rPr lang="en-US" sz="2400"/>
              <a:t>Colgate Prevident 5000</a:t>
            </a:r>
          </a:p>
          <a:p>
            <a:endParaRPr lang="en-US"/>
          </a:p>
        </p:txBody>
      </p:sp>
      <p:sp>
        <p:nvSpPr>
          <p:cNvPr id="12" name="TextBox 11">
            <a:extLst>
              <a:ext uri="{FF2B5EF4-FFF2-40B4-BE49-F238E27FC236}">
                <a16:creationId xmlns:a16="http://schemas.microsoft.com/office/drawing/2014/main" id="{0DBB3453-62AB-4AEF-AF89-7A962AE760F1}"/>
              </a:ext>
            </a:extLst>
          </p:cNvPr>
          <p:cNvSpPr txBox="1"/>
          <p:nvPr/>
        </p:nvSpPr>
        <p:spPr>
          <a:xfrm>
            <a:off x="304474" y="4413258"/>
            <a:ext cx="3020989" cy="2308324"/>
          </a:xfrm>
          <a:prstGeom prst="rect">
            <a:avLst/>
          </a:prstGeom>
          <a:noFill/>
        </p:spPr>
        <p:txBody>
          <a:bodyPr wrap="square" rtlCol="0">
            <a:spAutoFit/>
          </a:bodyPr>
          <a:lstStyle/>
          <a:p>
            <a:r>
              <a:rPr lang="en-US" sz="2400" dirty="0"/>
              <a:t>Use baking soda with toothpaste (except </a:t>
            </a:r>
            <a:r>
              <a:rPr lang="en-US" sz="2400" dirty="0" err="1"/>
              <a:t>Arm&amp;Hammer</a:t>
            </a:r>
            <a:r>
              <a:rPr lang="en-US" sz="2400" dirty="0"/>
              <a:t>). Sprinkle it on top of any toothpaste to raise </a:t>
            </a:r>
            <a:r>
              <a:rPr lang="en-US" sz="2400" dirty="0" err="1"/>
              <a:t>pH.</a:t>
            </a:r>
            <a:endParaRPr lang="en-US" sz="2400" dirty="0"/>
          </a:p>
        </p:txBody>
      </p:sp>
      <p:sp>
        <p:nvSpPr>
          <p:cNvPr id="10" name="TextBox 9">
            <a:extLst>
              <a:ext uri="{FF2B5EF4-FFF2-40B4-BE49-F238E27FC236}">
                <a16:creationId xmlns:a16="http://schemas.microsoft.com/office/drawing/2014/main" id="{5B587283-3BB9-499A-821D-FBAD652AE9E2}"/>
              </a:ext>
            </a:extLst>
          </p:cNvPr>
          <p:cNvSpPr txBox="1"/>
          <p:nvPr/>
        </p:nvSpPr>
        <p:spPr>
          <a:xfrm>
            <a:off x="9557656" y="6492875"/>
            <a:ext cx="1883229" cy="246221"/>
          </a:xfrm>
          <a:prstGeom prst="rect">
            <a:avLst/>
          </a:prstGeom>
          <a:noFill/>
        </p:spPr>
        <p:txBody>
          <a:bodyPr wrap="square" rtlCol="0">
            <a:spAutoFit/>
          </a:bodyPr>
          <a:lstStyle/>
          <a:p>
            <a:r>
              <a:rPr lang="en-US" sz="1000"/>
              <a:t>Photo from web</a:t>
            </a:r>
          </a:p>
        </p:txBody>
      </p:sp>
    </p:spTree>
    <p:extLst>
      <p:ext uri="{BB962C8B-B14F-4D97-AF65-F5344CB8AC3E}">
        <p14:creationId xmlns:p14="http://schemas.microsoft.com/office/powerpoint/2010/main" val="479341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E522A-3855-4C7C-888B-E1759B20B153}"/>
              </a:ext>
            </a:extLst>
          </p:cNvPr>
          <p:cNvSpPr>
            <a:spLocks noGrp="1"/>
          </p:cNvSpPr>
          <p:nvPr>
            <p:ph type="title"/>
          </p:nvPr>
        </p:nvSpPr>
        <p:spPr>
          <a:xfrm>
            <a:off x="838200" y="365125"/>
            <a:ext cx="10515600" cy="1325563"/>
          </a:xfrm>
        </p:spPr>
        <p:txBody>
          <a:bodyPr>
            <a:normAutofit/>
          </a:bodyPr>
          <a:lstStyle/>
          <a:p>
            <a:r>
              <a:rPr lang="en-US"/>
              <a:t>Toothpaste is Milling Paste</a:t>
            </a:r>
          </a:p>
        </p:txBody>
      </p:sp>
      <p:sp>
        <p:nvSpPr>
          <p:cNvPr id="12" name="Rounded Rectangle 17">
            <a:extLst>
              <a:ext uri="{FF2B5EF4-FFF2-40B4-BE49-F238E27FC236}">
                <a16:creationId xmlns:a16="http://schemas.microsoft.com/office/drawing/2014/main" id="{15045B1D-AED4-407C-BC82-BF20E4E4F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948070"/>
            <a:ext cx="4773166" cy="3896140"/>
          </a:xfrm>
          <a:prstGeom prst="roundRect">
            <a:avLst>
              <a:gd name="adj" fmla="val 2028"/>
            </a:avLst>
          </a:prstGeom>
          <a:solidFill>
            <a:schemeClr val="tx1"/>
          </a:solidFill>
          <a:ln>
            <a:solidFill>
              <a:schemeClr val="accent1">
                <a:shade val="50000"/>
              </a:schemeClr>
            </a:solidFill>
          </a:ln>
          <a:effectLst>
            <a:innerShdw blurRad="127000" dist="12700">
              <a:prstClr val="black"/>
            </a:innerShdw>
            <a:reflection blurRad="6350" stA="52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erson brushing the teeth&#10;&#10;Description automatically generated with medium confidence">
            <a:extLst>
              <a:ext uri="{FF2B5EF4-FFF2-40B4-BE49-F238E27FC236}">
                <a16:creationId xmlns:a16="http://schemas.microsoft.com/office/drawing/2014/main" id="{8C651372-2B96-45FD-922B-B842440A02CD}"/>
              </a:ext>
            </a:extLst>
          </p:cNvPr>
          <p:cNvPicPr>
            <a:picLocks noChangeAspect="1"/>
          </p:cNvPicPr>
          <p:nvPr/>
        </p:nvPicPr>
        <p:blipFill rotWithShape="1">
          <a:blip r:embed="rId3">
            <a:extLst>
              <a:ext uri="{28A0092B-C50C-407E-A947-70E740481C1C}">
                <a14:useLocalDpi xmlns:a14="http://schemas.microsoft.com/office/drawing/2010/main" val="0"/>
              </a:ext>
            </a:extLst>
          </a:blip>
          <a:srcRect l="17404" r="676" b="-2"/>
          <a:stretch/>
        </p:blipFill>
        <p:spPr>
          <a:xfrm>
            <a:off x="719607" y="1948070"/>
            <a:ext cx="5010353" cy="3896140"/>
          </a:xfrm>
          <a:prstGeom prst="rect">
            <a:avLst/>
          </a:prstGeom>
          <a:solidFill>
            <a:schemeClr val="tx1">
              <a:lumMod val="75000"/>
            </a:schemeClr>
          </a:solidFill>
        </p:spPr>
      </p:pic>
      <p:pic>
        <p:nvPicPr>
          <p:cNvPr id="17" name="Picture 16" descr="A picture containing indoor, blue, toothbrush, plastic&#10;&#10;Description automatically generated">
            <a:extLst>
              <a:ext uri="{FF2B5EF4-FFF2-40B4-BE49-F238E27FC236}">
                <a16:creationId xmlns:a16="http://schemas.microsoft.com/office/drawing/2014/main" id="{B7C837BC-9093-4FEC-80F2-404B1DF757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200" y="1948070"/>
            <a:ext cx="4858795" cy="3906569"/>
          </a:xfrm>
          <a:prstGeom prst="rect">
            <a:avLst/>
          </a:prstGeom>
        </p:spPr>
      </p:pic>
      <p:sp>
        <p:nvSpPr>
          <p:cNvPr id="19" name="TextBox 18">
            <a:extLst>
              <a:ext uri="{FF2B5EF4-FFF2-40B4-BE49-F238E27FC236}">
                <a16:creationId xmlns:a16="http://schemas.microsoft.com/office/drawing/2014/main" id="{78A35549-B7C0-4409-B69E-D3DAE2E99D7D}"/>
              </a:ext>
            </a:extLst>
          </p:cNvPr>
          <p:cNvSpPr txBox="1"/>
          <p:nvPr/>
        </p:nvSpPr>
        <p:spPr>
          <a:xfrm>
            <a:off x="1935866" y="5916926"/>
            <a:ext cx="6094070" cy="369332"/>
          </a:xfrm>
          <a:prstGeom prst="rect">
            <a:avLst/>
          </a:prstGeom>
          <a:noFill/>
        </p:spPr>
        <p:txBody>
          <a:bodyPr wrap="square">
            <a:spAutoFit/>
          </a:bodyPr>
          <a:lstStyle/>
          <a:p>
            <a:r>
              <a:rPr lang="en-US"/>
              <a:t>too much toothpaste</a:t>
            </a:r>
          </a:p>
        </p:txBody>
      </p:sp>
      <p:sp>
        <p:nvSpPr>
          <p:cNvPr id="20" name="TextBox 19">
            <a:extLst>
              <a:ext uri="{FF2B5EF4-FFF2-40B4-BE49-F238E27FC236}">
                <a16:creationId xmlns:a16="http://schemas.microsoft.com/office/drawing/2014/main" id="{19EE646F-9980-4D67-845F-4EE153221925}"/>
              </a:ext>
            </a:extLst>
          </p:cNvPr>
          <p:cNvSpPr txBox="1"/>
          <p:nvPr/>
        </p:nvSpPr>
        <p:spPr>
          <a:xfrm>
            <a:off x="7720314" y="6101592"/>
            <a:ext cx="2314936" cy="369332"/>
          </a:xfrm>
          <a:prstGeom prst="rect">
            <a:avLst/>
          </a:prstGeom>
          <a:noFill/>
        </p:spPr>
        <p:txBody>
          <a:bodyPr wrap="square" rtlCol="0">
            <a:spAutoFit/>
          </a:bodyPr>
          <a:lstStyle/>
          <a:p>
            <a:r>
              <a:rPr lang="en-US"/>
              <a:t>Pea-size amount</a:t>
            </a:r>
          </a:p>
        </p:txBody>
      </p:sp>
      <p:sp>
        <p:nvSpPr>
          <p:cNvPr id="8" name="TextBox 7">
            <a:extLst>
              <a:ext uri="{FF2B5EF4-FFF2-40B4-BE49-F238E27FC236}">
                <a16:creationId xmlns:a16="http://schemas.microsoft.com/office/drawing/2014/main" id="{BD322D40-9A66-498F-A5A6-3AD2F3E9009A}"/>
              </a:ext>
            </a:extLst>
          </p:cNvPr>
          <p:cNvSpPr txBox="1"/>
          <p:nvPr/>
        </p:nvSpPr>
        <p:spPr>
          <a:xfrm>
            <a:off x="9590314" y="6594766"/>
            <a:ext cx="1883229" cy="246221"/>
          </a:xfrm>
          <a:prstGeom prst="rect">
            <a:avLst/>
          </a:prstGeom>
          <a:noFill/>
        </p:spPr>
        <p:txBody>
          <a:bodyPr wrap="square" rtlCol="0">
            <a:spAutoFit/>
          </a:bodyPr>
          <a:lstStyle/>
          <a:p>
            <a:r>
              <a:rPr lang="en-US" sz="1000"/>
              <a:t>Photo from web</a:t>
            </a:r>
          </a:p>
        </p:txBody>
      </p:sp>
    </p:spTree>
    <p:extLst>
      <p:ext uri="{BB962C8B-B14F-4D97-AF65-F5344CB8AC3E}">
        <p14:creationId xmlns:p14="http://schemas.microsoft.com/office/powerpoint/2010/main" val="109046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15C3-0CFC-400A-8979-752BB23BAF5A}"/>
              </a:ext>
            </a:extLst>
          </p:cNvPr>
          <p:cNvSpPr>
            <a:spLocks noGrp="1"/>
          </p:cNvSpPr>
          <p:nvPr>
            <p:ph type="title"/>
          </p:nvPr>
        </p:nvSpPr>
        <p:spPr/>
        <p:txBody>
          <a:bodyPr/>
          <a:lstStyle/>
          <a:p>
            <a:r>
              <a:rPr lang="en-US"/>
              <a:t>Silver Diamine Fluoride</a:t>
            </a:r>
          </a:p>
        </p:txBody>
      </p:sp>
      <p:pic>
        <p:nvPicPr>
          <p:cNvPr id="5" name="Content Placeholder 4" descr="A bottle of medicine&#10;&#10;Description automatically generated with low confidence">
            <a:extLst>
              <a:ext uri="{FF2B5EF4-FFF2-40B4-BE49-F238E27FC236}">
                <a16:creationId xmlns:a16="http://schemas.microsoft.com/office/drawing/2014/main" id="{B80C798A-25EA-4F15-BA6C-636E3F9A6D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0616" y="1631848"/>
            <a:ext cx="2335686" cy="4015740"/>
          </a:xfrm>
        </p:spPr>
      </p:pic>
      <p:pic>
        <p:nvPicPr>
          <p:cNvPr id="6" name="Picture 5" descr="A close-up of a person's mouth&#10;&#10;Description automatically generated with low confidence">
            <a:extLst>
              <a:ext uri="{FF2B5EF4-FFF2-40B4-BE49-F238E27FC236}">
                <a16:creationId xmlns:a16="http://schemas.microsoft.com/office/drawing/2014/main" id="{93765C46-5B1B-428F-959B-85AFC1CAC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1060" y="2037261"/>
            <a:ext cx="6286500" cy="4015740"/>
          </a:xfrm>
          <a:prstGeom prst="rect">
            <a:avLst/>
          </a:prstGeom>
        </p:spPr>
      </p:pic>
      <p:sp>
        <p:nvSpPr>
          <p:cNvPr id="3" name="TextBox 2">
            <a:extLst>
              <a:ext uri="{FF2B5EF4-FFF2-40B4-BE49-F238E27FC236}">
                <a16:creationId xmlns:a16="http://schemas.microsoft.com/office/drawing/2014/main" id="{2F4AA737-BA92-48B8-A030-75812F648987}"/>
              </a:ext>
            </a:extLst>
          </p:cNvPr>
          <p:cNvSpPr txBox="1"/>
          <p:nvPr/>
        </p:nvSpPr>
        <p:spPr>
          <a:xfrm>
            <a:off x="8828314" y="6564086"/>
            <a:ext cx="1883229" cy="246221"/>
          </a:xfrm>
          <a:prstGeom prst="rect">
            <a:avLst/>
          </a:prstGeom>
          <a:noFill/>
        </p:spPr>
        <p:txBody>
          <a:bodyPr wrap="square" rtlCol="0">
            <a:spAutoFit/>
          </a:bodyPr>
          <a:lstStyle/>
          <a:p>
            <a:r>
              <a:rPr lang="en-US" sz="1000"/>
              <a:t>Photo from web</a:t>
            </a:r>
          </a:p>
        </p:txBody>
      </p:sp>
    </p:spTree>
    <p:extLst>
      <p:ext uri="{BB962C8B-B14F-4D97-AF65-F5344CB8AC3E}">
        <p14:creationId xmlns:p14="http://schemas.microsoft.com/office/powerpoint/2010/main" val="201183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No Longer “off label”</a:t>
            </a:r>
          </a:p>
        </p:txBody>
      </p:sp>
      <p:pic>
        <p:nvPicPr>
          <p:cNvPr id="4" name="Content Placeholder 3"/>
          <p:cNvPicPr>
            <a:picLocks noGrp="1" noChangeAspect="1"/>
          </p:cNvPicPr>
          <p:nvPr>
            <p:ph idx="1"/>
          </p:nvPr>
        </p:nvPicPr>
        <p:blipFill>
          <a:blip r:embed="rId2"/>
          <a:stretch>
            <a:fillRect/>
          </a:stretch>
        </p:blipFill>
        <p:spPr>
          <a:xfrm>
            <a:off x="1752600" y="6019800"/>
            <a:ext cx="5145084" cy="685800"/>
          </a:xfrm>
          <a:prstGeom prst="rect">
            <a:avLst/>
          </a:prstGeom>
        </p:spPr>
      </p:pic>
      <p:sp>
        <p:nvSpPr>
          <p:cNvPr id="5" name="TextBox 4"/>
          <p:cNvSpPr txBox="1"/>
          <p:nvPr/>
        </p:nvSpPr>
        <p:spPr>
          <a:xfrm>
            <a:off x="2057400" y="1828800"/>
            <a:ext cx="8001000" cy="3046988"/>
          </a:xfrm>
          <a:prstGeom prst="rect">
            <a:avLst/>
          </a:prstGeom>
          <a:noFill/>
        </p:spPr>
        <p:txBody>
          <a:bodyPr wrap="square" rtlCol="0">
            <a:spAutoFit/>
          </a:bodyPr>
          <a:lstStyle/>
          <a:p>
            <a:pPr marL="571500" indent="-571500">
              <a:buFont typeface="Arial" panose="020B0604020202020204" pitchFamily="34" charset="0"/>
              <a:buChar char="•"/>
            </a:pPr>
            <a:r>
              <a:rPr lang="en-US" sz="3200"/>
              <a:t>The FDA granted Advantage Arrest Silver Diamine Fluoride a </a:t>
            </a:r>
            <a:r>
              <a:rPr lang="en-US" sz="3200" i="1"/>
              <a:t>Breakthrough Therapy Designation  </a:t>
            </a:r>
            <a:r>
              <a:rPr lang="en-US" sz="3200"/>
              <a:t>on 30 October, 2016</a:t>
            </a:r>
            <a:br>
              <a:rPr lang="en-US" sz="3200"/>
            </a:br>
            <a:endParaRPr lang="en-US" sz="3200"/>
          </a:p>
          <a:p>
            <a:pPr marL="571500" indent="-571500">
              <a:buFont typeface="Arial" panose="020B0604020202020204" pitchFamily="34" charset="0"/>
              <a:buChar char="•"/>
            </a:pPr>
            <a:r>
              <a:rPr lang="en-US" sz="3200"/>
              <a:t>Use to arrest dental caries is no longer considered “off label use”</a:t>
            </a:r>
          </a:p>
        </p:txBody>
      </p:sp>
      <p:sp>
        <p:nvSpPr>
          <p:cNvPr id="6" name="Rectangle 5"/>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590857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Silver Diamine Fluoride</a:t>
            </a:r>
          </a:p>
        </p:txBody>
      </p:sp>
      <p:sp>
        <p:nvSpPr>
          <p:cNvPr id="3" name="Content Placeholder 2"/>
          <p:cNvSpPr>
            <a:spLocks noGrp="1"/>
          </p:cNvSpPr>
          <p:nvPr>
            <p:ph idx="1"/>
          </p:nvPr>
        </p:nvSpPr>
        <p:spPr/>
        <p:txBody>
          <a:bodyPr>
            <a:normAutofit/>
          </a:bodyPr>
          <a:lstStyle/>
          <a:p>
            <a:r>
              <a:rPr lang="en-US" b="1"/>
              <a:t>38% SFD solution contains</a:t>
            </a:r>
          </a:p>
          <a:p>
            <a:pPr lvl="1"/>
            <a:r>
              <a:rPr lang="en-US" b="1"/>
              <a:t>Silver ions – 253,870 ppm</a:t>
            </a:r>
          </a:p>
          <a:p>
            <a:pPr lvl="1"/>
            <a:r>
              <a:rPr lang="en-US" b="1"/>
              <a:t>Fluoride ions – 44,800 ppm</a:t>
            </a:r>
          </a:p>
          <a:p>
            <a:pPr lvl="1"/>
            <a:endParaRPr lang="en-US" b="1"/>
          </a:p>
          <a:p>
            <a:r>
              <a:rPr lang="en-US" b="1"/>
              <a:t>The high F</a:t>
            </a:r>
            <a:r>
              <a:rPr lang="en-US" b="1" baseline="30000"/>
              <a:t>+</a:t>
            </a:r>
            <a:r>
              <a:rPr lang="en-US" b="1"/>
              <a:t>  concentration can be toxic when swallowed in </a:t>
            </a:r>
            <a:r>
              <a:rPr lang="en-US" b="1" u="sng"/>
              <a:t>large</a:t>
            </a:r>
            <a:r>
              <a:rPr lang="en-US" b="1"/>
              <a:t> amounts</a:t>
            </a:r>
          </a:p>
          <a:p>
            <a:endParaRPr lang="en-US" b="1"/>
          </a:p>
          <a:p>
            <a:r>
              <a:rPr lang="en-US" b="1"/>
              <a:t>Use only one drop per treatment session and </a:t>
            </a:r>
            <a:r>
              <a:rPr lang="en-US" b="1" u="sng"/>
              <a:t>RINSE</a:t>
            </a:r>
          </a:p>
          <a:p>
            <a:pPr marL="36576" indent="0">
              <a:buNone/>
            </a:pPr>
            <a:endParaRPr lang="en-US" u="sng"/>
          </a:p>
        </p:txBody>
      </p:sp>
      <p:sp>
        <p:nvSpPr>
          <p:cNvPr id="4" name="TextBox 3"/>
          <p:cNvSpPr txBox="1"/>
          <p:nvPr/>
        </p:nvSpPr>
        <p:spPr>
          <a:xfrm>
            <a:off x="5257800" y="6308725"/>
            <a:ext cx="2542684" cy="338554"/>
          </a:xfrm>
          <a:prstGeom prst="rect">
            <a:avLst/>
          </a:prstGeom>
          <a:noFill/>
        </p:spPr>
        <p:txBody>
          <a:bodyPr wrap="none" rtlCol="0">
            <a:spAutoFit/>
          </a:bodyPr>
          <a:lstStyle/>
          <a:p>
            <a:r>
              <a:rPr lang="en-US" sz="800"/>
              <a:t>Mei, et al; antibacterial effects of silver diamine fluoride </a:t>
            </a:r>
          </a:p>
          <a:p>
            <a:r>
              <a:rPr lang="en-US" sz="800"/>
              <a:t>on multi-species cariogenic biofilm on caries</a:t>
            </a:r>
          </a:p>
        </p:txBody>
      </p:sp>
      <p:sp>
        <p:nvSpPr>
          <p:cNvPr id="5" name="Rectangle 4"/>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971056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Silver Diamine Fluoride</a:t>
            </a:r>
            <a:endParaRPr lang="en-US">
              <a:solidFill>
                <a:schemeClr val="accent6">
                  <a:lumMod val="75000"/>
                </a:schemeClr>
              </a:solidFill>
            </a:endParaRPr>
          </a:p>
        </p:txBody>
      </p:sp>
      <p:sp>
        <p:nvSpPr>
          <p:cNvPr id="3" name="Content Placeholder 2"/>
          <p:cNvSpPr>
            <a:spLocks noGrp="1"/>
          </p:cNvSpPr>
          <p:nvPr>
            <p:ph idx="1"/>
          </p:nvPr>
        </p:nvSpPr>
        <p:spPr/>
        <p:txBody>
          <a:bodyPr/>
          <a:lstStyle/>
          <a:p>
            <a:r>
              <a:rPr lang="en-US" b="1"/>
              <a:t>Silver ions inactivate glucosyltransferase  enzymes which stops bacterial glucan production</a:t>
            </a:r>
          </a:p>
          <a:p>
            <a:pPr lvl="1"/>
            <a:r>
              <a:rPr lang="en-US" b="1"/>
              <a:t>Prevents bacterial adhesion to tooth</a:t>
            </a:r>
          </a:p>
          <a:p>
            <a:r>
              <a:rPr lang="en-US" b="1"/>
              <a:t>Silver is toxic to bacteria</a:t>
            </a:r>
          </a:p>
          <a:p>
            <a:r>
              <a:rPr lang="en-US" b="1"/>
              <a:t>Fluoride ions bind to enolase and ATPase effectively stopping bacterial carbohydrate metabolism of acidogenic oral bacteria</a:t>
            </a:r>
          </a:p>
          <a:p>
            <a:pPr lvl="1"/>
            <a:r>
              <a:rPr lang="en-US" b="1"/>
              <a:t>Kills bacteria</a:t>
            </a:r>
          </a:p>
          <a:p>
            <a:r>
              <a:rPr lang="en-US" b="1"/>
              <a:t>Fluoride strengthen enamel by forming fluorapatite</a:t>
            </a:r>
          </a:p>
        </p:txBody>
      </p:sp>
      <p:sp>
        <p:nvSpPr>
          <p:cNvPr id="4" name="Rectangle 3"/>
          <p:cNvSpPr/>
          <p:nvPr/>
        </p:nvSpPr>
        <p:spPr>
          <a:xfrm>
            <a:off x="8953649" y="6601651"/>
            <a:ext cx="1577676" cy="246221"/>
          </a:xfrm>
          <a:prstGeom prst="rect">
            <a:avLst/>
          </a:prstGeom>
        </p:spPr>
        <p:txBody>
          <a:bodyPr wrap="none">
            <a:spAutoFit/>
          </a:bodyPr>
          <a:lstStyle/>
          <a:p>
            <a:r>
              <a:rPr lang="en-US" sz="1000"/>
              <a:t>M.O. Coover, DDS, MAGD</a:t>
            </a:r>
          </a:p>
        </p:txBody>
      </p:sp>
    </p:spTree>
    <p:extLst>
      <p:ext uri="{BB962C8B-B14F-4D97-AF65-F5344CB8AC3E}">
        <p14:creationId xmlns:p14="http://schemas.microsoft.com/office/powerpoint/2010/main" val="4022556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Silver Diamine Fluoride</a:t>
            </a:r>
            <a:endParaRPr lang="en-US"/>
          </a:p>
        </p:txBody>
      </p:sp>
      <p:sp>
        <p:nvSpPr>
          <p:cNvPr id="3" name="Content Placeholder 2"/>
          <p:cNvSpPr>
            <a:spLocks noGrp="1"/>
          </p:cNvSpPr>
          <p:nvPr>
            <p:ph idx="1"/>
          </p:nvPr>
        </p:nvSpPr>
        <p:spPr>
          <a:xfrm>
            <a:off x="1676400" y="1600201"/>
            <a:ext cx="8798819" cy="4525963"/>
          </a:xfrm>
        </p:spPr>
        <p:txBody>
          <a:bodyPr/>
          <a:lstStyle/>
          <a:p>
            <a:r>
              <a:rPr lang="en-US" b="1"/>
              <a:t>Since ancient times, the silver ion has been known to be effective against a broad range of microorganisms</a:t>
            </a:r>
          </a:p>
          <a:p>
            <a:r>
              <a:rPr lang="en-US" b="1"/>
              <a:t>Interaction of silver ions with thiol groups in enzymes and proteins plays an essential role in its antimicrobial action</a:t>
            </a:r>
          </a:p>
          <a:p>
            <a:r>
              <a:rPr lang="en-US" b="1"/>
              <a:t>Between 2.5 and 5 ppm Ag is toxic to bacteria </a:t>
            </a:r>
            <a:r>
              <a:rPr lang="en-US" b="1" u="sng"/>
              <a:t>and</a:t>
            </a:r>
            <a:r>
              <a:rPr lang="en-US" b="1"/>
              <a:t> human mesenchymal cells</a:t>
            </a:r>
          </a:p>
        </p:txBody>
      </p:sp>
      <p:sp>
        <p:nvSpPr>
          <p:cNvPr id="4" name="Rectangle 3"/>
          <p:cNvSpPr/>
          <p:nvPr/>
        </p:nvSpPr>
        <p:spPr>
          <a:xfrm>
            <a:off x="5410200" y="6148818"/>
            <a:ext cx="4876800" cy="276999"/>
          </a:xfrm>
          <a:prstGeom prst="rect">
            <a:avLst/>
          </a:prstGeom>
        </p:spPr>
        <p:txBody>
          <a:bodyPr wrap="square">
            <a:spAutoFit/>
          </a:bodyPr>
          <a:lstStyle/>
          <a:p>
            <a:r>
              <a:rPr lang="en-US" sz="1200"/>
              <a:t>W.K. Jung, et. Al., </a:t>
            </a:r>
            <a:r>
              <a:rPr lang="fr-FR" sz="1200" err="1">
                <a:solidFill>
                  <a:srgbClr val="642A8F"/>
                </a:solidFill>
                <a:latin typeface="arial" panose="020B0604020202020204" pitchFamily="34" charset="0"/>
                <a:hlinkClick r:id="rId2"/>
              </a:rPr>
              <a:t>Appl</a:t>
            </a:r>
            <a:r>
              <a:rPr lang="fr-FR" sz="1200">
                <a:solidFill>
                  <a:srgbClr val="642A8F"/>
                </a:solidFill>
                <a:latin typeface="arial" panose="020B0604020202020204" pitchFamily="34" charset="0"/>
                <a:hlinkClick r:id="rId2"/>
              </a:rPr>
              <a:t> Environ </a:t>
            </a:r>
            <a:r>
              <a:rPr lang="fr-FR" sz="1200" err="1">
                <a:solidFill>
                  <a:srgbClr val="642A8F"/>
                </a:solidFill>
                <a:latin typeface="arial" panose="020B0604020202020204" pitchFamily="34" charset="0"/>
                <a:hlinkClick r:id="rId2"/>
              </a:rPr>
              <a:t>Microbiol</a:t>
            </a:r>
            <a:r>
              <a:rPr lang="fr-FR" sz="1200">
                <a:solidFill>
                  <a:srgbClr val="000000"/>
                </a:solidFill>
                <a:latin typeface="arial" panose="020B0604020202020204" pitchFamily="34" charset="0"/>
              </a:rPr>
              <a:t>. 2008 </a:t>
            </a:r>
            <a:r>
              <a:rPr lang="fr-FR" sz="1200" err="1">
                <a:solidFill>
                  <a:srgbClr val="000000"/>
                </a:solidFill>
                <a:latin typeface="arial" panose="020B0604020202020204" pitchFamily="34" charset="0"/>
              </a:rPr>
              <a:t>Apr</a:t>
            </a:r>
            <a:r>
              <a:rPr lang="fr-FR" sz="1200">
                <a:solidFill>
                  <a:srgbClr val="000000"/>
                </a:solidFill>
                <a:latin typeface="arial" panose="020B0604020202020204" pitchFamily="34" charset="0"/>
              </a:rPr>
              <a:t>; 74(7): 2171–2178</a:t>
            </a:r>
            <a:endParaRPr lang="en-US" sz="1200"/>
          </a:p>
        </p:txBody>
      </p:sp>
      <p:sp>
        <p:nvSpPr>
          <p:cNvPr id="5" name="TextBox 4"/>
          <p:cNvSpPr txBox="1"/>
          <p:nvPr/>
        </p:nvSpPr>
        <p:spPr>
          <a:xfrm>
            <a:off x="5410200" y="6394925"/>
            <a:ext cx="3505200" cy="276999"/>
          </a:xfrm>
          <a:prstGeom prst="rect">
            <a:avLst/>
          </a:prstGeom>
          <a:noFill/>
        </p:spPr>
        <p:txBody>
          <a:bodyPr wrap="square" rtlCol="0">
            <a:spAutoFit/>
          </a:bodyPr>
          <a:lstStyle/>
          <a:p>
            <a:r>
              <a:rPr lang="en-US" sz="1200"/>
              <a:t>C. </a:t>
            </a:r>
            <a:r>
              <a:rPr lang="en-US" sz="1200" err="1"/>
              <a:t>Greulich</a:t>
            </a:r>
            <a:r>
              <a:rPr lang="en-US" sz="1200"/>
              <a:t>, et.al., RSC Advances, 2012, 2, 6981–6987</a:t>
            </a:r>
          </a:p>
        </p:txBody>
      </p:sp>
      <p:sp>
        <p:nvSpPr>
          <p:cNvPr id="6" name="Rectangle 5"/>
          <p:cNvSpPr/>
          <p:nvPr/>
        </p:nvSpPr>
        <p:spPr>
          <a:xfrm>
            <a:off x="8953649" y="6601651"/>
            <a:ext cx="1577676" cy="246221"/>
          </a:xfrm>
          <a:prstGeom prst="rect">
            <a:avLst/>
          </a:prstGeom>
        </p:spPr>
        <p:txBody>
          <a:bodyPr wrap="none">
            <a:spAutoFit/>
          </a:bodyPr>
          <a:lstStyle/>
          <a:p>
            <a:r>
              <a:rPr lang="en-US" sz="1000"/>
              <a:t>M.O. Coover, DDS, MAGD</a:t>
            </a:r>
          </a:p>
        </p:txBody>
      </p:sp>
    </p:spTree>
    <p:extLst>
      <p:ext uri="{BB962C8B-B14F-4D97-AF65-F5344CB8AC3E}">
        <p14:creationId xmlns:p14="http://schemas.microsoft.com/office/powerpoint/2010/main" val="1049456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Effects on Bonding</a:t>
            </a:r>
          </a:p>
        </p:txBody>
      </p:sp>
      <p:sp>
        <p:nvSpPr>
          <p:cNvPr id="3" name="Content Placeholder 2"/>
          <p:cNvSpPr>
            <a:spLocks noGrp="1"/>
          </p:cNvSpPr>
          <p:nvPr>
            <p:ph idx="1"/>
          </p:nvPr>
        </p:nvSpPr>
        <p:spPr>
          <a:xfrm>
            <a:off x="1752601" y="1600201"/>
            <a:ext cx="8722618" cy="4525963"/>
          </a:xfrm>
        </p:spPr>
        <p:txBody>
          <a:bodyPr>
            <a:normAutofit lnSpcReduction="10000"/>
          </a:bodyPr>
          <a:lstStyle/>
          <a:p>
            <a:r>
              <a:rPr lang="en-US" sz="4000" b="1"/>
              <a:t>50% reduction in GIC bond strength but rinsing with  water  restores bond strength</a:t>
            </a:r>
          </a:p>
          <a:p>
            <a:r>
              <a:rPr lang="en-US" sz="4000" b="1"/>
              <a:t>33% reduction in resin bond strength but again, rinsing restores the bond strength</a:t>
            </a:r>
          </a:p>
          <a:p>
            <a:r>
              <a:rPr lang="en-US" sz="4000" b="1"/>
              <a:t>SDF inhibits matrix metalloproteases in dentin collagen</a:t>
            </a:r>
          </a:p>
        </p:txBody>
      </p:sp>
      <p:sp>
        <p:nvSpPr>
          <p:cNvPr id="4" name="TextBox 3"/>
          <p:cNvSpPr txBox="1"/>
          <p:nvPr/>
        </p:nvSpPr>
        <p:spPr>
          <a:xfrm>
            <a:off x="6226959" y="5933579"/>
            <a:ext cx="2753360" cy="253916"/>
          </a:xfrm>
          <a:prstGeom prst="rect">
            <a:avLst/>
          </a:prstGeom>
          <a:noFill/>
        </p:spPr>
        <p:txBody>
          <a:bodyPr wrap="square" rtlCol="0">
            <a:spAutoFit/>
          </a:bodyPr>
          <a:lstStyle/>
          <a:p>
            <a:r>
              <a:rPr lang="en-US" sz="1050"/>
              <a:t>Knight, et.al.,</a:t>
            </a:r>
            <a:r>
              <a:rPr lang="de-DE" sz="1050"/>
              <a:t> Aust Dent J 2006;51(1):42-45</a:t>
            </a:r>
            <a:r>
              <a:rPr lang="en-US" sz="1050"/>
              <a:t> </a:t>
            </a:r>
          </a:p>
        </p:txBody>
      </p:sp>
      <p:sp>
        <p:nvSpPr>
          <p:cNvPr id="5" name="TextBox 4"/>
          <p:cNvSpPr txBox="1"/>
          <p:nvPr/>
        </p:nvSpPr>
        <p:spPr>
          <a:xfrm>
            <a:off x="6226960" y="6339851"/>
            <a:ext cx="3276859" cy="415498"/>
          </a:xfrm>
          <a:prstGeom prst="rect">
            <a:avLst/>
          </a:prstGeom>
          <a:noFill/>
        </p:spPr>
        <p:txBody>
          <a:bodyPr wrap="none" rtlCol="0">
            <a:spAutoFit/>
          </a:bodyPr>
          <a:lstStyle/>
          <a:p>
            <a:r>
              <a:rPr lang="en-US" sz="1050"/>
              <a:t>Mei, et al; antibacterial effects of silver diamine fluoride </a:t>
            </a:r>
          </a:p>
          <a:p>
            <a:r>
              <a:rPr lang="en-US" sz="1050"/>
              <a:t>on multi-species cariogenic biofilm on caries</a:t>
            </a:r>
          </a:p>
        </p:txBody>
      </p:sp>
      <p:sp>
        <p:nvSpPr>
          <p:cNvPr id="6" name="Rectangle 5"/>
          <p:cNvSpPr/>
          <p:nvPr/>
        </p:nvSpPr>
        <p:spPr>
          <a:xfrm>
            <a:off x="8953649" y="6601651"/>
            <a:ext cx="1577676" cy="246221"/>
          </a:xfrm>
          <a:prstGeom prst="rect">
            <a:avLst/>
          </a:prstGeom>
        </p:spPr>
        <p:txBody>
          <a:bodyPr wrap="none">
            <a:spAutoFit/>
          </a:bodyPr>
          <a:lstStyle/>
          <a:p>
            <a:r>
              <a:rPr lang="en-US" sz="1000"/>
              <a:t>M.O. Coover, DDS, MAGD</a:t>
            </a:r>
          </a:p>
        </p:txBody>
      </p:sp>
    </p:spTree>
    <p:extLst>
      <p:ext uri="{BB962C8B-B14F-4D97-AF65-F5344CB8AC3E}">
        <p14:creationId xmlns:p14="http://schemas.microsoft.com/office/powerpoint/2010/main" val="183435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7467600" cy="1143000"/>
          </a:xfrm>
        </p:spPr>
        <p:txBody>
          <a:bodyPr>
            <a:normAutofit/>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How to Apply</a:t>
            </a:r>
          </a:p>
        </p:txBody>
      </p:sp>
      <p:sp>
        <p:nvSpPr>
          <p:cNvPr id="3" name="Content Placeholder 2"/>
          <p:cNvSpPr>
            <a:spLocks noGrp="1"/>
          </p:cNvSpPr>
          <p:nvPr>
            <p:ph idx="1"/>
          </p:nvPr>
        </p:nvSpPr>
        <p:spPr/>
        <p:txBody>
          <a:bodyPr>
            <a:normAutofit/>
          </a:bodyPr>
          <a:lstStyle/>
          <a:p>
            <a:r>
              <a:rPr lang="en-US" sz="4000" b="1" dirty="0"/>
              <a:t>Allow SDF to soak into and react with the lesion for 1 to 3 minutes.</a:t>
            </a:r>
          </a:p>
          <a:p>
            <a:r>
              <a:rPr lang="en-US" sz="4000" b="1" dirty="0"/>
              <a:t>Then rinse with </a:t>
            </a:r>
            <a:r>
              <a:rPr lang="en-US" sz="4000" b="1" u="sng" dirty="0"/>
              <a:t>copious</a:t>
            </a:r>
            <a:r>
              <a:rPr lang="en-US" sz="4000" b="1" dirty="0"/>
              <a:t> water and either leave exposed or cover with GIC</a:t>
            </a:r>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567203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accent6">
                    <a:lumMod val="75000"/>
                  </a:schemeClr>
                </a:solidFill>
              </a:rPr>
              <a:t>SDF in Action</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6560" y="2895600"/>
            <a:ext cx="2222500" cy="2222500"/>
          </a:xfrm>
        </p:spPr>
      </p:pic>
      <p:sp>
        <p:nvSpPr>
          <p:cNvPr id="8" name="Rectangle 7"/>
          <p:cNvSpPr/>
          <p:nvPr/>
        </p:nvSpPr>
        <p:spPr>
          <a:xfrm>
            <a:off x="9067801" y="6593491"/>
            <a:ext cx="1301959" cy="215444"/>
          </a:xfrm>
          <a:prstGeom prst="rect">
            <a:avLst/>
          </a:prstGeom>
        </p:spPr>
        <p:txBody>
          <a:bodyPr wrap="none">
            <a:spAutoFit/>
          </a:bodyPr>
          <a:lstStyle/>
          <a:p>
            <a:r>
              <a:rPr lang="en-US" sz="800"/>
              <a:t>M.O. Coover, DDS, MAGD</a:t>
            </a:r>
          </a:p>
        </p:txBody>
      </p:sp>
      <p:pic>
        <p:nvPicPr>
          <p:cNvPr id="4" name="Picture 3" descr="A picture containing vegetable&#10;&#10;Description automatically generated">
            <a:extLst>
              <a:ext uri="{FF2B5EF4-FFF2-40B4-BE49-F238E27FC236}">
                <a16:creationId xmlns:a16="http://schemas.microsoft.com/office/drawing/2014/main" id="{45E5C502-D58D-4F06-B4EC-ECF68F25C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5230" y="713089"/>
            <a:ext cx="3993314" cy="2855978"/>
          </a:xfrm>
          <a:prstGeom prst="rect">
            <a:avLst/>
          </a:prstGeom>
        </p:spPr>
      </p:pic>
      <p:pic>
        <p:nvPicPr>
          <p:cNvPr id="10" name="Picture 9" descr="A picture containing mollusk, invertebrate, oyster&#10;&#10;Description automatically generated">
            <a:extLst>
              <a:ext uri="{FF2B5EF4-FFF2-40B4-BE49-F238E27FC236}">
                <a16:creationId xmlns:a16="http://schemas.microsoft.com/office/drawing/2014/main" id="{B84F31AF-3F39-4093-A752-F00416248B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8905" y="3720564"/>
            <a:ext cx="3905963" cy="2721429"/>
          </a:xfrm>
          <a:prstGeom prst="rect">
            <a:avLst/>
          </a:prstGeom>
        </p:spPr>
      </p:pic>
    </p:spTree>
    <p:extLst>
      <p:ext uri="{BB962C8B-B14F-4D97-AF65-F5344CB8AC3E}">
        <p14:creationId xmlns:p14="http://schemas.microsoft.com/office/powerpoint/2010/main" val="392465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B602-4125-4713-BFF0-3862E48CA443}"/>
              </a:ext>
            </a:extLst>
          </p:cNvPr>
          <p:cNvSpPr>
            <a:spLocks noGrp="1"/>
          </p:cNvSpPr>
          <p:nvPr>
            <p:ph type="title"/>
          </p:nvPr>
        </p:nvSpPr>
        <p:spPr/>
        <p:txBody>
          <a:bodyPr/>
          <a:lstStyle/>
          <a:p>
            <a:r>
              <a:rPr lang="en-US"/>
              <a:t>SDF in Action</a:t>
            </a:r>
          </a:p>
        </p:txBody>
      </p:sp>
      <p:pic>
        <p:nvPicPr>
          <p:cNvPr id="5" name="Content Placeholder 4" descr="Close-up of a person's mouth&#10;&#10;Description automatically generated with low confidence">
            <a:extLst>
              <a:ext uri="{FF2B5EF4-FFF2-40B4-BE49-F238E27FC236}">
                <a16:creationId xmlns:a16="http://schemas.microsoft.com/office/drawing/2014/main" id="{585FCE01-507F-4B39-9C3B-27B1FF519E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702053" y="1776412"/>
            <a:ext cx="4716463" cy="4716463"/>
          </a:xfrm>
        </p:spPr>
      </p:pic>
      <p:pic>
        <p:nvPicPr>
          <p:cNvPr id="7" name="Picture 6" descr="A picture containing person&#10;&#10;Description automatically generated">
            <a:extLst>
              <a:ext uri="{FF2B5EF4-FFF2-40B4-BE49-F238E27FC236}">
                <a16:creationId xmlns:a16="http://schemas.microsoft.com/office/drawing/2014/main" id="{DC88306A-75F3-4DCF-A4D8-DFE7A541D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6294260" y="1891939"/>
            <a:ext cx="4600936" cy="4600936"/>
          </a:xfrm>
          <a:prstGeom prst="rect">
            <a:avLst/>
          </a:prstGeom>
        </p:spPr>
      </p:pic>
      <p:sp>
        <p:nvSpPr>
          <p:cNvPr id="6" name="Rectangle 5">
            <a:extLst>
              <a:ext uri="{FF2B5EF4-FFF2-40B4-BE49-F238E27FC236}">
                <a16:creationId xmlns:a16="http://schemas.microsoft.com/office/drawing/2014/main" id="{79B0BAC0-9C75-4970-AD66-48EE901906AC}"/>
              </a:ext>
            </a:extLst>
          </p:cNvPr>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794146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90825" y="990600"/>
            <a:ext cx="7543800" cy="5509200"/>
          </a:xfrm>
          <a:prstGeom prst="rect">
            <a:avLst/>
          </a:prstGeom>
        </p:spPr>
        <p:txBody>
          <a:bodyPr wrap="square">
            <a:spAutoFit/>
          </a:bodyPr>
          <a:lstStyle/>
          <a:p>
            <a:endParaRPr lang="en-US" sz="3200" dirty="0"/>
          </a:p>
          <a:p>
            <a:r>
              <a:rPr lang="en-US" sz="3200" b="1" dirty="0"/>
              <a:t>1. Extreme caries risk (xerostomia or 	severe early childhood caries). </a:t>
            </a:r>
          </a:p>
          <a:p>
            <a:r>
              <a:rPr lang="en-US" sz="3200" b="1" dirty="0"/>
              <a:t>2. Treatment challenged by behavioral or 	medical management. </a:t>
            </a:r>
          </a:p>
          <a:p>
            <a:r>
              <a:rPr lang="en-US" sz="3200" b="1" dirty="0"/>
              <a:t>3. Patients with carious lesions that may 	not all be treated in one or two visits. </a:t>
            </a:r>
          </a:p>
          <a:p>
            <a:r>
              <a:rPr lang="en-US" sz="3200" b="1" dirty="0"/>
              <a:t>4. Difficult to treat dental carious lesions. </a:t>
            </a:r>
          </a:p>
          <a:p>
            <a:r>
              <a:rPr lang="en-US" sz="3200" b="1" dirty="0"/>
              <a:t>5. Patients without access to dental care. </a:t>
            </a:r>
          </a:p>
          <a:p>
            <a:r>
              <a:rPr lang="en-US" sz="3200" b="1" dirty="0"/>
              <a:t>6. Cervical hypersensitivity</a:t>
            </a:r>
          </a:p>
          <a:p>
            <a:pPr lvl="1"/>
            <a:r>
              <a:rPr lang="en-US" sz="2400" b="1" i="1" dirty="0"/>
              <a:t>No, it doesn’t stain non-carious teeth </a:t>
            </a:r>
          </a:p>
        </p:txBody>
      </p:sp>
      <p:sp>
        <p:nvSpPr>
          <p:cNvPr id="5" name="Title 4"/>
          <p:cNvSpPr>
            <a:spLocks noGrp="1"/>
          </p:cNvSpPr>
          <p:nvPr>
            <p:ph type="ctrTitle"/>
          </p:nvPr>
        </p:nvSpPr>
        <p:spPr>
          <a:xfrm>
            <a:off x="2286000" y="0"/>
            <a:ext cx="7772400" cy="1219200"/>
          </a:xfrm>
        </p:spPr>
        <p:txBody>
          <a:bodyPr>
            <a:normAutofit fontScale="90000"/>
          </a:bodyPr>
          <a:lstStyle/>
          <a:p>
            <a:pPr algn="ctr"/>
            <a:r>
              <a:rPr lang="en-US"/>
              <a:t> </a:t>
            </a:r>
            <a:r>
              <a:rPr lang="en-US" b="1">
                <a:solidFill>
                  <a:schemeClr val="accent6">
                    <a:lumMod val="75000"/>
                  </a:schemeClr>
                </a:solidFill>
              </a:rPr>
              <a:t>Indications: </a:t>
            </a:r>
            <a:br>
              <a:rPr lang="en-US" b="1">
                <a:solidFill>
                  <a:schemeClr val="accent6">
                    <a:lumMod val="75000"/>
                  </a:schemeClr>
                </a:solidFill>
              </a:rPr>
            </a:br>
            <a:endParaRPr lang="en-US" b="1">
              <a:solidFill>
                <a:schemeClr val="accent6">
                  <a:lumMod val="75000"/>
                </a:schemeClr>
              </a:solidFill>
            </a:endParaRPr>
          </a:p>
        </p:txBody>
      </p:sp>
      <p:sp>
        <p:nvSpPr>
          <p:cNvPr id="7" name="Sun 6"/>
          <p:cNvSpPr/>
          <p:nvPr/>
        </p:nvSpPr>
        <p:spPr>
          <a:xfrm>
            <a:off x="7616142" y="5550158"/>
            <a:ext cx="457200" cy="457200"/>
          </a:xfrm>
          <a:prstGeom prst="su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 name="Rectangle 5"/>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3766364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100"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Maximum dose</a:t>
            </a:r>
          </a:p>
        </p:txBody>
      </p:sp>
      <p:sp>
        <p:nvSpPr>
          <p:cNvPr id="3" name="Content Placeholder 2"/>
          <p:cNvSpPr>
            <a:spLocks noGrp="1"/>
          </p:cNvSpPr>
          <p:nvPr>
            <p:ph idx="1"/>
          </p:nvPr>
        </p:nvSpPr>
        <p:spPr>
          <a:xfrm>
            <a:off x="412955" y="1825625"/>
            <a:ext cx="11779045" cy="4351338"/>
          </a:xfrm>
        </p:spPr>
        <p:txBody>
          <a:bodyPr/>
          <a:lstStyle/>
          <a:p>
            <a:endParaRPr lang="en-US"/>
          </a:p>
          <a:p>
            <a:r>
              <a:rPr lang="en-US" sz="3200"/>
              <a:t> Maximum dose: 25 </a:t>
            </a:r>
            <a:r>
              <a:rPr lang="en-US" sz="3200" err="1"/>
              <a:t>μL</a:t>
            </a:r>
            <a:r>
              <a:rPr lang="en-US" sz="3200"/>
              <a:t> (1 drop) / 10kg per treatment visit. </a:t>
            </a:r>
          </a:p>
          <a:p>
            <a:r>
              <a:rPr lang="en-US" sz="3200"/>
              <a:t>SDF Contraindication: Silver allergy. </a:t>
            </a:r>
          </a:p>
          <a:p>
            <a:r>
              <a:rPr lang="en-US" sz="3200"/>
              <a:t>SDF Relative Contra-indications: Ulcerative gingivitis, stomatitis. </a:t>
            </a:r>
          </a:p>
          <a:p>
            <a:r>
              <a:rPr lang="en-US" sz="3200"/>
              <a:t>SS-KI Contraindications: Pregnancy, 	breastfeeding. </a:t>
            </a:r>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977200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Considerations</a:t>
            </a:r>
            <a:r>
              <a:rPr lang="en-US" b="1">
                <a:solidFill>
                  <a:schemeClr val="accent6">
                    <a:lumMod val="75000"/>
                  </a:schemeClr>
                </a:solidFill>
              </a:rPr>
              <a:t>:</a:t>
            </a:r>
            <a:r>
              <a:rPr lang="en-US" b="1"/>
              <a:t> </a:t>
            </a:r>
            <a:br>
              <a:rPr lang="en-US"/>
            </a:br>
            <a:endParaRPr lang="en-US"/>
          </a:p>
        </p:txBody>
      </p:sp>
      <p:sp>
        <p:nvSpPr>
          <p:cNvPr id="3" name="Content Placeholder 2"/>
          <p:cNvSpPr>
            <a:spLocks noGrp="1"/>
          </p:cNvSpPr>
          <p:nvPr>
            <p:ph idx="1"/>
          </p:nvPr>
        </p:nvSpPr>
        <p:spPr>
          <a:xfrm>
            <a:off x="2438400" y="1447800"/>
            <a:ext cx="7772400" cy="4907760"/>
          </a:xfrm>
        </p:spPr>
        <p:txBody>
          <a:bodyPr>
            <a:normAutofit fontScale="92500" lnSpcReduction="10000"/>
          </a:bodyPr>
          <a:lstStyle/>
          <a:p>
            <a:endParaRPr lang="en-US"/>
          </a:p>
          <a:p>
            <a:r>
              <a:rPr lang="en-US" sz="4100"/>
              <a:t>Decayed dentin will darken as the caries lesions arrest. Most will be dark brown or black. </a:t>
            </a:r>
          </a:p>
          <a:p>
            <a:r>
              <a:rPr lang="en-US" sz="4100"/>
              <a:t>SDF can stain the skin, which will clear in two to three weeks without treatment. </a:t>
            </a:r>
          </a:p>
          <a:p>
            <a:r>
              <a:rPr lang="en-US" sz="4100"/>
              <a:t>SDF can </a:t>
            </a:r>
            <a:r>
              <a:rPr lang="en-US" sz="4100" b="1"/>
              <a:t>permanently stain operatory surfaces and clothes. </a:t>
            </a:r>
            <a:endParaRPr lang="en-US" sz="4100"/>
          </a:p>
          <a:p>
            <a:endParaRPr lang="en-US"/>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4133595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a:ln w="5000" cmpd="sng">
                  <a:solidFill>
                    <a:schemeClr val="accent1">
                      <a:tint val="80000"/>
                      <a:shade val="99000"/>
                      <a:satMod val="500000"/>
                    </a:schemeClr>
                  </a:solidFill>
                  <a:prstDash val="solid"/>
                </a:ln>
                <a:solidFill>
                  <a:schemeClr val="accent6">
                    <a:lumMod val="75000"/>
                  </a:schemeClr>
                </a:solidFill>
                <a:effectLst>
                  <a:outerShdw blurRad="50800" dist="38100" dir="5400000" algn="t" rotWithShape="0">
                    <a:prstClr val="black">
                      <a:alpha val="50000"/>
                    </a:prstClr>
                  </a:outerShdw>
                </a:effectLst>
              </a:rPr>
              <a:t>Considerations</a:t>
            </a:r>
            <a:r>
              <a:rPr lang="en-US" b="1">
                <a:solidFill>
                  <a:schemeClr val="accent6">
                    <a:lumMod val="75000"/>
                  </a:schemeClr>
                </a:solidFill>
              </a:rPr>
              <a:t>:</a:t>
            </a:r>
            <a:r>
              <a:rPr lang="en-US" b="1"/>
              <a:t> </a:t>
            </a:r>
            <a:br>
              <a:rPr lang="en-US"/>
            </a:br>
            <a:endParaRPr lang="en-US"/>
          </a:p>
        </p:txBody>
      </p:sp>
      <p:sp>
        <p:nvSpPr>
          <p:cNvPr id="3" name="Content Placeholder 2"/>
          <p:cNvSpPr>
            <a:spLocks noGrp="1"/>
          </p:cNvSpPr>
          <p:nvPr>
            <p:ph idx="1"/>
          </p:nvPr>
        </p:nvSpPr>
        <p:spPr/>
        <p:txBody>
          <a:bodyPr>
            <a:normAutofit lnSpcReduction="10000"/>
          </a:bodyPr>
          <a:lstStyle/>
          <a:p>
            <a:pPr marL="0" indent="0">
              <a:buNone/>
            </a:pPr>
            <a:r>
              <a:rPr lang="en-US" sz="3600" dirty="0"/>
              <a:t>• A provisional restoration (e.g., GI via ART or other material) may be considered after SDF treatment.  [remember to rinse first]</a:t>
            </a:r>
          </a:p>
          <a:p>
            <a:pPr marL="0" indent="0">
              <a:buNone/>
            </a:pPr>
            <a:r>
              <a:rPr lang="en-US" sz="3600" dirty="0"/>
              <a:t>• Saturated solution of potassium iodide (SS-KI, [not </a:t>
            </a:r>
            <a:r>
              <a:rPr lang="en-US" sz="3600" dirty="0" err="1"/>
              <a:t>Lugol’s</a:t>
            </a:r>
            <a:r>
              <a:rPr lang="en-US" sz="3600" dirty="0"/>
              <a:t> Solution] ) can be used after SDF to decrease color changes ( but not much). </a:t>
            </a:r>
          </a:p>
          <a:p>
            <a:pPr marL="0" indent="0">
              <a:buNone/>
            </a:pPr>
            <a:r>
              <a:rPr lang="en-US" sz="3600" dirty="0"/>
              <a:t>• Re-application is usually recommended, biannually until the cavity is restored or arrested or the tooth exfoliates. </a:t>
            </a:r>
          </a:p>
          <a:p>
            <a:endParaRPr lang="en-US" dirty="0"/>
          </a:p>
        </p:txBody>
      </p:sp>
    </p:spTree>
    <p:extLst>
      <p:ext uri="{BB962C8B-B14F-4D97-AF65-F5344CB8AC3E}">
        <p14:creationId xmlns:p14="http://schemas.microsoft.com/office/powerpoint/2010/main" val="3726726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accent6">
                    <a:lumMod val="75000"/>
                  </a:schemeClr>
                </a:solidFill>
              </a:rPr>
              <a:t>SDF Cost</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3648" y="1524000"/>
            <a:ext cx="8665752" cy="4665087"/>
          </a:xfrm>
        </p:spPr>
      </p:pic>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
        <p:nvSpPr>
          <p:cNvPr id="3" name="TextBox 2"/>
          <p:cNvSpPr txBox="1"/>
          <p:nvPr/>
        </p:nvSpPr>
        <p:spPr>
          <a:xfrm>
            <a:off x="6172200" y="4648200"/>
            <a:ext cx="3200400" cy="369332"/>
          </a:xfrm>
          <a:prstGeom prst="rect">
            <a:avLst/>
          </a:prstGeom>
          <a:noFill/>
        </p:spPr>
        <p:txBody>
          <a:bodyPr wrap="square" rtlCol="0">
            <a:spAutoFit/>
          </a:bodyPr>
          <a:lstStyle/>
          <a:p>
            <a:r>
              <a:rPr lang="en-US">
                <a:solidFill>
                  <a:srgbClr val="FF0000"/>
                </a:solidFill>
              </a:rPr>
              <a:t>8 ml is enough for 160 patients</a:t>
            </a:r>
          </a:p>
        </p:txBody>
      </p:sp>
    </p:spTree>
    <p:extLst>
      <p:ext uri="{BB962C8B-B14F-4D97-AF65-F5344CB8AC3E}">
        <p14:creationId xmlns:p14="http://schemas.microsoft.com/office/powerpoint/2010/main" val="1775664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accent6">
                    <a:lumMod val="75000"/>
                  </a:schemeClr>
                </a:solidFill>
              </a:rPr>
              <a:t>SDF Cost</a:t>
            </a:r>
          </a:p>
        </p:txBody>
      </p:sp>
      <p:sp>
        <p:nvSpPr>
          <p:cNvPr id="3" name="Content Placeholder 2"/>
          <p:cNvSpPr>
            <a:spLocks noGrp="1"/>
          </p:cNvSpPr>
          <p:nvPr>
            <p:ph idx="1"/>
          </p:nvPr>
        </p:nvSpPr>
        <p:spPr/>
        <p:txBody>
          <a:bodyPr>
            <a:normAutofit/>
          </a:bodyPr>
          <a:lstStyle/>
          <a:p>
            <a:r>
              <a:rPr lang="en-US" sz="3600"/>
              <a:t>Use 1 drop per patient</a:t>
            </a:r>
          </a:p>
          <a:p>
            <a:pPr lvl="1"/>
            <a:r>
              <a:rPr lang="en-US" sz="3600"/>
              <a:t>1 drop treats 3-5 sites</a:t>
            </a:r>
          </a:p>
          <a:p>
            <a:r>
              <a:rPr lang="en-US" sz="3600"/>
              <a:t>Bottle contains 8ml = 160 drops</a:t>
            </a:r>
          </a:p>
          <a:p>
            <a:r>
              <a:rPr lang="en-US" sz="3600"/>
              <a:t>$149 ÷ 160 = 93¢ per drop</a:t>
            </a:r>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104602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accent6">
                    <a:lumMod val="75000"/>
                  </a:schemeClr>
                </a:solidFill>
              </a:rPr>
              <a:t>How to Get Paid</a:t>
            </a:r>
          </a:p>
        </p:txBody>
      </p:sp>
      <p:sp>
        <p:nvSpPr>
          <p:cNvPr id="3" name="Content Placeholder 2"/>
          <p:cNvSpPr>
            <a:spLocks noGrp="1"/>
          </p:cNvSpPr>
          <p:nvPr>
            <p:ph idx="1"/>
          </p:nvPr>
        </p:nvSpPr>
        <p:spPr>
          <a:xfrm>
            <a:off x="1752600" y="1600201"/>
            <a:ext cx="8686800" cy="4993291"/>
          </a:xfrm>
        </p:spPr>
        <p:txBody>
          <a:bodyPr>
            <a:normAutofit fontScale="62500" lnSpcReduction="20000"/>
          </a:bodyPr>
          <a:lstStyle/>
          <a:p>
            <a:endParaRPr lang="en-US"/>
          </a:p>
          <a:p>
            <a:pPr lvl="1"/>
            <a:r>
              <a:rPr lang="en-US" sz="4400"/>
              <a:t>Code </a:t>
            </a:r>
            <a:r>
              <a:rPr lang="en-US" sz="4400" b="1"/>
              <a:t>D1354</a:t>
            </a:r>
            <a:r>
              <a:rPr lang="en-US" sz="4400"/>
              <a:t>: Interim caries arresting medicament application;</a:t>
            </a:r>
          </a:p>
          <a:p>
            <a:pPr lvl="1"/>
            <a:r>
              <a:rPr lang="en-US" sz="4400"/>
              <a:t>Code D1208: Topical application of fluoride;</a:t>
            </a:r>
          </a:p>
          <a:p>
            <a:pPr lvl="1"/>
            <a:r>
              <a:rPr lang="en-US" sz="4400"/>
              <a:t>Code D9910: Application of a desensitizing medicament, per visit; or</a:t>
            </a:r>
          </a:p>
          <a:p>
            <a:pPr lvl="1"/>
            <a:r>
              <a:rPr lang="en-US" sz="4400"/>
              <a:t>Code D1999: Unspecified preventive procedure by report. </a:t>
            </a:r>
            <a:br>
              <a:rPr lang="en-US" sz="4400"/>
            </a:br>
            <a:endParaRPr lang="en-US" sz="4400"/>
          </a:p>
          <a:p>
            <a:r>
              <a:rPr lang="en-US" sz="4500"/>
              <a:t>You may have to identify your patient’s caries risk to justify reimbursement with a recognized caries risk tool. Codes D0601 (low risk), D0602 (moderate risk), D0603 (high risk) are especially helpful in all claims in order to measure the change in caries risk of the patients in your practice. </a:t>
            </a:r>
          </a:p>
          <a:p>
            <a:endParaRPr lang="en-US"/>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828831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28E9E-65CE-4948-AAEC-D0D4B0905612}"/>
              </a:ext>
            </a:extLst>
          </p:cNvPr>
          <p:cNvSpPr>
            <a:spLocks noGrp="1"/>
          </p:cNvSpPr>
          <p:nvPr>
            <p:ph type="title"/>
          </p:nvPr>
        </p:nvSpPr>
        <p:spPr/>
        <p:txBody>
          <a:bodyPr/>
          <a:lstStyle/>
          <a:p>
            <a:r>
              <a:rPr lang="en-US"/>
              <a:t>Xylitol</a:t>
            </a:r>
          </a:p>
        </p:txBody>
      </p:sp>
      <p:pic>
        <p:nvPicPr>
          <p:cNvPr id="5" name="Content Placeholder 4" descr="A close-up of a card&#10;&#10;Description automatically generated with low confidence">
            <a:extLst>
              <a:ext uri="{FF2B5EF4-FFF2-40B4-BE49-F238E27FC236}">
                <a16:creationId xmlns:a16="http://schemas.microsoft.com/office/drawing/2014/main" id="{6D4860B2-503F-475C-BF7C-86BA4872B3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2437" y="1884619"/>
            <a:ext cx="5987731" cy="3424801"/>
          </a:xfrm>
        </p:spPr>
      </p:pic>
      <p:pic>
        <p:nvPicPr>
          <p:cNvPr id="7" name="Picture 6" descr="A picture containing text&#10;&#10;Description automatically generated">
            <a:extLst>
              <a:ext uri="{FF2B5EF4-FFF2-40B4-BE49-F238E27FC236}">
                <a16:creationId xmlns:a16="http://schemas.microsoft.com/office/drawing/2014/main" id="{DE889439-2D6A-42CC-AEDD-114A708A7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9729" y="1863971"/>
            <a:ext cx="4699834" cy="3524876"/>
          </a:xfrm>
          <a:prstGeom prst="rect">
            <a:avLst/>
          </a:prstGeom>
        </p:spPr>
      </p:pic>
    </p:spTree>
    <p:extLst>
      <p:ext uri="{BB962C8B-B14F-4D97-AF65-F5344CB8AC3E}">
        <p14:creationId xmlns:p14="http://schemas.microsoft.com/office/powerpoint/2010/main" val="3501755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C000"/>
                </a:solidFill>
              </a:rPr>
              <a:t>Xylitol</a:t>
            </a:r>
          </a:p>
        </p:txBody>
      </p:sp>
      <p:sp>
        <p:nvSpPr>
          <p:cNvPr id="4" name="Rectangle 4"/>
          <p:cNvSpPr>
            <a:spLocks noGrp="1" noChangeArrowheads="1"/>
          </p:cNvSpPr>
          <p:nvPr>
            <p:ph idx="1"/>
          </p:nvPr>
        </p:nvSpPr>
        <p:spPr>
          <a:xfrm>
            <a:off x="1752600" y="1600201"/>
            <a:ext cx="8610600" cy="4525963"/>
          </a:xfrm>
          <a:noFill/>
          <a:ln/>
        </p:spPr>
        <p:txBody>
          <a:bodyPr/>
          <a:lstStyle/>
          <a:p>
            <a:r>
              <a:rPr lang="en-US" sz="3200" b="1"/>
              <a:t>Five carbon sugar alcohol</a:t>
            </a:r>
          </a:p>
          <a:p>
            <a:r>
              <a:rPr lang="en-US" sz="3200" b="1"/>
              <a:t>Not fermentable by </a:t>
            </a:r>
            <a:r>
              <a:rPr lang="en-US" sz="3200" b="1" err="1"/>
              <a:t>mutans</a:t>
            </a:r>
            <a:r>
              <a:rPr lang="en-US" sz="3200" b="1"/>
              <a:t> strep.</a:t>
            </a:r>
          </a:p>
          <a:p>
            <a:r>
              <a:rPr lang="en-US" sz="3200" b="1"/>
              <a:t>Chew 2 </a:t>
            </a:r>
            <a:r>
              <a:rPr lang="en-US" sz="3200" b="1" err="1"/>
              <a:t>gms</a:t>
            </a:r>
            <a:r>
              <a:rPr lang="en-US" sz="3200" b="1"/>
              <a:t> for five minutes </a:t>
            </a:r>
            <a:r>
              <a:rPr lang="en-US" b="1"/>
              <a:t>3-5 </a:t>
            </a:r>
            <a:r>
              <a:rPr lang="en-US" sz="3200" b="1"/>
              <a:t>times per day</a:t>
            </a:r>
            <a:endParaRPr lang="en-US" b="1"/>
          </a:p>
        </p:txBody>
      </p:sp>
      <p:sp>
        <p:nvSpPr>
          <p:cNvPr id="6" name="Text Box 5"/>
          <p:cNvSpPr txBox="1">
            <a:spLocks noChangeArrowheads="1"/>
          </p:cNvSpPr>
          <p:nvPr/>
        </p:nvSpPr>
        <p:spPr bwMode="auto">
          <a:xfrm>
            <a:off x="1752600" y="3581400"/>
            <a:ext cx="8610600" cy="1938992"/>
          </a:xfrm>
          <a:prstGeom prst="rect">
            <a:avLst/>
          </a:prstGeom>
          <a:noFill/>
          <a:ln w="12700">
            <a:noFill/>
            <a:miter lim="800000"/>
            <a:headEnd/>
            <a:tailEnd/>
          </a:ln>
          <a:effectLst/>
        </p:spPr>
        <p:txBody>
          <a:bodyPr wrap="square">
            <a:spAutoFit/>
          </a:bodyPr>
          <a:lstStyle/>
          <a:p>
            <a:r>
              <a:rPr lang="en-US" sz="2000">
                <a:effectLst>
                  <a:outerShdw blurRad="38100" dist="38100" dir="2700000" algn="tl">
                    <a:srgbClr val="000000"/>
                  </a:outerShdw>
                </a:effectLst>
              </a:rPr>
              <a:t>“These results and previous studies suggest that high xylitol chewing</a:t>
            </a:r>
          </a:p>
          <a:p>
            <a:r>
              <a:rPr lang="en-US" sz="2000">
                <a:effectLst>
                  <a:outerShdw blurRad="38100" dist="38100" dir="2700000" algn="tl">
                    <a:srgbClr val="000000"/>
                  </a:outerShdw>
                </a:effectLst>
              </a:rPr>
              <a:t>gum usage can retard or arrest even rampant dentine caries in conditions</a:t>
            </a:r>
          </a:p>
          <a:p>
            <a:r>
              <a:rPr lang="en-US" sz="2000">
                <a:effectLst>
                  <a:outerShdw blurRad="38100" dist="38100" dir="2700000" algn="tl">
                    <a:srgbClr val="000000"/>
                  </a:outerShdw>
                </a:effectLst>
              </a:rPr>
              <a:t>where effective restoration and prevention programs have not been</a:t>
            </a:r>
          </a:p>
          <a:p>
            <a:r>
              <a:rPr lang="en-US" sz="2000">
                <a:effectLst>
                  <a:outerShdw blurRad="38100" dist="38100" dir="2700000" algn="tl">
                    <a:srgbClr val="000000"/>
                  </a:outerShdw>
                </a:effectLst>
              </a:rPr>
              <a:t>instituted, and can also provide additional protection against further caries </a:t>
            </a:r>
          </a:p>
          <a:p>
            <a:r>
              <a:rPr lang="en-US" sz="2000">
                <a:effectLst>
                  <a:outerShdw blurRad="38100" dist="38100" dir="2700000" algn="tl">
                    <a:srgbClr val="000000"/>
                  </a:outerShdw>
                </a:effectLst>
              </a:rPr>
              <a:t>development during full implementation of restorative procedures by</a:t>
            </a:r>
          </a:p>
          <a:p>
            <a:r>
              <a:rPr lang="en-US" sz="2000">
                <a:effectLst>
                  <a:outerShdw blurRad="38100" dist="38100" dir="2700000" algn="tl">
                    <a:srgbClr val="000000"/>
                  </a:outerShdw>
                </a:effectLst>
              </a:rPr>
              <a:t>holding the lesion in a non-progressive condition.”</a:t>
            </a:r>
          </a:p>
        </p:txBody>
      </p:sp>
      <p:sp>
        <p:nvSpPr>
          <p:cNvPr id="7" name="Text Box 6"/>
          <p:cNvSpPr txBox="1">
            <a:spLocks noChangeArrowheads="1"/>
          </p:cNvSpPr>
          <p:nvPr/>
        </p:nvSpPr>
        <p:spPr bwMode="auto">
          <a:xfrm>
            <a:off x="6186208" y="5789614"/>
            <a:ext cx="3344505" cy="923330"/>
          </a:xfrm>
          <a:prstGeom prst="rect">
            <a:avLst/>
          </a:prstGeom>
          <a:noFill/>
          <a:ln w="12700">
            <a:noFill/>
            <a:miter lim="800000"/>
            <a:headEnd/>
            <a:tailEnd/>
          </a:ln>
          <a:effectLst/>
        </p:spPr>
        <p:txBody>
          <a:bodyPr wrap="none">
            <a:spAutoFit/>
          </a:bodyPr>
          <a:lstStyle/>
          <a:p>
            <a:r>
              <a:rPr lang="en-US" err="1">
                <a:effectLst>
                  <a:outerShdw blurRad="38100" dist="38100" dir="2700000" algn="tl">
                    <a:srgbClr val="000000"/>
                  </a:outerShdw>
                </a:effectLst>
              </a:rPr>
              <a:t>Makinen</a:t>
            </a:r>
            <a:r>
              <a:rPr lang="en-US">
                <a:effectLst>
                  <a:outerShdw blurRad="38100" dist="38100" dir="2700000" algn="tl">
                    <a:srgbClr val="000000"/>
                  </a:outerShdw>
                </a:effectLst>
              </a:rPr>
              <a:t> KK et al</a:t>
            </a:r>
          </a:p>
          <a:p>
            <a:r>
              <a:rPr lang="en-US">
                <a:effectLst>
                  <a:outerShdw blurRad="38100" dist="38100" dir="2700000" algn="tl">
                    <a:srgbClr val="000000"/>
                  </a:outerShdw>
                </a:effectLst>
              </a:rPr>
              <a:t>1 </a:t>
            </a:r>
            <a:r>
              <a:rPr lang="en-US" err="1">
                <a:effectLst>
                  <a:outerShdw blurRad="38100" dist="38100" dir="2700000" algn="tl">
                    <a:srgbClr val="000000"/>
                  </a:outerShdw>
                </a:effectLst>
              </a:rPr>
              <a:t>Suppl</a:t>
            </a:r>
            <a:r>
              <a:rPr lang="en-US">
                <a:effectLst>
                  <a:outerShdw blurRad="38100" dist="38100" dir="2700000" algn="tl">
                    <a:srgbClr val="000000"/>
                  </a:outerShdw>
                </a:effectLst>
              </a:rPr>
              <a:t> 1</a:t>
            </a:r>
          </a:p>
          <a:p>
            <a:r>
              <a:rPr lang="en-US">
                <a:effectLst>
                  <a:outerShdw blurRad="38100" dist="38100" dir="2700000" algn="tl">
                    <a:srgbClr val="000000"/>
                  </a:outerShdw>
                </a:effectLst>
              </a:rPr>
              <a:t>International Dental Journal 1995</a:t>
            </a:r>
          </a:p>
        </p:txBody>
      </p:sp>
      <p:sp>
        <p:nvSpPr>
          <p:cNvPr id="8" name="Rectangle 7"/>
          <p:cNvSpPr/>
          <p:nvPr/>
        </p:nvSpPr>
        <p:spPr>
          <a:xfrm>
            <a:off x="9319130" y="6642556"/>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785137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533401"/>
            <a:ext cx="7772400" cy="1470025"/>
          </a:xfrm>
        </p:spPr>
        <p:txBody>
          <a:bodyPr>
            <a:normAutofit/>
          </a:bodyPr>
          <a:lstStyle/>
          <a:p>
            <a:pPr algn="ctr"/>
            <a:r>
              <a:rPr lang="en-US" sz="6000">
                <a:solidFill>
                  <a:schemeClr val="accent6">
                    <a:lumMod val="75000"/>
                  </a:schemeClr>
                </a:solidFill>
              </a:rPr>
              <a:t>How does Xylitol work?</a:t>
            </a:r>
          </a:p>
        </p:txBody>
      </p:sp>
      <p:sp>
        <p:nvSpPr>
          <p:cNvPr id="3" name="Subtitle 2"/>
          <p:cNvSpPr>
            <a:spLocks noGrp="1"/>
          </p:cNvSpPr>
          <p:nvPr>
            <p:ph type="subTitle" idx="1"/>
          </p:nvPr>
        </p:nvSpPr>
        <p:spPr>
          <a:xfrm>
            <a:off x="3307549" y="2209800"/>
            <a:ext cx="6400800" cy="2362200"/>
          </a:xfrm>
        </p:spPr>
        <p:txBody>
          <a:bodyPr/>
          <a:lstStyle/>
          <a:p>
            <a:pPr marL="457200" indent="-457200" algn="l">
              <a:buFont typeface="Arial" panose="020B0604020202020204" pitchFamily="34" charset="0"/>
              <a:buChar char="•"/>
            </a:pPr>
            <a:r>
              <a:rPr lang="en-US" b="1">
                <a:solidFill>
                  <a:schemeClr val="tx1"/>
                </a:solidFill>
              </a:rPr>
              <a:t>Starvation Effect</a:t>
            </a:r>
          </a:p>
          <a:p>
            <a:pPr marL="457200" indent="-457200" algn="l">
              <a:buFont typeface="Arial" panose="020B0604020202020204" pitchFamily="34" charset="0"/>
              <a:buChar char="•"/>
            </a:pPr>
            <a:r>
              <a:rPr lang="en-US" b="1">
                <a:solidFill>
                  <a:schemeClr val="tx1"/>
                </a:solidFill>
              </a:rPr>
              <a:t>Environmental Effect</a:t>
            </a:r>
          </a:p>
          <a:p>
            <a:pPr marL="457200" indent="-457200" algn="l">
              <a:buFont typeface="Arial" panose="020B0604020202020204" pitchFamily="34" charset="0"/>
              <a:buChar char="•"/>
            </a:pPr>
            <a:r>
              <a:rPr lang="en-US" b="1">
                <a:solidFill>
                  <a:schemeClr val="tx1"/>
                </a:solidFill>
              </a:rPr>
              <a:t>Adhesion Effect</a:t>
            </a:r>
          </a:p>
          <a:p>
            <a:endParaRPr lang="en-US">
              <a:solidFill>
                <a:schemeClr val="tx1"/>
              </a:solidFill>
            </a:endParaRPr>
          </a:p>
          <a:p>
            <a:endParaRPr lang="en-US">
              <a:solidFill>
                <a:schemeClr val="tx1"/>
              </a:solidFill>
            </a:endParaRPr>
          </a:p>
        </p:txBody>
      </p:sp>
      <p:sp>
        <p:nvSpPr>
          <p:cNvPr id="4" name="Rectangle 3"/>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1664270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lumMod val="75000"/>
                  </a:schemeClr>
                </a:solidFill>
              </a:rPr>
              <a:t>Starvation Effect</a:t>
            </a:r>
          </a:p>
        </p:txBody>
      </p:sp>
      <p:sp>
        <p:nvSpPr>
          <p:cNvPr id="3" name="Content Placeholder 2"/>
          <p:cNvSpPr>
            <a:spLocks noGrp="1"/>
          </p:cNvSpPr>
          <p:nvPr>
            <p:ph idx="1"/>
          </p:nvPr>
        </p:nvSpPr>
        <p:spPr/>
        <p:txBody>
          <a:bodyPr/>
          <a:lstStyle/>
          <a:p>
            <a:r>
              <a:rPr lang="en-US" b="1"/>
              <a:t>S. mutans readily absorbs xylitol</a:t>
            </a:r>
          </a:p>
          <a:p>
            <a:r>
              <a:rPr lang="en-US" b="1"/>
              <a:t>S. mutans cannot metabolize xylitol, the bacteria that have absorbed xylitol starve</a:t>
            </a:r>
          </a:p>
        </p:txBody>
      </p:sp>
    </p:spTree>
    <p:extLst>
      <p:ext uri="{BB962C8B-B14F-4D97-AF65-F5344CB8AC3E}">
        <p14:creationId xmlns:p14="http://schemas.microsoft.com/office/powerpoint/2010/main" val="3058141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04800"/>
            <a:ext cx="8229600" cy="1143000"/>
          </a:xfrm>
        </p:spPr>
        <p:txBody>
          <a:bodyPr>
            <a:normAutofit fontScale="90000"/>
          </a:bodyPr>
          <a:lstStyle/>
          <a:p>
            <a:r>
              <a:rPr lang="en-US">
                <a:solidFill>
                  <a:schemeClr val="accent6">
                    <a:lumMod val="75000"/>
                  </a:schemeClr>
                </a:solidFill>
              </a:rPr>
              <a:t>Environmental Effect</a:t>
            </a:r>
            <a:br>
              <a:rPr lang="en-US">
                <a:solidFill>
                  <a:schemeClr val="accent6">
                    <a:lumMod val="75000"/>
                  </a:schemeClr>
                </a:solidFill>
              </a:rPr>
            </a:br>
            <a:endParaRPr lang="en-US">
              <a:solidFill>
                <a:schemeClr val="accent6">
                  <a:lumMod val="75000"/>
                </a:schemeClr>
              </a:solidFill>
            </a:endParaRPr>
          </a:p>
        </p:txBody>
      </p:sp>
      <p:sp>
        <p:nvSpPr>
          <p:cNvPr id="3" name="Content Placeholder 2"/>
          <p:cNvSpPr>
            <a:spLocks noGrp="1"/>
          </p:cNvSpPr>
          <p:nvPr>
            <p:ph idx="1"/>
          </p:nvPr>
        </p:nvSpPr>
        <p:spPr/>
        <p:txBody>
          <a:bodyPr/>
          <a:lstStyle/>
          <a:p>
            <a:r>
              <a:rPr lang="en-US" b="1"/>
              <a:t>S. mutans is acidophilic and acidogenic</a:t>
            </a:r>
          </a:p>
          <a:p>
            <a:r>
              <a:rPr lang="en-US" b="1"/>
              <a:t>As some of the S. mutans starve and die, the plaque biofilm becomes less acidic, less hospitable to acidophilic bacteria. </a:t>
            </a:r>
          </a:p>
          <a:p>
            <a:r>
              <a:rPr lang="en-US" b="1"/>
              <a:t>The biome slowly shifts to less cariogenic bacteria </a:t>
            </a:r>
          </a:p>
        </p:txBody>
      </p:sp>
    </p:spTree>
    <p:extLst>
      <p:ext uri="{BB962C8B-B14F-4D97-AF65-F5344CB8AC3E}">
        <p14:creationId xmlns:p14="http://schemas.microsoft.com/office/powerpoint/2010/main" val="405547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6">
                    <a:lumMod val="75000"/>
                  </a:schemeClr>
                </a:solidFill>
              </a:rPr>
              <a:t>Adhesion Effect</a:t>
            </a:r>
            <a:br>
              <a:rPr lang="en-US">
                <a:solidFill>
                  <a:schemeClr val="accent6">
                    <a:lumMod val="75000"/>
                  </a:schemeClr>
                </a:solidFill>
              </a:rPr>
            </a:br>
            <a:endParaRPr lang="en-US">
              <a:solidFill>
                <a:schemeClr val="accent6">
                  <a:lumMod val="75000"/>
                </a:schemeClr>
              </a:solidFill>
            </a:endParaRPr>
          </a:p>
        </p:txBody>
      </p:sp>
      <p:sp>
        <p:nvSpPr>
          <p:cNvPr id="3" name="Content Placeholder 2"/>
          <p:cNvSpPr>
            <a:spLocks noGrp="1"/>
          </p:cNvSpPr>
          <p:nvPr>
            <p:ph idx="1"/>
          </p:nvPr>
        </p:nvSpPr>
        <p:spPr/>
        <p:txBody>
          <a:bodyPr/>
          <a:lstStyle/>
          <a:p>
            <a:r>
              <a:rPr lang="en-US" b="1"/>
              <a:t>As the plaque biome shifts, the replacement bacteria, while still acidogenic, are less able to adhere to tooth surfaces long enough to foster demineralization and caries .</a:t>
            </a:r>
          </a:p>
          <a:p>
            <a:endParaRPr lang="en-US"/>
          </a:p>
        </p:txBody>
      </p:sp>
    </p:spTree>
    <p:extLst>
      <p:ext uri="{BB962C8B-B14F-4D97-AF65-F5344CB8AC3E}">
        <p14:creationId xmlns:p14="http://schemas.microsoft.com/office/powerpoint/2010/main" val="1018398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3244065"/>
            <a:ext cx="8382000" cy="3046988"/>
          </a:xfrm>
          <a:prstGeom prst="rect">
            <a:avLst/>
          </a:prstGeom>
        </p:spPr>
        <p:txBody>
          <a:bodyPr wrap="square">
            <a:spAutoFit/>
          </a:bodyPr>
          <a:lstStyle/>
          <a:p>
            <a:r>
              <a:rPr lang="en-US" sz="3200"/>
              <a:t>Those in the test group (n = 51) chewed a commercial xylitol gum three times daily for a minimum of five minutes each time for three months. The placebo group subjects (n = 50) used a commercial sorbitol gum, and the control group subjects (n = 50) did not chew gum. </a:t>
            </a:r>
          </a:p>
        </p:txBody>
      </p:sp>
      <p:sp>
        <p:nvSpPr>
          <p:cNvPr id="3" name="Rectangle 2"/>
          <p:cNvSpPr/>
          <p:nvPr/>
        </p:nvSpPr>
        <p:spPr>
          <a:xfrm>
            <a:off x="2209800" y="304800"/>
            <a:ext cx="8229600" cy="1754326"/>
          </a:xfrm>
          <a:prstGeom prst="rect">
            <a:avLst/>
          </a:prstGeom>
        </p:spPr>
        <p:txBody>
          <a:bodyPr wrap="square">
            <a:spAutoFit/>
          </a:bodyPr>
          <a:lstStyle/>
          <a:p>
            <a:r>
              <a:rPr lang="en-US" sz="3600">
                <a:solidFill>
                  <a:schemeClr val="accent6">
                    <a:lumMod val="75000"/>
                  </a:schemeClr>
                </a:solidFill>
              </a:rPr>
              <a:t>MAINTAINING MUTANS STREPTOCOCCI SUPPRESSION WITH XYLITOL CHEWING GUM</a:t>
            </a:r>
          </a:p>
        </p:txBody>
      </p:sp>
      <p:sp>
        <p:nvSpPr>
          <p:cNvPr id="4" name="Rectangle 3"/>
          <p:cNvSpPr/>
          <p:nvPr/>
        </p:nvSpPr>
        <p:spPr>
          <a:xfrm>
            <a:off x="2286000" y="2059127"/>
            <a:ext cx="7467600" cy="954107"/>
          </a:xfrm>
          <a:prstGeom prst="rect">
            <a:avLst/>
          </a:prstGeom>
        </p:spPr>
        <p:txBody>
          <a:bodyPr wrap="square">
            <a:spAutoFit/>
          </a:bodyPr>
          <a:lstStyle/>
          <a:p>
            <a:r>
              <a:rPr lang="en-US"/>
              <a:t> </a:t>
            </a:r>
            <a:r>
              <a:rPr lang="en-US" sz="2800">
                <a:solidFill>
                  <a:srgbClr val="92D050"/>
                </a:solidFill>
              </a:rPr>
              <a:t>Subjects rinsed with 0.12 percent CHX gluconate </a:t>
            </a:r>
            <a:r>
              <a:rPr lang="en-US" sz="2800" err="1">
                <a:solidFill>
                  <a:srgbClr val="92D050"/>
                </a:solidFill>
              </a:rPr>
              <a:t>mouthrinse</a:t>
            </a:r>
            <a:r>
              <a:rPr lang="en-US" sz="2800">
                <a:solidFill>
                  <a:srgbClr val="92D050"/>
                </a:solidFill>
              </a:rPr>
              <a:t> twice daily for 14 days. </a:t>
            </a:r>
          </a:p>
        </p:txBody>
      </p:sp>
      <p:sp>
        <p:nvSpPr>
          <p:cNvPr id="5" name="Rectangle 4"/>
          <p:cNvSpPr/>
          <p:nvPr/>
        </p:nvSpPr>
        <p:spPr>
          <a:xfrm>
            <a:off x="9067801" y="6593491"/>
            <a:ext cx="1301959" cy="215444"/>
          </a:xfrm>
          <a:prstGeom prst="rect">
            <a:avLst/>
          </a:prstGeom>
        </p:spPr>
        <p:txBody>
          <a:bodyPr wrap="none">
            <a:spAutoFit/>
          </a:bodyPr>
          <a:lstStyle/>
          <a:p>
            <a:r>
              <a:rPr lang="en-US" sz="800"/>
              <a:t>M.O. Coover, DDS, MAGD</a:t>
            </a:r>
          </a:p>
        </p:txBody>
      </p:sp>
      <p:sp>
        <p:nvSpPr>
          <p:cNvPr id="6" name="Text Box 3"/>
          <p:cNvSpPr txBox="1">
            <a:spLocks noChangeArrowheads="1"/>
          </p:cNvSpPr>
          <p:nvPr/>
        </p:nvSpPr>
        <p:spPr bwMode="auto">
          <a:xfrm>
            <a:off x="3581400" y="6466533"/>
            <a:ext cx="4038600" cy="415498"/>
          </a:xfrm>
          <a:prstGeom prst="rect">
            <a:avLst/>
          </a:prstGeom>
          <a:solidFill>
            <a:schemeClr val="bg1">
              <a:lumMod val="85000"/>
            </a:schemeClr>
          </a:solidFill>
          <a:ln w="12700">
            <a:noFill/>
            <a:miter lim="800000"/>
            <a:headEnd/>
            <a:tailEnd/>
          </a:ln>
          <a:effectLst/>
        </p:spPr>
        <p:txBody>
          <a:bodyPr wrap="square">
            <a:spAutoFit/>
          </a:bodyPr>
          <a:lstStyle/>
          <a:p>
            <a:r>
              <a:rPr lang="en-US" sz="1050">
                <a:solidFill>
                  <a:schemeClr val="tx2"/>
                </a:solidFill>
                <a:effectLst>
                  <a:outerShdw blurRad="38100" dist="38100" dir="2700000" algn="tl">
                    <a:srgbClr val="000000"/>
                  </a:outerShdw>
                </a:effectLst>
              </a:rPr>
              <a:t>Hildebrandt </a:t>
            </a:r>
            <a:r>
              <a:rPr lang="en-US" sz="1050" err="1">
                <a:solidFill>
                  <a:schemeClr val="tx2"/>
                </a:solidFill>
                <a:effectLst>
                  <a:outerShdw blurRad="38100" dist="38100" dir="2700000" algn="tl">
                    <a:srgbClr val="000000"/>
                  </a:outerShdw>
                </a:effectLst>
              </a:rPr>
              <a:t>Gh</a:t>
            </a:r>
            <a:r>
              <a:rPr lang="en-US" sz="1050">
                <a:solidFill>
                  <a:schemeClr val="tx2"/>
                </a:solidFill>
                <a:effectLst>
                  <a:outerShdw blurRad="38100" dist="38100" dir="2700000" algn="tl">
                    <a:srgbClr val="000000"/>
                  </a:outerShdw>
                </a:effectLst>
              </a:rPr>
              <a:t>, Sparks BS, J Am Dent </a:t>
            </a:r>
            <a:r>
              <a:rPr lang="en-US" sz="1050" err="1">
                <a:solidFill>
                  <a:schemeClr val="tx2"/>
                </a:solidFill>
                <a:effectLst>
                  <a:outerShdw blurRad="38100" dist="38100" dir="2700000" algn="tl">
                    <a:srgbClr val="000000"/>
                  </a:outerShdw>
                </a:effectLst>
              </a:rPr>
              <a:t>Assoc</a:t>
            </a:r>
            <a:r>
              <a:rPr lang="en-US" sz="1050">
                <a:solidFill>
                  <a:schemeClr val="tx2"/>
                </a:solidFill>
                <a:effectLst>
                  <a:outerShdw blurRad="38100" dist="38100" dir="2700000" algn="tl">
                    <a:srgbClr val="000000"/>
                  </a:outerShdw>
                </a:effectLst>
              </a:rPr>
              <a:t>, 2000; 131 (</a:t>
            </a:r>
            <a:r>
              <a:rPr lang="en-US" sz="1050" err="1">
                <a:solidFill>
                  <a:schemeClr val="tx2"/>
                </a:solidFill>
                <a:effectLst>
                  <a:outerShdw blurRad="38100" dist="38100" dir="2700000" algn="tl">
                    <a:srgbClr val="000000"/>
                  </a:outerShdw>
                </a:effectLst>
              </a:rPr>
              <a:t>JUly</a:t>
            </a:r>
            <a:r>
              <a:rPr lang="en-US" sz="1050">
                <a:solidFill>
                  <a:schemeClr val="tx2"/>
                </a:solidFill>
                <a:effectLst>
                  <a:outerShdw blurRad="38100" dist="38100" dir="2700000" algn="tl">
                    <a:srgbClr val="000000"/>
                  </a:outerShdw>
                </a:effectLst>
              </a:rPr>
              <a:t>): 909-916</a:t>
            </a:r>
            <a:endParaRPr lang="en-US" sz="1050">
              <a:effectLst>
                <a:outerShdw blurRad="38100" dist="38100" dir="2700000" algn="tl">
                  <a:srgbClr val="000000"/>
                </a:outerShdw>
              </a:effectLst>
            </a:endParaRPr>
          </a:p>
        </p:txBody>
      </p:sp>
    </p:spTree>
    <p:extLst>
      <p:ext uri="{BB962C8B-B14F-4D97-AF65-F5344CB8AC3E}">
        <p14:creationId xmlns:p14="http://schemas.microsoft.com/office/powerpoint/2010/main" val="3985642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528482" y="990600"/>
            <a:ext cx="8854796" cy="3539430"/>
          </a:xfrm>
          <a:prstGeom prst="rect">
            <a:avLst/>
          </a:prstGeom>
          <a:solidFill>
            <a:schemeClr val="bg1">
              <a:lumMod val="85000"/>
            </a:schemeClr>
          </a:solidFill>
          <a:ln w="12700">
            <a:noFill/>
            <a:miter lim="800000"/>
            <a:headEnd/>
            <a:tailEnd/>
          </a:ln>
          <a:effectLst/>
        </p:spPr>
        <p:txBody>
          <a:bodyPr wrap="none">
            <a:spAutoFit/>
          </a:bodyPr>
          <a:lstStyle/>
          <a:p>
            <a:r>
              <a:rPr lang="en-US" sz="2800">
                <a:effectLst>
                  <a:outerShdw blurRad="38100" dist="38100" dir="2700000" algn="tl">
                    <a:srgbClr val="000000"/>
                  </a:outerShdw>
                </a:effectLst>
              </a:rPr>
              <a:t>“At 3 months after CHX rinsing, mean MS levels increased </a:t>
            </a:r>
          </a:p>
          <a:p>
            <a:r>
              <a:rPr lang="en-US" sz="2800">
                <a:effectLst>
                  <a:outerShdw blurRad="38100" dist="38100" dir="2700000" algn="tl">
                    <a:srgbClr val="000000"/>
                  </a:outerShdw>
                </a:effectLst>
              </a:rPr>
              <a:t>toward baseline but at different rates.  The placebo group </a:t>
            </a:r>
          </a:p>
          <a:p>
            <a:r>
              <a:rPr lang="en-US" sz="2800">
                <a:effectLst>
                  <a:outerShdw blurRad="38100" dist="38100" dir="2700000" algn="tl">
                    <a:srgbClr val="000000"/>
                  </a:outerShdw>
                </a:effectLst>
              </a:rPr>
              <a:t>increased 40-fold, the control group increased 25-fold, and</a:t>
            </a:r>
          </a:p>
          <a:p>
            <a:r>
              <a:rPr lang="en-US" sz="2800">
                <a:effectLst>
                  <a:outerShdw blurRad="38100" dist="38100" dir="2700000" algn="tl">
                    <a:srgbClr val="000000"/>
                  </a:outerShdw>
                </a:effectLst>
              </a:rPr>
              <a:t>the test group had an 8-fold increase...”</a:t>
            </a:r>
          </a:p>
          <a:p>
            <a:endParaRPr lang="en-US" sz="2800">
              <a:effectLst>
                <a:outerShdw blurRad="38100" dist="38100" dir="2700000" algn="tl">
                  <a:srgbClr val="000000"/>
                </a:outerShdw>
              </a:effectLst>
            </a:endParaRPr>
          </a:p>
          <a:p>
            <a:r>
              <a:rPr lang="en-US" sz="2800" b="1">
                <a:effectLst>
                  <a:outerShdw blurRad="38100" dist="38100" dir="2700000" algn="tl">
                    <a:srgbClr val="000000"/>
                  </a:outerShdw>
                </a:effectLst>
              </a:rPr>
              <a:t>Conclusion:  The use of xylitol chewing gum significantly</a:t>
            </a:r>
          </a:p>
          <a:p>
            <a:r>
              <a:rPr lang="en-US" sz="2800" b="1">
                <a:effectLst>
                  <a:outerShdw blurRad="38100" dist="38100" dir="2700000" algn="tl">
                    <a:srgbClr val="000000"/>
                  </a:outerShdw>
                </a:effectLst>
              </a:rPr>
              <a:t>delays the return of oral MS after therapeutic use</a:t>
            </a:r>
          </a:p>
          <a:p>
            <a:r>
              <a:rPr lang="en-US" sz="2800" b="1">
                <a:effectLst>
                  <a:outerShdw blurRad="38100" dist="38100" dir="2700000" algn="tl">
                    <a:srgbClr val="000000"/>
                  </a:outerShdw>
                </a:effectLst>
              </a:rPr>
              <a:t>of a CHX </a:t>
            </a:r>
            <a:r>
              <a:rPr lang="en-US" sz="2800" b="1" err="1">
                <a:effectLst>
                  <a:outerShdw blurRad="38100" dist="38100" dir="2700000" algn="tl">
                    <a:srgbClr val="000000"/>
                  </a:outerShdw>
                </a:effectLst>
              </a:rPr>
              <a:t>mouthrinse</a:t>
            </a:r>
            <a:r>
              <a:rPr lang="en-US" sz="2800" b="1">
                <a:effectLst>
                  <a:outerShdw blurRad="38100" dist="38100" dir="2700000" algn="tl">
                    <a:srgbClr val="000000"/>
                  </a:outerShdw>
                </a:effectLst>
              </a:rPr>
              <a:t>.</a:t>
            </a:r>
          </a:p>
        </p:txBody>
      </p:sp>
      <p:sp>
        <p:nvSpPr>
          <p:cNvPr id="3" name="Text Box 4"/>
          <p:cNvSpPr txBox="1">
            <a:spLocks noChangeArrowheads="1"/>
          </p:cNvSpPr>
          <p:nvPr/>
        </p:nvSpPr>
        <p:spPr bwMode="auto">
          <a:xfrm>
            <a:off x="1981200" y="4800601"/>
            <a:ext cx="6000104" cy="830997"/>
          </a:xfrm>
          <a:prstGeom prst="rect">
            <a:avLst/>
          </a:prstGeom>
          <a:solidFill>
            <a:schemeClr val="bg1">
              <a:lumMod val="85000"/>
            </a:schemeClr>
          </a:solidFill>
          <a:ln w="12700">
            <a:noFill/>
            <a:miter lim="800000"/>
            <a:headEnd/>
            <a:tailEnd/>
          </a:ln>
          <a:effectLst/>
        </p:spPr>
        <p:txBody>
          <a:bodyPr wrap="none">
            <a:spAutoFit/>
          </a:bodyPr>
          <a:lstStyle/>
          <a:p>
            <a:r>
              <a:rPr lang="en-US" sz="2400">
                <a:solidFill>
                  <a:schemeClr val="tx2"/>
                </a:solidFill>
                <a:effectLst>
                  <a:outerShdw blurRad="38100" dist="38100" dir="2700000" algn="tl">
                    <a:srgbClr val="000000"/>
                  </a:outerShdw>
                </a:effectLst>
              </a:rPr>
              <a:t>Maintaining Mutans Streptococci Suppression</a:t>
            </a:r>
          </a:p>
          <a:p>
            <a:r>
              <a:rPr lang="en-US" sz="2400">
                <a:solidFill>
                  <a:schemeClr val="tx2"/>
                </a:solidFill>
                <a:effectLst>
                  <a:outerShdw blurRad="38100" dist="38100" dir="2700000" algn="tl">
                    <a:srgbClr val="000000"/>
                  </a:outerShdw>
                </a:effectLst>
              </a:rPr>
              <a:t>With Xylitol Chewing Gum</a:t>
            </a:r>
          </a:p>
        </p:txBody>
      </p:sp>
      <p:sp>
        <p:nvSpPr>
          <p:cNvPr id="4" name="Text Box 3"/>
          <p:cNvSpPr txBox="1">
            <a:spLocks noChangeArrowheads="1"/>
          </p:cNvSpPr>
          <p:nvPr/>
        </p:nvSpPr>
        <p:spPr bwMode="auto">
          <a:xfrm>
            <a:off x="2667000" y="6285715"/>
            <a:ext cx="6172200" cy="415498"/>
          </a:xfrm>
          <a:prstGeom prst="rect">
            <a:avLst/>
          </a:prstGeom>
          <a:solidFill>
            <a:schemeClr val="bg1">
              <a:lumMod val="85000"/>
            </a:schemeClr>
          </a:solidFill>
          <a:ln w="12700">
            <a:noFill/>
            <a:miter lim="800000"/>
            <a:headEnd/>
            <a:tailEnd/>
          </a:ln>
          <a:effectLst/>
        </p:spPr>
        <p:txBody>
          <a:bodyPr wrap="square">
            <a:spAutoFit/>
          </a:bodyPr>
          <a:lstStyle/>
          <a:p>
            <a:r>
              <a:rPr lang="en-US" sz="1050">
                <a:solidFill>
                  <a:schemeClr val="tx2"/>
                </a:solidFill>
                <a:effectLst>
                  <a:outerShdw blurRad="38100" dist="38100" dir="2700000" algn="tl">
                    <a:srgbClr val="000000"/>
                  </a:outerShdw>
                </a:effectLst>
              </a:rPr>
              <a:t>Maintaining </a:t>
            </a:r>
            <a:r>
              <a:rPr lang="en-US" sz="1050" err="1">
                <a:solidFill>
                  <a:schemeClr val="tx2"/>
                </a:solidFill>
                <a:effectLst>
                  <a:outerShdw blurRad="38100" dist="38100" dir="2700000" algn="tl">
                    <a:srgbClr val="000000"/>
                  </a:outerShdw>
                </a:effectLst>
              </a:rPr>
              <a:t>Mutans</a:t>
            </a:r>
            <a:r>
              <a:rPr lang="en-US" sz="1050">
                <a:solidFill>
                  <a:schemeClr val="tx2"/>
                </a:solidFill>
                <a:effectLst>
                  <a:outerShdw blurRad="38100" dist="38100" dir="2700000" algn="tl">
                    <a:srgbClr val="000000"/>
                  </a:outerShdw>
                </a:effectLst>
              </a:rPr>
              <a:t> Streptococci Suppression With Xylitol Chewing Gum</a:t>
            </a:r>
          </a:p>
          <a:p>
            <a:r>
              <a:rPr lang="en-US" sz="1050">
                <a:solidFill>
                  <a:schemeClr val="tx2"/>
                </a:solidFill>
                <a:effectLst>
                  <a:outerShdw blurRad="38100" dist="38100" dir="2700000" algn="tl">
                    <a:srgbClr val="000000"/>
                  </a:outerShdw>
                </a:effectLst>
              </a:rPr>
              <a:t> Hildebrandt </a:t>
            </a:r>
            <a:r>
              <a:rPr lang="en-US" sz="1050" err="1">
                <a:solidFill>
                  <a:schemeClr val="tx2"/>
                </a:solidFill>
                <a:effectLst>
                  <a:outerShdw blurRad="38100" dist="38100" dir="2700000" algn="tl">
                    <a:srgbClr val="000000"/>
                  </a:outerShdw>
                </a:effectLst>
              </a:rPr>
              <a:t>Gh</a:t>
            </a:r>
            <a:r>
              <a:rPr lang="en-US" sz="1050">
                <a:solidFill>
                  <a:schemeClr val="tx2"/>
                </a:solidFill>
                <a:effectLst>
                  <a:outerShdw blurRad="38100" dist="38100" dir="2700000" algn="tl">
                    <a:srgbClr val="000000"/>
                  </a:outerShdw>
                </a:effectLst>
              </a:rPr>
              <a:t>, Sparks BS, J Am Dent </a:t>
            </a:r>
            <a:r>
              <a:rPr lang="en-US" sz="1050" err="1">
                <a:solidFill>
                  <a:schemeClr val="tx2"/>
                </a:solidFill>
                <a:effectLst>
                  <a:outerShdw blurRad="38100" dist="38100" dir="2700000" algn="tl">
                    <a:srgbClr val="000000"/>
                  </a:outerShdw>
                </a:effectLst>
              </a:rPr>
              <a:t>Assoc</a:t>
            </a:r>
            <a:r>
              <a:rPr lang="en-US" sz="1050">
                <a:solidFill>
                  <a:schemeClr val="tx2"/>
                </a:solidFill>
                <a:effectLst>
                  <a:outerShdw blurRad="38100" dist="38100" dir="2700000" algn="tl">
                    <a:srgbClr val="000000"/>
                  </a:outerShdw>
                </a:effectLst>
              </a:rPr>
              <a:t>, 2000; 131 (</a:t>
            </a:r>
            <a:r>
              <a:rPr lang="en-US" sz="1050" err="1">
                <a:solidFill>
                  <a:schemeClr val="tx2"/>
                </a:solidFill>
                <a:effectLst>
                  <a:outerShdw blurRad="38100" dist="38100" dir="2700000" algn="tl">
                    <a:srgbClr val="000000"/>
                  </a:outerShdw>
                </a:effectLst>
              </a:rPr>
              <a:t>JUly</a:t>
            </a:r>
            <a:r>
              <a:rPr lang="en-US" sz="1050">
                <a:solidFill>
                  <a:schemeClr val="tx2"/>
                </a:solidFill>
                <a:effectLst>
                  <a:outerShdw blurRad="38100" dist="38100" dir="2700000" algn="tl">
                    <a:srgbClr val="000000"/>
                  </a:outerShdw>
                </a:effectLst>
              </a:rPr>
              <a:t>): 909-916</a:t>
            </a:r>
            <a:endParaRPr lang="en-US" sz="1050">
              <a:effectLst>
                <a:outerShdw blurRad="38100" dist="38100" dir="2700000" algn="tl">
                  <a:srgbClr val="000000"/>
                </a:outerShdw>
              </a:effectLst>
            </a:endParaRPr>
          </a:p>
        </p:txBody>
      </p:sp>
      <p:sp>
        <p:nvSpPr>
          <p:cNvPr id="5" name="Rectangle 4"/>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2465030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698865" y="1034937"/>
            <a:ext cx="6870471" cy="4800602"/>
          </a:xfrm>
        </p:spPr>
      </p:pic>
      <p:sp>
        <p:nvSpPr>
          <p:cNvPr id="2" name="Title 1"/>
          <p:cNvSpPr>
            <a:spLocks noGrp="1"/>
          </p:cNvSpPr>
          <p:nvPr>
            <p:ph type="title"/>
          </p:nvPr>
        </p:nvSpPr>
        <p:spPr>
          <a:xfrm>
            <a:off x="1362075" y="751791"/>
            <a:ext cx="2886075" cy="1143000"/>
          </a:xfrm>
        </p:spPr>
        <p:txBody>
          <a:bodyPr>
            <a:normAutofit fontScale="90000"/>
          </a:bodyPr>
          <a:lstStyle/>
          <a:p>
            <a:r>
              <a:rPr lang="en-US" sz="4800" b="1" dirty="0"/>
              <a:t>A Word about Dogs</a:t>
            </a:r>
          </a:p>
        </p:txBody>
      </p:sp>
      <p:sp>
        <p:nvSpPr>
          <p:cNvPr id="5" name="TextBox 4"/>
          <p:cNvSpPr txBox="1"/>
          <p:nvPr/>
        </p:nvSpPr>
        <p:spPr>
          <a:xfrm>
            <a:off x="1600199" y="2886076"/>
            <a:ext cx="2133600" cy="646331"/>
          </a:xfrm>
          <a:prstGeom prst="rect">
            <a:avLst/>
          </a:prstGeom>
          <a:noFill/>
        </p:spPr>
        <p:txBody>
          <a:bodyPr wrap="square" rtlCol="0">
            <a:spAutoFit/>
          </a:bodyPr>
          <a:lstStyle/>
          <a:p>
            <a:r>
              <a:rPr lang="en-US" dirty="0"/>
              <a:t>GCH Geordi, CGC, CGC-U, CGC-A</a:t>
            </a:r>
          </a:p>
        </p:txBody>
      </p:sp>
      <p:sp>
        <p:nvSpPr>
          <p:cNvPr id="6" name="Rectangle 5"/>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3776260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0" y="304800"/>
            <a:ext cx="8153400" cy="2677656"/>
          </a:xfrm>
          <a:prstGeom prst="rect">
            <a:avLst/>
          </a:prstGeom>
        </p:spPr>
        <p:txBody>
          <a:bodyPr wrap="square">
            <a:spAutoFit/>
          </a:bodyPr>
          <a:lstStyle/>
          <a:p>
            <a:r>
              <a:rPr lang="en-US" sz="2400" b="1">
                <a:solidFill>
                  <a:schemeClr val="accent2"/>
                </a:solidFill>
                <a:latin typeface="Open Sans" panose="020B0606030504020204" pitchFamily="34" charset="0"/>
              </a:rPr>
              <a:t>In humans, Xylitol is absorbed slowly and has no measurable effect on insulin production</a:t>
            </a:r>
            <a:r>
              <a:rPr lang="en-US" sz="2400" b="1">
                <a:latin typeface="Open Sans" panose="020B0606030504020204" pitchFamily="34" charset="0"/>
              </a:rPr>
              <a:t>. </a:t>
            </a:r>
          </a:p>
          <a:p>
            <a:endParaRPr lang="en-US" sz="2400">
              <a:latin typeface="Open Sans" panose="020B0606030504020204" pitchFamily="34" charset="0"/>
            </a:endParaRPr>
          </a:p>
          <a:p>
            <a:r>
              <a:rPr lang="en-US" sz="2400">
                <a:latin typeface="Open Sans" panose="020B0606030504020204" pitchFamily="34" charset="0"/>
              </a:rPr>
              <a:t>Unfortunately, the same cannot be said about dogs.  </a:t>
            </a:r>
            <a:r>
              <a:rPr lang="en-US" sz="2400" b="1">
                <a:solidFill>
                  <a:schemeClr val="accent6">
                    <a:lumMod val="75000"/>
                  </a:schemeClr>
                </a:solidFill>
                <a:latin typeface="Open Sans" panose="020B0606030504020204" pitchFamily="34" charset="0"/>
              </a:rPr>
              <a:t>When dogs eat Xylitol, their bodies mistakenly think that they’ve ingested a huge amount of glucose and start producing large amounts of insulin.</a:t>
            </a:r>
            <a:endParaRPr lang="en-US" sz="2400" b="1">
              <a:solidFill>
                <a:schemeClr val="accent6">
                  <a:lumMod val="75000"/>
                </a:schemeClr>
              </a:solidFill>
            </a:endParaRPr>
          </a:p>
        </p:txBody>
      </p:sp>
      <p:sp>
        <p:nvSpPr>
          <p:cNvPr id="4" name="Rectangle 3"/>
          <p:cNvSpPr/>
          <p:nvPr/>
        </p:nvSpPr>
        <p:spPr>
          <a:xfrm>
            <a:off x="2214282" y="3200401"/>
            <a:ext cx="7772400" cy="3508653"/>
          </a:xfrm>
          <a:prstGeom prst="rect">
            <a:avLst/>
          </a:prstGeom>
        </p:spPr>
        <p:txBody>
          <a:bodyPr wrap="square">
            <a:spAutoFit/>
          </a:bodyPr>
          <a:lstStyle/>
          <a:p>
            <a:pPr fontAlgn="base"/>
            <a:r>
              <a:rPr lang="en-US" sz="2400" b="1" dirty="0">
                <a:solidFill>
                  <a:srgbClr val="FFC000"/>
                </a:solidFill>
                <a:latin typeface="Open Sans" panose="020B0606030504020204" pitchFamily="34" charset="0"/>
              </a:rPr>
              <a:t>When this happen, the dog’s cells start rapidly taking up glucose from the bloodstream. This can lead to hypoglycemia (low blood sugar levels) and is fatal if not treated immediately</a:t>
            </a:r>
            <a:r>
              <a:rPr lang="en-US" sz="2400" b="1" dirty="0">
                <a:solidFill>
                  <a:srgbClr val="FF0000"/>
                </a:solidFill>
                <a:latin typeface="Open Sans" panose="020B0606030504020204" pitchFamily="34" charset="0"/>
              </a:rPr>
              <a:t>.</a:t>
            </a:r>
          </a:p>
          <a:p>
            <a:pPr fontAlgn="base"/>
            <a:endParaRPr lang="en-US" b="1" dirty="0">
              <a:solidFill>
                <a:srgbClr val="FFFF00"/>
              </a:solidFill>
              <a:latin typeface="Open Sans" panose="020B0606030504020204" pitchFamily="34" charset="0"/>
            </a:endParaRPr>
          </a:p>
          <a:p>
            <a:pPr fontAlgn="base"/>
            <a:r>
              <a:rPr lang="en-US" b="1" dirty="0">
                <a:solidFill>
                  <a:srgbClr val="FFFF00"/>
                </a:solidFill>
                <a:latin typeface="Open Sans" panose="020B0606030504020204" pitchFamily="34" charset="0"/>
              </a:rPr>
              <a:t>Xylitol may also have detrimental effects on liver function in dogs, with high doses causing liver failure.</a:t>
            </a:r>
          </a:p>
          <a:p>
            <a:pPr fontAlgn="base"/>
            <a:endParaRPr lang="en-US" dirty="0">
              <a:latin typeface="Open Sans" panose="020B0606030504020204" pitchFamily="34" charset="0"/>
            </a:endParaRPr>
          </a:p>
          <a:p>
            <a:pPr fontAlgn="base"/>
            <a:r>
              <a:rPr lang="en-US" dirty="0">
                <a:latin typeface="Open Sans" panose="020B0606030504020204" pitchFamily="34" charset="0"/>
              </a:rPr>
              <a:t>So if you own a dog, then keep Xylitol out of reach (or out of your house altogether). If you believe your dog accidentally ate Xylitol, take it to the vet </a:t>
            </a:r>
            <a:r>
              <a:rPr lang="en-US" u="sng" dirty="0">
                <a:latin typeface="Open Sans" panose="020B0606030504020204" pitchFamily="34" charset="0"/>
              </a:rPr>
              <a:t>immediately</a:t>
            </a:r>
            <a:r>
              <a:rPr lang="en-US" dirty="0">
                <a:latin typeface="Open Sans" panose="020B0606030504020204" pitchFamily="34" charset="0"/>
              </a:rPr>
              <a:t>.</a:t>
            </a:r>
          </a:p>
        </p:txBody>
      </p:sp>
      <p:sp>
        <p:nvSpPr>
          <p:cNvPr id="5" name="Rectangle 4"/>
          <p:cNvSpPr/>
          <p:nvPr/>
        </p:nvSpPr>
        <p:spPr>
          <a:xfrm>
            <a:off x="9067801" y="6593491"/>
            <a:ext cx="1301959" cy="215444"/>
          </a:xfrm>
          <a:prstGeom prst="rect">
            <a:avLst/>
          </a:prstGeom>
        </p:spPr>
        <p:txBody>
          <a:bodyPr wrap="none">
            <a:spAutoFit/>
          </a:bodyPr>
          <a:lstStyle/>
          <a:p>
            <a:r>
              <a:rPr lang="en-US" sz="800"/>
              <a:t>M.O. Coover, DDS, MAGD</a:t>
            </a:r>
          </a:p>
        </p:txBody>
      </p:sp>
    </p:spTree>
    <p:extLst>
      <p:ext uri="{BB962C8B-B14F-4D97-AF65-F5344CB8AC3E}">
        <p14:creationId xmlns:p14="http://schemas.microsoft.com/office/powerpoint/2010/main" val="2419576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67801" y="6593491"/>
            <a:ext cx="1301959" cy="215444"/>
          </a:xfrm>
          <a:prstGeom prst="rect">
            <a:avLst/>
          </a:prstGeom>
        </p:spPr>
        <p:txBody>
          <a:bodyPr wrap="none">
            <a:spAutoFit/>
          </a:bodyPr>
          <a:lstStyle/>
          <a:p>
            <a:r>
              <a:rPr lang="en-US" sz="800"/>
              <a:t>M.O. Coover, DDS, MAGD</a:t>
            </a:r>
          </a:p>
        </p:txBody>
      </p:sp>
      <p:sp>
        <p:nvSpPr>
          <p:cNvPr id="8" name="Title 7"/>
          <p:cNvSpPr>
            <a:spLocks noGrp="1"/>
          </p:cNvSpPr>
          <p:nvPr>
            <p:ph type="title"/>
          </p:nvPr>
        </p:nvSpPr>
        <p:spPr/>
        <p:txBody>
          <a:bodyPr/>
          <a:lstStyle/>
          <a:p>
            <a:r>
              <a:rPr lang="en-US">
                <a:solidFill>
                  <a:schemeClr val="accent6">
                    <a:lumMod val="75000"/>
                  </a:schemeClr>
                </a:solidFill>
              </a:rPr>
              <a:t>Xylitol Occurs Naturally</a:t>
            </a:r>
          </a:p>
        </p:txBody>
      </p:sp>
      <p:sp>
        <p:nvSpPr>
          <p:cNvPr id="9" name="Content Placeholder 8"/>
          <p:cNvSpPr>
            <a:spLocks noGrp="1"/>
          </p:cNvSpPr>
          <p:nvPr>
            <p:ph idx="1"/>
          </p:nvPr>
        </p:nvSpPr>
        <p:spPr/>
        <p:txBody>
          <a:bodyPr>
            <a:normAutofit/>
          </a:bodyPr>
          <a:lstStyle/>
          <a:p>
            <a:r>
              <a:rPr lang="en-US" b="1"/>
              <a:t>Xylitol is found naturally in a number of fruits and vegetables (including strawberries, raspberries, pears, cauliflower and plums).</a:t>
            </a:r>
          </a:p>
          <a:p>
            <a:r>
              <a:rPr lang="en-US" b="1"/>
              <a:t>The human body produces between 5 and 15 grams of xylitol each day as it metabolizes carbohydrates. (It's an intermediate compound in the </a:t>
            </a:r>
            <a:r>
              <a:rPr lang="en-US" b="1" err="1"/>
              <a:t>glucuronate-xyulose</a:t>
            </a:r>
            <a:r>
              <a:rPr lang="en-US" b="1"/>
              <a:t> metabolic pathway.)</a:t>
            </a:r>
          </a:p>
          <a:p>
            <a:r>
              <a:rPr lang="en-US" b="1"/>
              <a:t>When manufactured, the starting agricultural product is usually birch trees or corn cobs.</a:t>
            </a:r>
          </a:p>
          <a:p>
            <a:endParaRPr lang="en-US"/>
          </a:p>
        </p:txBody>
      </p:sp>
    </p:spTree>
    <p:extLst>
      <p:ext uri="{BB962C8B-B14F-4D97-AF65-F5344CB8AC3E}">
        <p14:creationId xmlns:p14="http://schemas.microsoft.com/office/powerpoint/2010/main" val="2713553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lumMod val="75000"/>
                  </a:schemeClr>
                </a:solidFill>
              </a:rPr>
              <a:t>Xylitol Dosage</a:t>
            </a:r>
          </a:p>
        </p:txBody>
      </p:sp>
      <p:sp>
        <p:nvSpPr>
          <p:cNvPr id="3" name="Content Placeholder 2"/>
          <p:cNvSpPr>
            <a:spLocks noGrp="1"/>
          </p:cNvSpPr>
          <p:nvPr>
            <p:ph idx="1"/>
          </p:nvPr>
        </p:nvSpPr>
        <p:spPr/>
        <p:txBody>
          <a:bodyPr/>
          <a:lstStyle/>
          <a:p>
            <a:r>
              <a:rPr lang="en-US" b="1"/>
              <a:t>1) Six to ten grams per day.</a:t>
            </a:r>
          </a:p>
          <a:p>
            <a:r>
              <a:rPr lang="en-US" b="1"/>
              <a:t>2) Divided up into three to five doses throughout the day.</a:t>
            </a:r>
          </a:p>
          <a:p>
            <a:r>
              <a:rPr lang="en-US" b="1"/>
              <a:t>3) Continuation of this regimen for six months to a year before it can be assumed that maximum anti-cavity protection exists.</a:t>
            </a:r>
          </a:p>
        </p:txBody>
      </p:sp>
    </p:spTree>
    <p:extLst>
      <p:ext uri="{BB962C8B-B14F-4D97-AF65-F5344CB8AC3E}">
        <p14:creationId xmlns:p14="http://schemas.microsoft.com/office/powerpoint/2010/main" val="3986585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lumMod val="75000"/>
                  </a:schemeClr>
                </a:solidFill>
              </a:rPr>
              <a:t>Dosage</a:t>
            </a:r>
          </a:p>
        </p:txBody>
      </p:sp>
      <p:sp>
        <p:nvSpPr>
          <p:cNvPr id="3" name="Content Placeholder 2"/>
          <p:cNvSpPr>
            <a:spLocks noGrp="1"/>
          </p:cNvSpPr>
          <p:nvPr>
            <p:ph idx="1"/>
          </p:nvPr>
        </p:nvSpPr>
        <p:spPr/>
        <p:txBody>
          <a:bodyPr>
            <a:normAutofit/>
          </a:bodyPr>
          <a:lstStyle/>
          <a:p>
            <a:r>
              <a:rPr lang="en-US" sz="3200" dirty="0"/>
              <a:t>The existence of a dosing ceiling was confirmed by a study [</a:t>
            </a:r>
            <a:r>
              <a:rPr lang="en-US" sz="3200" dirty="0">
                <a:solidFill>
                  <a:schemeClr val="accent6">
                    <a:lumMod val="75000"/>
                  </a:schemeClr>
                </a:solidFill>
              </a:rPr>
              <a:t>Milgrom, 2006] </a:t>
            </a:r>
            <a:r>
              <a:rPr lang="en-US" sz="3200" dirty="0"/>
              <a:t>that evaluated different xylitol doses in regard to their ability to create changes in the level of cariogenic bacteria found in dental plaque and saliva.   </a:t>
            </a:r>
          </a:p>
          <a:p>
            <a:r>
              <a:rPr lang="en-US" sz="3200" b="1" dirty="0"/>
              <a:t>Amounts exceeding 10.3 grams per day were not likely to increase effectiveness</a:t>
            </a:r>
            <a:r>
              <a:rPr lang="en-US" sz="3200" dirty="0"/>
              <a:t>. </a:t>
            </a:r>
          </a:p>
          <a:p>
            <a:r>
              <a:rPr lang="en-US" sz="3200" b="1" dirty="0"/>
              <a:t>Doses of 3.5 grams or less per day were ineffective</a:t>
            </a:r>
          </a:p>
          <a:p>
            <a:r>
              <a:rPr lang="en-US" sz="3200" b="1" dirty="0"/>
              <a:t>2 pieces gum or mints, 3 </a:t>
            </a:r>
            <a:r>
              <a:rPr lang="en-US" sz="3200" b="1" dirty="0" err="1"/>
              <a:t>tid</a:t>
            </a:r>
            <a:r>
              <a:rPr lang="en-US" sz="3200" b="1" dirty="0"/>
              <a:t> = 6 grams</a:t>
            </a:r>
            <a:endParaRPr lang="en-US" sz="3200" dirty="0"/>
          </a:p>
        </p:txBody>
      </p:sp>
    </p:spTree>
    <p:extLst>
      <p:ext uri="{BB962C8B-B14F-4D97-AF65-F5344CB8AC3E}">
        <p14:creationId xmlns:p14="http://schemas.microsoft.com/office/powerpoint/2010/main" val="1214041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43588-3D78-4356-84B3-A8D72086FDAB}"/>
              </a:ext>
            </a:extLst>
          </p:cNvPr>
          <p:cNvSpPr>
            <a:spLocks noGrp="1"/>
          </p:cNvSpPr>
          <p:nvPr>
            <p:ph type="title"/>
          </p:nvPr>
        </p:nvSpPr>
        <p:spPr/>
        <p:txBody>
          <a:bodyPr/>
          <a:lstStyle/>
          <a:p>
            <a:r>
              <a:rPr lang="en-US"/>
              <a:t>Dry Mouth</a:t>
            </a:r>
          </a:p>
        </p:txBody>
      </p:sp>
      <p:sp>
        <p:nvSpPr>
          <p:cNvPr id="3" name="Content Placeholder 2">
            <a:extLst>
              <a:ext uri="{FF2B5EF4-FFF2-40B4-BE49-F238E27FC236}">
                <a16:creationId xmlns:a16="http://schemas.microsoft.com/office/drawing/2014/main" id="{551BC9D8-61DE-4DCF-BC66-6ECD2FDAF28F}"/>
              </a:ext>
            </a:extLst>
          </p:cNvPr>
          <p:cNvSpPr>
            <a:spLocks noGrp="1"/>
          </p:cNvSpPr>
          <p:nvPr>
            <p:ph idx="1"/>
          </p:nvPr>
        </p:nvSpPr>
        <p:spPr>
          <a:xfrm>
            <a:off x="1120000" y="1825625"/>
            <a:ext cx="5690703" cy="4351338"/>
          </a:xfrm>
        </p:spPr>
        <p:txBody>
          <a:bodyPr/>
          <a:lstStyle/>
          <a:p>
            <a:r>
              <a:rPr lang="en-US" err="1"/>
              <a:t>Biotene</a:t>
            </a:r>
            <a:r>
              <a:rPr lang="en-US"/>
              <a:t> has long been used as a saliva substitute. It is useful during the day, especially in this spray form, but it does little at night.</a:t>
            </a:r>
          </a:p>
          <a:p>
            <a:endParaRPr lang="en-US"/>
          </a:p>
        </p:txBody>
      </p:sp>
      <p:pic>
        <p:nvPicPr>
          <p:cNvPr id="4" name="Content Placeholder 4" descr="Text&#10;&#10;Description automatically generated with medium confidence">
            <a:extLst>
              <a:ext uri="{FF2B5EF4-FFF2-40B4-BE49-F238E27FC236}">
                <a16:creationId xmlns:a16="http://schemas.microsoft.com/office/drawing/2014/main" id="{4D3EC23A-FD55-46B6-B324-87CDF2186156}"/>
              </a:ext>
            </a:extLst>
          </p:cNvPr>
          <p:cNvPicPr>
            <a:picLocks noChangeAspect="1"/>
          </p:cNvPicPr>
          <p:nvPr/>
        </p:nvPicPr>
        <p:blipFill>
          <a:blip r:embed="rId2"/>
          <a:stretch>
            <a:fillRect/>
          </a:stretch>
        </p:blipFill>
        <p:spPr>
          <a:xfrm>
            <a:off x="8376745" y="497190"/>
            <a:ext cx="2360197" cy="5927313"/>
          </a:xfrm>
          <a:prstGeom prst="rect">
            <a:avLst/>
          </a:prstGeom>
        </p:spPr>
      </p:pic>
      <p:sp>
        <p:nvSpPr>
          <p:cNvPr id="5" name="TextBox 4">
            <a:extLst>
              <a:ext uri="{FF2B5EF4-FFF2-40B4-BE49-F238E27FC236}">
                <a16:creationId xmlns:a16="http://schemas.microsoft.com/office/drawing/2014/main" id="{FA03224B-BF67-4B68-A55C-1A3DA6A7F308}"/>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206001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686E-BD8A-458B-9F8B-E2B616493804}"/>
              </a:ext>
            </a:extLst>
          </p:cNvPr>
          <p:cNvSpPr>
            <a:spLocks noGrp="1"/>
          </p:cNvSpPr>
          <p:nvPr>
            <p:ph type="title"/>
          </p:nvPr>
        </p:nvSpPr>
        <p:spPr/>
        <p:txBody>
          <a:bodyPr/>
          <a:lstStyle/>
          <a:p>
            <a:r>
              <a:rPr lang="en-US"/>
              <a:t>Dry Mouth</a:t>
            </a:r>
          </a:p>
        </p:txBody>
      </p:sp>
      <p:pic>
        <p:nvPicPr>
          <p:cNvPr id="4" name="Content Placeholder 4" descr="A picture containing bottle, indoor&#10;&#10;Description automatically generated">
            <a:extLst>
              <a:ext uri="{FF2B5EF4-FFF2-40B4-BE49-F238E27FC236}">
                <a16:creationId xmlns:a16="http://schemas.microsoft.com/office/drawing/2014/main" id="{E3DE278B-72E1-44EA-BEBD-E0F764EDBAAC}"/>
              </a:ext>
            </a:extLst>
          </p:cNvPr>
          <p:cNvPicPr>
            <a:picLocks noGrp="1" noChangeAspect="1"/>
          </p:cNvPicPr>
          <p:nvPr>
            <p:ph idx="1"/>
          </p:nvPr>
        </p:nvPicPr>
        <p:blipFill>
          <a:blip r:embed="rId2"/>
          <a:stretch>
            <a:fillRect/>
          </a:stretch>
        </p:blipFill>
        <p:spPr>
          <a:xfrm>
            <a:off x="6537605" y="2418415"/>
            <a:ext cx="5432613" cy="4074460"/>
          </a:xfrm>
        </p:spPr>
      </p:pic>
      <p:sp>
        <p:nvSpPr>
          <p:cNvPr id="6" name="TextBox 5">
            <a:extLst>
              <a:ext uri="{FF2B5EF4-FFF2-40B4-BE49-F238E27FC236}">
                <a16:creationId xmlns:a16="http://schemas.microsoft.com/office/drawing/2014/main" id="{B742ABCC-21DC-4DD2-95B0-E3345768C213}"/>
              </a:ext>
            </a:extLst>
          </p:cNvPr>
          <p:cNvSpPr txBox="1"/>
          <p:nvPr/>
        </p:nvSpPr>
        <p:spPr>
          <a:xfrm>
            <a:off x="599090" y="2233748"/>
            <a:ext cx="4698124" cy="954107"/>
          </a:xfrm>
          <a:prstGeom prst="rect">
            <a:avLst/>
          </a:prstGeom>
          <a:noFill/>
        </p:spPr>
        <p:txBody>
          <a:bodyPr wrap="square">
            <a:spAutoFit/>
          </a:bodyPr>
          <a:lstStyle/>
          <a:p>
            <a:r>
              <a:rPr lang="en-US" sz="2800"/>
              <a:t>Spry makes a saliva substitute that contains xylitol.</a:t>
            </a:r>
          </a:p>
        </p:txBody>
      </p:sp>
      <p:sp>
        <p:nvSpPr>
          <p:cNvPr id="7" name="TextBox 6">
            <a:extLst>
              <a:ext uri="{FF2B5EF4-FFF2-40B4-BE49-F238E27FC236}">
                <a16:creationId xmlns:a16="http://schemas.microsoft.com/office/drawing/2014/main" id="{17451665-2CE2-429B-B250-81F20A85F4E4}"/>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1030394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D582-A798-428C-9387-5960DB58FE99}"/>
              </a:ext>
            </a:extLst>
          </p:cNvPr>
          <p:cNvSpPr>
            <a:spLocks noGrp="1"/>
          </p:cNvSpPr>
          <p:nvPr>
            <p:ph type="title"/>
          </p:nvPr>
        </p:nvSpPr>
        <p:spPr/>
        <p:txBody>
          <a:bodyPr/>
          <a:lstStyle/>
          <a:p>
            <a:r>
              <a:rPr lang="en-US"/>
              <a:t>Dry Mouth</a:t>
            </a:r>
          </a:p>
        </p:txBody>
      </p:sp>
      <p:pic>
        <p:nvPicPr>
          <p:cNvPr id="4" name="Content Placeholder 4" descr="Text&#10;&#10;Description automatically generated">
            <a:extLst>
              <a:ext uri="{FF2B5EF4-FFF2-40B4-BE49-F238E27FC236}">
                <a16:creationId xmlns:a16="http://schemas.microsoft.com/office/drawing/2014/main" id="{D2F6509C-6FDA-4429-A579-4E09EDFB2A51}"/>
              </a:ext>
            </a:extLst>
          </p:cNvPr>
          <p:cNvPicPr>
            <a:picLocks noGrp="1" noChangeAspect="1"/>
          </p:cNvPicPr>
          <p:nvPr>
            <p:ph idx="1"/>
          </p:nvPr>
        </p:nvPicPr>
        <p:blipFill>
          <a:blip r:embed="rId2"/>
          <a:stretch>
            <a:fillRect/>
          </a:stretch>
        </p:blipFill>
        <p:spPr>
          <a:xfrm>
            <a:off x="7580494" y="2141537"/>
            <a:ext cx="3962618" cy="4351338"/>
          </a:xfrm>
        </p:spPr>
      </p:pic>
      <p:sp>
        <p:nvSpPr>
          <p:cNvPr id="6" name="TextBox 5">
            <a:extLst>
              <a:ext uri="{FF2B5EF4-FFF2-40B4-BE49-F238E27FC236}">
                <a16:creationId xmlns:a16="http://schemas.microsoft.com/office/drawing/2014/main" id="{86AAD1FC-2185-4588-8646-FAE981EB4525}"/>
              </a:ext>
            </a:extLst>
          </p:cNvPr>
          <p:cNvSpPr txBox="1"/>
          <p:nvPr/>
        </p:nvSpPr>
        <p:spPr>
          <a:xfrm>
            <a:off x="648888" y="2046917"/>
            <a:ext cx="4217402" cy="2062103"/>
          </a:xfrm>
          <a:prstGeom prst="rect">
            <a:avLst/>
          </a:prstGeom>
          <a:noFill/>
        </p:spPr>
        <p:txBody>
          <a:bodyPr wrap="square">
            <a:spAutoFit/>
          </a:bodyPr>
          <a:lstStyle/>
          <a:p>
            <a:r>
              <a:rPr lang="en-US" sz="3200" err="1"/>
              <a:t>XyliMelts</a:t>
            </a:r>
            <a:r>
              <a:rPr lang="en-US" sz="3200"/>
              <a:t> stimulate saliva production at night and also contain xylitol. </a:t>
            </a:r>
          </a:p>
        </p:txBody>
      </p:sp>
      <p:sp>
        <p:nvSpPr>
          <p:cNvPr id="5" name="TextBox 4">
            <a:extLst>
              <a:ext uri="{FF2B5EF4-FFF2-40B4-BE49-F238E27FC236}">
                <a16:creationId xmlns:a16="http://schemas.microsoft.com/office/drawing/2014/main" id="{A7A49B1C-02CF-43FD-B915-5BBE310E5ACD}"/>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3184139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066B-81DD-4971-96C4-CFB256AA0C4C}"/>
              </a:ext>
            </a:extLst>
          </p:cNvPr>
          <p:cNvSpPr>
            <a:spLocks noGrp="1"/>
          </p:cNvSpPr>
          <p:nvPr>
            <p:ph type="title"/>
          </p:nvPr>
        </p:nvSpPr>
        <p:spPr/>
        <p:txBody>
          <a:bodyPr/>
          <a:lstStyle/>
          <a:p>
            <a:r>
              <a:rPr lang="en-US"/>
              <a:t>Anti-Microbials</a:t>
            </a:r>
          </a:p>
        </p:txBody>
      </p:sp>
      <p:sp>
        <p:nvSpPr>
          <p:cNvPr id="3" name="Content Placeholder 2">
            <a:extLst>
              <a:ext uri="{FF2B5EF4-FFF2-40B4-BE49-F238E27FC236}">
                <a16:creationId xmlns:a16="http://schemas.microsoft.com/office/drawing/2014/main" id="{D9687747-F28F-4C93-8461-E1C7DA881BE5}"/>
              </a:ext>
            </a:extLst>
          </p:cNvPr>
          <p:cNvSpPr>
            <a:spLocks noGrp="1"/>
          </p:cNvSpPr>
          <p:nvPr>
            <p:ph idx="1"/>
          </p:nvPr>
        </p:nvSpPr>
        <p:spPr>
          <a:xfrm>
            <a:off x="516195" y="1825625"/>
            <a:ext cx="11326760" cy="4351338"/>
          </a:xfrm>
        </p:spPr>
        <p:txBody>
          <a:bodyPr/>
          <a:lstStyle/>
          <a:p>
            <a:r>
              <a:rPr lang="en-US" sz="3600"/>
              <a:t>Typically used only is cases of extreme rampant caries</a:t>
            </a:r>
          </a:p>
          <a:p>
            <a:endParaRPr lang="en-US"/>
          </a:p>
        </p:txBody>
      </p:sp>
      <p:pic>
        <p:nvPicPr>
          <p:cNvPr id="5" name="Picture 4" descr="A picture containing food&#10;&#10;Description automatically generated">
            <a:extLst>
              <a:ext uri="{FF2B5EF4-FFF2-40B4-BE49-F238E27FC236}">
                <a16:creationId xmlns:a16="http://schemas.microsoft.com/office/drawing/2014/main" id="{4F478F1C-825F-4B2B-AAB0-DD73CC90A4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9035" y="2567448"/>
            <a:ext cx="5845473" cy="3925427"/>
          </a:xfrm>
          <a:prstGeom prst="rect">
            <a:avLst/>
          </a:prstGeom>
        </p:spPr>
      </p:pic>
      <p:sp>
        <p:nvSpPr>
          <p:cNvPr id="6" name="TextBox 5">
            <a:extLst>
              <a:ext uri="{FF2B5EF4-FFF2-40B4-BE49-F238E27FC236}">
                <a16:creationId xmlns:a16="http://schemas.microsoft.com/office/drawing/2014/main" id="{60FA1E81-1C85-4A75-AEBB-50AD2DFABDD6}"/>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052714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85274-996D-49B0-A041-BE67A41F4C43}"/>
              </a:ext>
            </a:extLst>
          </p:cNvPr>
          <p:cNvSpPr>
            <a:spLocks noGrp="1"/>
          </p:cNvSpPr>
          <p:nvPr>
            <p:ph type="title"/>
          </p:nvPr>
        </p:nvSpPr>
        <p:spPr/>
        <p:txBody>
          <a:bodyPr/>
          <a:lstStyle/>
          <a:p>
            <a:r>
              <a:rPr lang="en-US"/>
              <a:t>Chlorhexidine </a:t>
            </a:r>
          </a:p>
        </p:txBody>
      </p:sp>
      <p:sp>
        <p:nvSpPr>
          <p:cNvPr id="3" name="Content Placeholder 2">
            <a:extLst>
              <a:ext uri="{FF2B5EF4-FFF2-40B4-BE49-F238E27FC236}">
                <a16:creationId xmlns:a16="http://schemas.microsoft.com/office/drawing/2014/main" id="{D07E424B-70CD-4989-89F7-ED2A2009973F}"/>
              </a:ext>
            </a:extLst>
          </p:cNvPr>
          <p:cNvSpPr>
            <a:spLocks noGrp="1"/>
          </p:cNvSpPr>
          <p:nvPr>
            <p:ph idx="1"/>
          </p:nvPr>
        </p:nvSpPr>
        <p:spPr>
          <a:xfrm>
            <a:off x="1120000" y="1825625"/>
            <a:ext cx="6396906" cy="4667250"/>
          </a:xfrm>
        </p:spPr>
        <p:txBody>
          <a:bodyPr/>
          <a:lstStyle/>
          <a:p>
            <a:r>
              <a:rPr lang="en-US"/>
              <a:t>Dosage for Caries control</a:t>
            </a:r>
          </a:p>
          <a:p>
            <a:pPr lvl="1"/>
            <a:r>
              <a:rPr lang="en-US"/>
              <a:t>Rinse with ½ ounce once per day for seven days. Repeat monthly.</a:t>
            </a:r>
          </a:p>
          <a:p>
            <a:pPr lvl="1"/>
            <a:r>
              <a:rPr lang="en-US"/>
              <a:t>One bottle lasts four months; rarely used beyond that.</a:t>
            </a:r>
          </a:p>
          <a:p>
            <a:r>
              <a:rPr lang="en-US"/>
              <a:t>Chlorhexidine binds to fluoride so use 2 hours before or two hours after brushing.</a:t>
            </a:r>
          </a:p>
        </p:txBody>
      </p:sp>
      <p:pic>
        <p:nvPicPr>
          <p:cNvPr id="5" name="Content Placeholder 4">
            <a:extLst>
              <a:ext uri="{FF2B5EF4-FFF2-40B4-BE49-F238E27FC236}">
                <a16:creationId xmlns:a16="http://schemas.microsoft.com/office/drawing/2014/main" id="{3361917A-AB1F-4139-9904-80A44DF91417}"/>
              </a:ext>
            </a:extLst>
          </p:cNvPr>
          <p:cNvPicPr>
            <a:picLocks noChangeAspect="1"/>
          </p:cNvPicPr>
          <p:nvPr/>
        </p:nvPicPr>
        <p:blipFill>
          <a:blip r:embed="rId2"/>
          <a:stretch>
            <a:fillRect/>
          </a:stretch>
        </p:blipFill>
        <p:spPr>
          <a:xfrm>
            <a:off x="7738172" y="1196788"/>
            <a:ext cx="4437530" cy="4437530"/>
          </a:xfrm>
          <a:prstGeom prst="rect">
            <a:avLst/>
          </a:prstGeom>
        </p:spPr>
      </p:pic>
      <p:sp>
        <p:nvSpPr>
          <p:cNvPr id="6" name="TextBox 5">
            <a:extLst>
              <a:ext uri="{FF2B5EF4-FFF2-40B4-BE49-F238E27FC236}">
                <a16:creationId xmlns:a16="http://schemas.microsoft.com/office/drawing/2014/main" id="{BABC85B3-9C76-4C7E-A020-34D326AC3FD6}"/>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414714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C111-A691-45A9-AB44-E8220A4CADB3}"/>
              </a:ext>
            </a:extLst>
          </p:cNvPr>
          <p:cNvSpPr>
            <a:spLocks noGrp="1"/>
          </p:cNvSpPr>
          <p:nvPr>
            <p:ph type="title"/>
          </p:nvPr>
        </p:nvSpPr>
        <p:spPr/>
        <p:txBody>
          <a:bodyPr/>
          <a:lstStyle/>
          <a:p>
            <a:r>
              <a:rPr lang="en-US"/>
              <a:t>Povidone Iodine</a:t>
            </a:r>
          </a:p>
        </p:txBody>
      </p:sp>
      <p:sp>
        <p:nvSpPr>
          <p:cNvPr id="3" name="Content Placeholder 2">
            <a:extLst>
              <a:ext uri="{FF2B5EF4-FFF2-40B4-BE49-F238E27FC236}">
                <a16:creationId xmlns:a16="http://schemas.microsoft.com/office/drawing/2014/main" id="{E649D6C0-150E-4D90-8B79-C544D96F7392}"/>
              </a:ext>
            </a:extLst>
          </p:cNvPr>
          <p:cNvSpPr>
            <a:spLocks noGrp="1"/>
          </p:cNvSpPr>
          <p:nvPr>
            <p:ph idx="1"/>
          </p:nvPr>
        </p:nvSpPr>
        <p:spPr>
          <a:xfrm>
            <a:off x="1120000" y="1825625"/>
            <a:ext cx="5774786" cy="4351338"/>
          </a:xfrm>
        </p:spPr>
        <p:txBody>
          <a:bodyPr/>
          <a:lstStyle/>
          <a:p>
            <a:r>
              <a:rPr lang="en-US" dirty="0"/>
              <a:t>Iodine is another anti-microbial used to re-set the oral microbiome to allow normal oral bacteria to re-populate the mouth. It is applied in-office once per week using a cotton-tip applicator to paint it on the teeth once a week for two weeks.</a:t>
            </a:r>
          </a:p>
          <a:p>
            <a:r>
              <a:rPr lang="en-US" dirty="0"/>
              <a:t>Brian Novi used it as a one-time rinse but this is very messy and patients don’t much like it.</a:t>
            </a:r>
          </a:p>
          <a:p>
            <a:endParaRPr lang="en-US" dirty="0"/>
          </a:p>
        </p:txBody>
      </p:sp>
      <p:pic>
        <p:nvPicPr>
          <p:cNvPr id="5" name="Content Placeholder 4" descr="A picture containing text, toiletry&#10;&#10;Description automatically generated">
            <a:extLst>
              <a:ext uri="{FF2B5EF4-FFF2-40B4-BE49-F238E27FC236}">
                <a16:creationId xmlns:a16="http://schemas.microsoft.com/office/drawing/2014/main" id="{CF124540-7191-4373-8E31-3DEE7DF85C98}"/>
              </a:ext>
            </a:extLst>
          </p:cNvPr>
          <p:cNvPicPr>
            <a:picLocks noChangeAspect="1"/>
          </p:cNvPicPr>
          <p:nvPr/>
        </p:nvPicPr>
        <p:blipFill>
          <a:blip r:embed="rId2"/>
          <a:stretch>
            <a:fillRect/>
          </a:stretch>
        </p:blipFill>
        <p:spPr>
          <a:xfrm>
            <a:off x="7166509" y="1907648"/>
            <a:ext cx="4187291" cy="4187291"/>
          </a:xfrm>
          <a:prstGeom prst="rect">
            <a:avLst/>
          </a:prstGeom>
        </p:spPr>
      </p:pic>
      <p:sp>
        <p:nvSpPr>
          <p:cNvPr id="6" name="TextBox 5">
            <a:extLst>
              <a:ext uri="{FF2B5EF4-FFF2-40B4-BE49-F238E27FC236}">
                <a16:creationId xmlns:a16="http://schemas.microsoft.com/office/drawing/2014/main" id="{CC016E4C-1122-4566-812F-D8AA2095FFD6}"/>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668938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011F-0541-45F1-99F4-70F8F93294C7}"/>
              </a:ext>
            </a:extLst>
          </p:cNvPr>
          <p:cNvSpPr>
            <a:spLocks noGrp="1"/>
          </p:cNvSpPr>
          <p:nvPr>
            <p:ph type="title"/>
          </p:nvPr>
        </p:nvSpPr>
        <p:spPr/>
        <p:txBody>
          <a:bodyPr/>
          <a:lstStyle/>
          <a:p>
            <a:r>
              <a:rPr lang="en-US"/>
              <a:t>Fluoride Rinses</a:t>
            </a:r>
          </a:p>
        </p:txBody>
      </p:sp>
      <p:pic>
        <p:nvPicPr>
          <p:cNvPr id="5" name="Content Placeholder 4" descr="Graphical user interface, application&#10;&#10;Description automatically generated">
            <a:extLst>
              <a:ext uri="{FF2B5EF4-FFF2-40B4-BE49-F238E27FC236}">
                <a16:creationId xmlns:a16="http://schemas.microsoft.com/office/drawing/2014/main" id="{548932D3-8DB2-4DC6-9932-F13F68C096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6295" y="1690688"/>
            <a:ext cx="2743200" cy="2743200"/>
          </a:xfrm>
        </p:spPr>
      </p:pic>
      <p:sp>
        <p:nvSpPr>
          <p:cNvPr id="8" name="TextBox 7">
            <a:extLst>
              <a:ext uri="{FF2B5EF4-FFF2-40B4-BE49-F238E27FC236}">
                <a16:creationId xmlns:a16="http://schemas.microsoft.com/office/drawing/2014/main" id="{CF2524D0-D3A7-46B8-A60C-A9FFA5E2B0E7}"/>
              </a:ext>
            </a:extLst>
          </p:cNvPr>
          <p:cNvSpPr txBox="1"/>
          <p:nvPr/>
        </p:nvSpPr>
        <p:spPr>
          <a:xfrm>
            <a:off x="4132358" y="1459239"/>
            <a:ext cx="3598606" cy="1815882"/>
          </a:xfrm>
          <a:prstGeom prst="rect">
            <a:avLst/>
          </a:prstGeom>
          <a:noFill/>
        </p:spPr>
        <p:txBody>
          <a:bodyPr wrap="square" rtlCol="0">
            <a:spAutoFit/>
          </a:bodyPr>
          <a:lstStyle/>
          <a:p>
            <a:r>
              <a:rPr lang="en-US" sz="2800"/>
              <a:t>Fluoride Rinses are used mid-day after lunch, rinse vigorously and spit.</a:t>
            </a:r>
          </a:p>
        </p:txBody>
      </p:sp>
      <p:pic>
        <p:nvPicPr>
          <p:cNvPr id="12" name="Picture 11" descr="A close-up of a bottle&#10;&#10;Description automatically generated with medium confidence">
            <a:extLst>
              <a:ext uri="{FF2B5EF4-FFF2-40B4-BE49-F238E27FC236}">
                <a16:creationId xmlns:a16="http://schemas.microsoft.com/office/drawing/2014/main" id="{77BA2A83-8537-4AA6-B99B-A6A66A46F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5676" y="182562"/>
            <a:ext cx="1440436" cy="6492875"/>
          </a:xfrm>
          <a:prstGeom prst="rect">
            <a:avLst/>
          </a:prstGeom>
        </p:spPr>
      </p:pic>
      <p:sp>
        <p:nvSpPr>
          <p:cNvPr id="3" name="TextBox 2">
            <a:extLst>
              <a:ext uri="{FF2B5EF4-FFF2-40B4-BE49-F238E27FC236}">
                <a16:creationId xmlns:a16="http://schemas.microsoft.com/office/drawing/2014/main" id="{85073A62-D7E1-4F6B-BA8C-C88E6A278EE2}"/>
              </a:ext>
            </a:extLst>
          </p:cNvPr>
          <p:cNvSpPr txBox="1"/>
          <p:nvPr/>
        </p:nvSpPr>
        <p:spPr>
          <a:xfrm>
            <a:off x="936295" y="4887686"/>
            <a:ext cx="2841048" cy="923330"/>
          </a:xfrm>
          <a:prstGeom prst="rect">
            <a:avLst/>
          </a:prstGeom>
          <a:noFill/>
        </p:spPr>
        <p:txBody>
          <a:bodyPr wrap="square" rtlCol="0">
            <a:spAutoFit/>
          </a:bodyPr>
          <a:lstStyle/>
          <a:p>
            <a:r>
              <a:rPr lang="en-US"/>
              <a:t>ACT is available in any drug or grocery store. 250 ppm fluoride </a:t>
            </a:r>
          </a:p>
        </p:txBody>
      </p:sp>
      <p:sp>
        <p:nvSpPr>
          <p:cNvPr id="4" name="TextBox 3">
            <a:extLst>
              <a:ext uri="{FF2B5EF4-FFF2-40B4-BE49-F238E27FC236}">
                <a16:creationId xmlns:a16="http://schemas.microsoft.com/office/drawing/2014/main" id="{77242894-AA78-46D5-B785-933EA1EE1808}"/>
              </a:ext>
            </a:extLst>
          </p:cNvPr>
          <p:cNvSpPr txBox="1"/>
          <p:nvPr/>
        </p:nvSpPr>
        <p:spPr>
          <a:xfrm>
            <a:off x="4132357" y="3428999"/>
            <a:ext cx="4053699" cy="1938992"/>
          </a:xfrm>
          <a:prstGeom prst="rect">
            <a:avLst/>
          </a:prstGeom>
          <a:noFill/>
        </p:spPr>
        <p:txBody>
          <a:bodyPr wrap="square" rtlCol="0">
            <a:spAutoFit/>
          </a:bodyPr>
          <a:lstStyle/>
          <a:p>
            <a:r>
              <a:rPr lang="en-US" sz="2000" dirty="0"/>
              <a:t>Synedent fluoride is available from Amazon.com. It contains 250 ppm fluoride, chitosan-</a:t>
            </a:r>
            <a:r>
              <a:rPr lang="en-US" sz="2000" dirty="0" err="1"/>
              <a:t>argininamide</a:t>
            </a:r>
            <a:r>
              <a:rPr lang="en-US" sz="2000" dirty="0"/>
              <a:t>. Arginine is metabolized to NH4 by oral bacteria thus raising the oral </a:t>
            </a:r>
            <a:r>
              <a:rPr lang="en-US" sz="2000" dirty="0" err="1"/>
              <a:t>pH.</a:t>
            </a:r>
            <a:r>
              <a:rPr lang="en-US" sz="2000" dirty="0"/>
              <a:t> This is currently not on the market.</a:t>
            </a:r>
          </a:p>
        </p:txBody>
      </p:sp>
      <p:sp>
        <p:nvSpPr>
          <p:cNvPr id="9" name="TextBox 8">
            <a:extLst>
              <a:ext uri="{FF2B5EF4-FFF2-40B4-BE49-F238E27FC236}">
                <a16:creationId xmlns:a16="http://schemas.microsoft.com/office/drawing/2014/main" id="{34ED4150-C07A-465C-ABE3-E2483552A982}"/>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847874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4545-676D-48CF-A64B-C8CFC4D56378}"/>
              </a:ext>
            </a:extLst>
          </p:cNvPr>
          <p:cNvSpPr>
            <a:spLocks noGrp="1"/>
          </p:cNvSpPr>
          <p:nvPr>
            <p:ph type="title"/>
          </p:nvPr>
        </p:nvSpPr>
        <p:spPr/>
        <p:txBody>
          <a:bodyPr/>
          <a:lstStyle/>
          <a:p>
            <a:r>
              <a:rPr lang="en-US"/>
              <a:t>Fluoride Varnish</a:t>
            </a:r>
          </a:p>
        </p:txBody>
      </p:sp>
      <p:sp>
        <p:nvSpPr>
          <p:cNvPr id="3" name="Content Placeholder 2">
            <a:extLst>
              <a:ext uri="{FF2B5EF4-FFF2-40B4-BE49-F238E27FC236}">
                <a16:creationId xmlns:a16="http://schemas.microsoft.com/office/drawing/2014/main" id="{D1958C5E-338C-45E2-93AB-77133BEACAB6}"/>
              </a:ext>
            </a:extLst>
          </p:cNvPr>
          <p:cNvSpPr>
            <a:spLocks noGrp="1"/>
          </p:cNvSpPr>
          <p:nvPr>
            <p:ph idx="1"/>
          </p:nvPr>
        </p:nvSpPr>
        <p:spPr>
          <a:xfrm>
            <a:off x="1120000" y="1825625"/>
            <a:ext cx="4849876" cy="4351338"/>
          </a:xfrm>
        </p:spPr>
        <p:txBody>
          <a:bodyPr/>
          <a:lstStyle/>
          <a:p>
            <a:r>
              <a:rPr lang="en-US"/>
              <a:t>Moderate and High-Risk patients should have fluoride varnish applied to the teeth at every prophy.</a:t>
            </a:r>
          </a:p>
        </p:txBody>
      </p:sp>
      <p:pic>
        <p:nvPicPr>
          <p:cNvPr id="6" name="Picture 5" descr="Text&#10;&#10;Description automatically generated">
            <a:extLst>
              <a:ext uri="{FF2B5EF4-FFF2-40B4-BE49-F238E27FC236}">
                <a16:creationId xmlns:a16="http://schemas.microsoft.com/office/drawing/2014/main" id="{2EEFDA32-45B2-4F57-869F-E90A50864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6109" y="2759485"/>
            <a:ext cx="5271501" cy="3304984"/>
          </a:xfrm>
          <a:prstGeom prst="rect">
            <a:avLst/>
          </a:prstGeom>
        </p:spPr>
      </p:pic>
      <p:sp>
        <p:nvSpPr>
          <p:cNvPr id="5" name="TextBox 4">
            <a:extLst>
              <a:ext uri="{FF2B5EF4-FFF2-40B4-BE49-F238E27FC236}">
                <a16:creationId xmlns:a16="http://schemas.microsoft.com/office/drawing/2014/main" id="{6BEEA0FF-5E2E-4D26-BEBD-E451D647169B}"/>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4168027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21183-DE55-4A49-817B-3F644FDC58D3}"/>
              </a:ext>
            </a:extLst>
          </p:cNvPr>
          <p:cNvSpPr>
            <a:spLocks noGrp="1"/>
          </p:cNvSpPr>
          <p:nvPr>
            <p:ph type="title"/>
          </p:nvPr>
        </p:nvSpPr>
        <p:spPr/>
        <p:txBody>
          <a:bodyPr/>
          <a:lstStyle/>
          <a:p>
            <a:r>
              <a:rPr lang="en-US"/>
              <a:t>Pit &amp; Fissure Sealants</a:t>
            </a:r>
          </a:p>
        </p:txBody>
      </p:sp>
      <p:pic>
        <p:nvPicPr>
          <p:cNvPr id="5" name="Content Placeholder 4" descr="Text, whiteboard&#10;&#10;Description automatically generated">
            <a:extLst>
              <a:ext uri="{FF2B5EF4-FFF2-40B4-BE49-F238E27FC236}">
                <a16:creationId xmlns:a16="http://schemas.microsoft.com/office/drawing/2014/main" id="{F7B730B1-15A7-4B78-8B6B-ABC3EB109E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19700" y="1435006"/>
            <a:ext cx="5194394" cy="5194394"/>
          </a:xfrm>
        </p:spPr>
      </p:pic>
      <p:sp>
        <p:nvSpPr>
          <p:cNvPr id="3" name="TextBox 2">
            <a:extLst>
              <a:ext uri="{FF2B5EF4-FFF2-40B4-BE49-F238E27FC236}">
                <a16:creationId xmlns:a16="http://schemas.microsoft.com/office/drawing/2014/main" id="{66A2564B-65CC-4A75-9A97-3BDD56B95F69}"/>
              </a:ext>
            </a:extLst>
          </p:cNvPr>
          <p:cNvSpPr txBox="1"/>
          <p:nvPr/>
        </p:nvSpPr>
        <p:spPr>
          <a:xfrm>
            <a:off x="400595" y="1898469"/>
            <a:ext cx="6104708" cy="4862870"/>
          </a:xfrm>
          <a:prstGeom prst="rect">
            <a:avLst/>
          </a:prstGeom>
          <a:noFill/>
        </p:spPr>
        <p:txBody>
          <a:bodyPr wrap="square" rtlCol="0">
            <a:spAutoFit/>
          </a:bodyPr>
          <a:lstStyle/>
          <a:p>
            <a:pPr marL="285750" indent="-285750">
              <a:buFont typeface="Arial" panose="020B0604020202020204" pitchFamily="34" charset="0"/>
              <a:buChar char="•"/>
            </a:pPr>
            <a:r>
              <a:rPr lang="en-US" sz="2400" dirty="0"/>
              <a:t>90% retention at 10 years (if done correctly)</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sz="2000" dirty="0"/>
              <a:t>Correct bonding and isolation are critical</a:t>
            </a:r>
          </a:p>
          <a:p>
            <a:pPr marL="1200150" lvl="2" indent="-285750">
              <a:buFont typeface="Arial" panose="020B0604020202020204" pitchFamily="34" charset="0"/>
              <a:buChar char="•"/>
            </a:pPr>
            <a:r>
              <a:rPr lang="en-US" sz="2000" dirty="0"/>
              <a:t>Biofilm removal</a:t>
            </a:r>
          </a:p>
          <a:p>
            <a:pPr marL="1200150" lvl="2" indent="-285750">
              <a:buFont typeface="Arial" panose="020B0604020202020204" pitchFamily="34" charset="0"/>
              <a:buChar char="•"/>
            </a:pPr>
            <a:r>
              <a:rPr lang="en-US" sz="2000" dirty="0"/>
              <a:t>Etch</a:t>
            </a:r>
          </a:p>
          <a:p>
            <a:pPr marL="1200150" lvl="2" indent="-285750">
              <a:buFont typeface="Arial" panose="020B0604020202020204" pitchFamily="34" charset="0"/>
              <a:buChar char="•"/>
            </a:pPr>
            <a:r>
              <a:rPr lang="en-US" sz="2000" dirty="0"/>
              <a:t>Prime</a:t>
            </a:r>
          </a:p>
          <a:p>
            <a:pPr marL="1200150" lvl="2" indent="-285750">
              <a:buFont typeface="Arial" panose="020B0604020202020204" pitchFamily="34" charset="0"/>
              <a:buChar char="•"/>
            </a:pPr>
            <a:r>
              <a:rPr lang="en-US" sz="2000" dirty="0"/>
              <a:t>Bond</a:t>
            </a:r>
          </a:p>
          <a:p>
            <a:pPr marL="1200150" lvl="2" indent="-285750">
              <a:buFont typeface="Arial" panose="020B0604020202020204" pitchFamily="34" charset="0"/>
              <a:buChar char="•"/>
            </a:pPr>
            <a:r>
              <a:rPr lang="en-US" sz="2000" dirty="0"/>
              <a:t>Apply sealant sparingly</a:t>
            </a:r>
            <a:br>
              <a:rPr lang="en-US" sz="2000" dirty="0"/>
            </a:br>
            <a:endParaRPr lang="en-US" sz="2000" dirty="0"/>
          </a:p>
          <a:p>
            <a:pPr marL="285750" indent="-285750">
              <a:buFont typeface="Arial" panose="020B0604020202020204" pitchFamily="34" charset="0"/>
              <a:buChar char="•"/>
            </a:pPr>
            <a:r>
              <a:rPr lang="en-US" sz="2400" dirty="0"/>
              <a:t>Insurance will not cover sealants in adults unless there is proof that patient is High Caries Risk</a:t>
            </a:r>
          </a:p>
          <a:p>
            <a:pPr marL="742950" lvl="1" indent="-285750">
              <a:buFont typeface="Arial" panose="020B0604020202020204" pitchFamily="34" charset="0"/>
              <a:buChar char="•"/>
            </a:pPr>
            <a:r>
              <a:rPr lang="en-US" sz="2000" dirty="0"/>
              <a:t>Always do a Caries Risk Assessment</a:t>
            </a:r>
          </a:p>
          <a:p>
            <a:pPr marL="285750" indent="-285750">
              <a:buFont typeface="Arial" panose="020B0604020202020204" pitchFamily="34" charset="0"/>
              <a:buChar char="•"/>
            </a:pPr>
            <a:endParaRPr lang="en-US" dirty="0"/>
          </a:p>
          <a:p>
            <a:endParaRPr lang="en-US" dirty="0"/>
          </a:p>
        </p:txBody>
      </p:sp>
      <p:sp>
        <p:nvSpPr>
          <p:cNvPr id="6" name="TextBox 5">
            <a:extLst>
              <a:ext uri="{FF2B5EF4-FFF2-40B4-BE49-F238E27FC236}">
                <a16:creationId xmlns:a16="http://schemas.microsoft.com/office/drawing/2014/main" id="{943F2896-AE7B-445C-872F-1AE88554F699}"/>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6099176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FDD-77F3-4AA0-874C-8D978E16FB1E}"/>
              </a:ext>
            </a:extLst>
          </p:cNvPr>
          <p:cNvSpPr>
            <a:spLocks noGrp="1"/>
          </p:cNvSpPr>
          <p:nvPr>
            <p:ph type="title"/>
          </p:nvPr>
        </p:nvSpPr>
        <p:spPr/>
        <p:txBody>
          <a:bodyPr/>
          <a:lstStyle/>
          <a:p>
            <a:r>
              <a:rPr lang="en-US"/>
              <a:t>Probiotics</a:t>
            </a:r>
          </a:p>
        </p:txBody>
      </p:sp>
      <p:sp>
        <p:nvSpPr>
          <p:cNvPr id="3" name="Content Placeholder 2">
            <a:extLst>
              <a:ext uri="{FF2B5EF4-FFF2-40B4-BE49-F238E27FC236}">
                <a16:creationId xmlns:a16="http://schemas.microsoft.com/office/drawing/2014/main" id="{BD9068F5-A293-4F38-A0B2-24805E38EB48}"/>
              </a:ext>
            </a:extLst>
          </p:cNvPr>
          <p:cNvSpPr>
            <a:spLocks noGrp="1"/>
          </p:cNvSpPr>
          <p:nvPr>
            <p:ph idx="1"/>
          </p:nvPr>
        </p:nvSpPr>
        <p:spPr>
          <a:xfrm>
            <a:off x="1120000" y="1825625"/>
            <a:ext cx="5900910" cy="4351338"/>
          </a:xfrm>
        </p:spPr>
        <p:txBody>
          <a:bodyPr/>
          <a:lstStyle/>
          <a:p>
            <a:r>
              <a:rPr lang="en-US"/>
              <a:t>This particular pro-biotic has been developed by dentists (Dr. Jeffery Hillman) to re-populate the mouth with “normal” oral bacteria to change the biome of disease to one approaching normal. </a:t>
            </a:r>
          </a:p>
          <a:p>
            <a:r>
              <a:rPr lang="en-US"/>
              <a:t>Dr. Dan Sneed was an early proponent and owned stock in the company that developed it.</a:t>
            </a:r>
          </a:p>
          <a:p>
            <a:endParaRPr lang="en-US"/>
          </a:p>
        </p:txBody>
      </p:sp>
      <p:pic>
        <p:nvPicPr>
          <p:cNvPr id="4" name="Content Placeholder 4" descr="Text&#10;&#10;Description automatically generated">
            <a:extLst>
              <a:ext uri="{FF2B5EF4-FFF2-40B4-BE49-F238E27FC236}">
                <a16:creationId xmlns:a16="http://schemas.microsoft.com/office/drawing/2014/main" id="{0D69A622-42D3-4D19-8517-BC358199AEEF}"/>
              </a:ext>
            </a:extLst>
          </p:cNvPr>
          <p:cNvPicPr>
            <a:picLocks noChangeAspect="1"/>
          </p:cNvPicPr>
          <p:nvPr/>
        </p:nvPicPr>
        <p:blipFill>
          <a:blip r:embed="rId2"/>
          <a:stretch>
            <a:fillRect/>
          </a:stretch>
        </p:blipFill>
        <p:spPr>
          <a:xfrm>
            <a:off x="8424913" y="1395319"/>
            <a:ext cx="2788204" cy="4971563"/>
          </a:xfrm>
          <a:prstGeom prst="rect">
            <a:avLst/>
          </a:prstGeom>
        </p:spPr>
      </p:pic>
      <p:sp>
        <p:nvSpPr>
          <p:cNvPr id="5" name="TextBox 4">
            <a:extLst>
              <a:ext uri="{FF2B5EF4-FFF2-40B4-BE49-F238E27FC236}">
                <a16:creationId xmlns:a16="http://schemas.microsoft.com/office/drawing/2014/main" id="{1E73207D-E8DC-40C2-8BDC-49CDC624D979}"/>
              </a:ext>
            </a:extLst>
          </p:cNvPr>
          <p:cNvSpPr txBox="1"/>
          <p:nvPr/>
        </p:nvSpPr>
        <p:spPr>
          <a:xfrm>
            <a:off x="10406743" y="6594511"/>
            <a:ext cx="1556657" cy="230832"/>
          </a:xfrm>
          <a:prstGeom prst="rect">
            <a:avLst/>
          </a:prstGeom>
          <a:noFill/>
        </p:spPr>
        <p:txBody>
          <a:bodyPr wrap="square" rtlCol="0">
            <a:spAutoFit/>
          </a:bodyPr>
          <a:lstStyle/>
          <a:p>
            <a:r>
              <a:rPr lang="en-US" sz="900"/>
              <a:t>Photo from Web</a:t>
            </a:r>
          </a:p>
        </p:txBody>
      </p:sp>
    </p:spTree>
    <p:extLst>
      <p:ext uri="{BB962C8B-B14F-4D97-AF65-F5344CB8AC3E}">
        <p14:creationId xmlns:p14="http://schemas.microsoft.com/office/powerpoint/2010/main" val="2849738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C3CDC-20E6-4159-A214-199CE2B0B7BE}"/>
              </a:ext>
            </a:extLst>
          </p:cNvPr>
          <p:cNvSpPr>
            <a:spLocks noGrp="1"/>
          </p:cNvSpPr>
          <p:nvPr>
            <p:ph type="title"/>
          </p:nvPr>
        </p:nvSpPr>
        <p:spPr/>
        <p:txBody>
          <a:bodyPr/>
          <a:lstStyle/>
          <a:p>
            <a:r>
              <a:rPr lang="en-US"/>
              <a:t>Patient Recall Interval</a:t>
            </a:r>
          </a:p>
        </p:txBody>
      </p:sp>
      <p:sp>
        <p:nvSpPr>
          <p:cNvPr id="3" name="Content Placeholder 2">
            <a:extLst>
              <a:ext uri="{FF2B5EF4-FFF2-40B4-BE49-F238E27FC236}">
                <a16:creationId xmlns:a16="http://schemas.microsoft.com/office/drawing/2014/main" id="{AD5D523C-49B5-41C6-BFA7-B4AF7D55BDDF}"/>
              </a:ext>
            </a:extLst>
          </p:cNvPr>
          <p:cNvSpPr>
            <a:spLocks noGrp="1"/>
          </p:cNvSpPr>
          <p:nvPr>
            <p:ph idx="1"/>
          </p:nvPr>
        </p:nvSpPr>
        <p:spPr/>
        <p:txBody>
          <a:bodyPr/>
          <a:lstStyle/>
          <a:p>
            <a:r>
              <a:rPr lang="en-US"/>
              <a:t>Low Risk – every 6 months</a:t>
            </a:r>
          </a:p>
          <a:p>
            <a:r>
              <a:rPr lang="en-US"/>
              <a:t>Moderate Risk – every 4-6 months</a:t>
            </a:r>
          </a:p>
          <a:p>
            <a:r>
              <a:rPr lang="en-US"/>
              <a:t>High Risk – every 3-4 months</a:t>
            </a:r>
          </a:p>
          <a:p>
            <a:r>
              <a:rPr lang="en-US"/>
              <a:t>Extreme Risk – every 2-4 months</a:t>
            </a:r>
          </a:p>
        </p:txBody>
      </p:sp>
    </p:spTree>
    <p:extLst>
      <p:ext uri="{BB962C8B-B14F-4D97-AF65-F5344CB8AC3E}">
        <p14:creationId xmlns:p14="http://schemas.microsoft.com/office/powerpoint/2010/main" val="7355206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DDD28-75C2-4D4E-A03C-7F54501CB25E}"/>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7249C087-0B5F-4E4F-A233-379DEFE867DB}"/>
              </a:ext>
            </a:extLst>
          </p:cNvPr>
          <p:cNvSpPr>
            <a:spLocks noGrp="1"/>
          </p:cNvSpPr>
          <p:nvPr>
            <p:ph idx="1"/>
          </p:nvPr>
        </p:nvSpPr>
        <p:spPr/>
        <p:txBody>
          <a:bodyPr>
            <a:normAutofit/>
          </a:bodyPr>
          <a:lstStyle/>
          <a:p>
            <a:pPr algn="l"/>
            <a:r>
              <a:rPr lang="en-US" sz="1800" b="0" i="0" u="none" strike="noStrike" baseline="0">
                <a:solidFill>
                  <a:srgbClr val="0077B6"/>
                </a:solidFill>
                <a:latin typeface="ApexNew-Medium"/>
              </a:rPr>
              <a:t>Caries Management by Risk Assessment: Implementation Guidelines </a:t>
            </a:r>
            <a:r>
              <a:rPr lang="en-US" sz="1800" b="0" i="0" u="none" strike="noStrike" baseline="0" err="1">
                <a:solidFill>
                  <a:srgbClr val="939699"/>
                </a:solidFill>
                <a:latin typeface="ApexNew-Book"/>
              </a:rPr>
              <a:t>douglas</a:t>
            </a:r>
            <a:r>
              <a:rPr lang="en-US" sz="1800" b="0" i="0" u="none" strike="noStrike" baseline="0">
                <a:solidFill>
                  <a:srgbClr val="939699"/>
                </a:solidFill>
                <a:latin typeface="ApexNew-Book"/>
              </a:rPr>
              <a:t> a. young,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mba</a:t>
            </a:r>
            <a:r>
              <a:rPr lang="en-US" sz="1800" b="0" i="0" u="none" strike="noStrike" baseline="0">
                <a:solidFill>
                  <a:srgbClr val="939699"/>
                </a:solidFill>
                <a:latin typeface="ApexNew-Book"/>
              </a:rPr>
              <a:t>; john </a:t>
            </a:r>
            <a:r>
              <a:rPr lang="en-US" sz="1800" b="0" i="0" u="none" strike="noStrike" baseline="0" err="1">
                <a:solidFill>
                  <a:srgbClr val="939699"/>
                </a:solidFill>
                <a:latin typeface="ApexNew-Book"/>
              </a:rPr>
              <a:t>d.b.</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featherstone</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msc</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jon</a:t>
            </a:r>
            <a:r>
              <a:rPr lang="en-US" sz="1800" b="0" i="0" u="none" strike="noStrike" baseline="0">
                <a:solidFill>
                  <a:srgbClr val="939699"/>
                </a:solidFill>
                <a:latin typeface="ApexNew-Book"/>
              </a:rPr>
              <a:t> r. </a:t>
            </a:r>
            <a:r>
              <a:rPr lang="en-US" sz="1800" b="0" i="0" u="none" strike="noStrike" baseline="0" err="1">
                <a:solidFill>
                  <a:srgbClr val="939699"/>
                </a:solidFill>
                <a:latin typeface="ApexNew-Book"/>
              </a:rPr>
              <a:t>roth</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cae</a:t>
            </a:r>
            <a:r>
              <a:rPr lang="en-US" sz="1800" b="0" i="0" u="none" strike="noStrike" baseline="0">
                <a:solidFill>
                  <a:srgbClr val="939699"/>
                </a:solidFill>
                <a:latin typeface="ApexNew-Book"/>
              </a:rPr>
              <a:t>; max </a:t>
            </a:r>
            <a:r>
              <a:rPr lang="en-US" sz="1800" b="0" i="0" u="none" strike="noStrike" baseline="0" err="1">
                <a:solidFill>
                  <a:srgbClr val="939699"/>
                </a:solidFill>
                <a:latin typeface="ApexNew-Book"/>
              </a:rPr>
              <a:t>anderson</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a:t>
            </a:r>
            <a:r>
              <a:rPr lang="en-US" sz="1800" b="0" i="0" u="none" strike="noStrike" baseline="0">
                <a:solidFill>
                  <a:srgbClr val="939699"/>
                </a:solidFill>
                <a:latin typeface="ApexNew-Book"/>
              </a:rPr>
              <a:t>, med; </a:t>
            </a:r>
            <a:r>
              <a:rPr lang="en-US" sz="1800" b="0" i="0" u="none" strike="noStrike" baseline="0" err="1">
                <a:solidFill>
                  <a:srgbClr val="939699"/>
                </a:solidFill>
                <a:latin typeface="ApexNew-Book"/>
              </a:rPr>
              <a:t>jaana</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autio</a:t>
            </a:r>
            <a:r>
              <a:rPr lang="en-US" sz="1800" b="0" i="0" u="none" strike="noStrike" baseline="0">
                <a:solidFill>
                  <a:srgbClr val="939699"/>
                </a:solidFill>
                <a:latin typeface="ApexNew-Book"/>
              </a:rPr>
              <a:t>-gold,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gordon</a:t>
            </a:r>
            <a:r>
              <a:rPr lang="en-US" sz="1800" b="0" i="0" u="none" strike="noStrike" baseline="0">
                <a:solidFill>
                  <a:srgbClr val="939699"/>
                </a:solidFill>
                <a:latin typeface="ApexNew-Book"/>
              </a:rPr>
              <a:t> j. </a:t>
            </a:r>
            <a:r>
              <a:rPr lang="en-US" sz="1800" b="0" i="0" u="none" strike="noStrike" baseline="0" err="1">
                <a:solidFill>
                  <a:srgbClr val="939699"/>
                </a:solidFill>
                <a:latin typeface="ApexNew-Book"/>
              </a:rPr>
              <a:t>christensen</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r>
              <a:rPr lang="en-US" sz="1800" b="0" i="0" u="none" strike="noStrike" baseline="0">
                <a:solidFill>
                  <a:srgbClr val="939699"/>
                </a:solidFill>
                <a:latin typeface="ApexNew-Book"/>
              </a:rPr>
              <a:t>; margherita </a:t>
            </a:r>
            <a:r>
              <a:rPr lang="en-US" sz="1800" b="0" i="0" u="none" strike="noStrike" baseline="0" err="1">
                <a:solidFill>
                  <a:srgbClr val="939699"/>
                </a:solidFill>
                <a:latin typeface="ApexNew-Book"/>
              </a:rPr>
              <a:t>fontana</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r>
              <a:rPr lang="en-US" sz="1800" b="0" i="0" u="none" strike="noStrike" baseline="0">
                <a:solidFill>
                  <a:srgbClr val="939699"/>
                </a:solidFill>
                <a:latin typeface="ApexNew-Book"/>
              </a:rPr>
              <a:t>; v. </a:t>
            </a:r>
            <a:r>
              <a:rPr lang="en-US" sz="1800" b="0" i="0" u="none" strike="noStrike" baseline="0" err="1">
                <a:solidFill>
                  <a:srgbClr val="939699"/>
                </a:solidFill>
                <a:latin typeface="ApexNew-Book"/>
              </a:rPr>
              <a:t>kim</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kutsch</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dmd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mathilde</a:t>
            </a:r>
            <a:r>
              <a:rPr lang="en-US" sz="1800" b="0" i="0" u="none" strike="noStrike" baseline="0">
                <a:solidFill>
                  <a:srgbClr val="939699"/>
                </a:solidFill>
                <a:latin typeface="ApexNew-Book"/>
              </a:rPr>
              <a:t> (tilly) c. peters, </a:t>
            </a:r>
            <a:r>
              <a:rPr lang="en-US" sz="1800" b="0" i="0" u="none" strike="noStrike" baseline="0" err="1">
                <a:solidFill>
                  <a:srgbClr val="939699"/>
                </a:solidFill>
                <a:latin typeface="ApexNew-Book"/>
              </a:rPr>
              <a:t>dmd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richard</a:t>
            </a:r>
            <a:r>
              <a:rPr lang="en-US" sz="1800" b="0" i="0" u="none" strike="noStrike" baseline="0">
                <a:solidFill>
                  <a:srgbClr val="939699"/>
                </a:solidFill>
                <a:latin typeface="ApexNew-Book"/>
              </a:rPr>
              <a:t> j. </a:t>
            </a:r>
            <a:r>
              <a:rPr lang="en-US" sz="1800" b="0" i="0" u="none" strike="noStrike" baseline="0" err="1">
                <a:solidFill>
                  <a:srgbClr val="939699"/>
                </a:solidFill>
                <a:latin typeface="ApexNew-Book"/>
              </a:rPr>
              <a:t>simonsen</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ms</a:t>
            </a:r>
            <a:r>
              <a:rPr lang="en-US" sz="1800" b="0" i="0" u="none" strike="noStrike" baseline="0">
                <a:solidFill>
                  <a:srgbClr val="939699"/>
                </a:solidFill>
                <a:latin typeface="ApexNew-Book"/>
              </a:rPr>
              <a:t>; and mark s. </a:t>
            </a:r>
            <a:r>
              <a:rPr lang="en-US" sz="1800" b="0" i="0" u="none" strike="noStrike" baseline="0" err="1">
                <a:solidFill>
                  <a:srgbClr val="939699"/>
                </a:solidFill>
                <a:latin typeface="ApexNew-Book"/>
              </a:rPr>
              <a:t>wolff</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dds</a:t>
            </a:r>
            <a:r>
              <a:rPr lang="en-US" sz="1800" b="0" i="0" u="none" strike="noStrike" baseline="0">
                <a:solidFill>
                  <a:srgbClr val="939699"/>
                </a:solidFill>
                <a:latin typeface="ApexNew-Book"/>
              </a:rPr>
              <a:t>, </a:t>
            </a:r>
            <a:r>
              <a:rPr lang="en-US" sz="1800" b="0" i="0" u="none" strike="noStrike" baseline="0" err="1">
                <a:solidFill>
                  <a:srgbClr val="939699"/>
                </a:solidFill>
                <a:latin typeface="ApexNew-Book"/>
              </a:rPr>
              <a:t>phd</a:t>
            </a:r>
            <a:endParaRPr lang="en-US" sz="1800" b="0" i="0" u="none" strike="noStrike" baseline="0">
              <a:solidFill>
                <a:srgbClr val="939699"/>
              </a:solidFill>
              <a:latin typeface="ApexNew-Book"/>
            </a:endParaRPr>
          </a:p>
          <a:p>
            <a:r>
              <a:rPr lang="en-US" sz="1800">
                <a:solidFill>
                  <a:srgbClr val="0077B6"/>
                </a:solidFill>
                <a:latin typeface="ApexNew-Medium"/>
              </a:rPr>
              <a:t> Curing the Silent Epidemic: Caries Management in the 21st Century and Beyond</a:t>
            </a:r>
            <a:r>
              <a:rPr lang="en-US" sz="1800">
                <a:solidFill>
                  <a:srgbClr val="B83637"/>
                </a:solidFill>
                <a:latin typeface="YEJFNK+ApexNew-Medium"/>
              </a:rPr>
              <a:t>. </a:t>
            </a:r>
            <a:r>
              <a:rPr lang="en-US" sz="1800">
                <a:solidFill>
                  <a:srgbClr val="939393"/>
                </a:solidFill>
                <a:latin typeface="XWZZZM+ApexNew-Book"/>
              </a:rPr>
              <a:t>DOUGLAS A. YOUNG, DDS, MS, MBA; JOHN D.B. FEATHERSTONE, MSC, PHD; AND JON R. ROTH, MS, CAE </a:t>
            </a:r>
            <a:endParaRPr lang="en-US" sz="1800"/>
          </a:p>
          <a:p>
            <a:pPr algn="l"/>
            <a:r>
              <a:rPr lang="en-US" sz="1800">
                <a:solidFill>
                  <a:srgbClr val="0077B6"/>
                </a:solidFill>
                <a:latin typeface="ApexNew-Medium"/>
              </a:rPr>
              <a:t>Nonrestorative Treatments for Caries: Systematic Review and Network Meta-analysis.</a:t>
            </a:r>
            <a:r>
              <a:rPr lang="en-US" sz="1800" b="1" i="0" u="none" strike="noStrike" baseline="0">
                <a:latin typeface="GillSansStd-Bold"/>
              </a:rPr>
              <a:t> </a:t>
            </a:r>
            <a:r>
              <a:rPr lang="en-US" sz="1800">
                <a:solidFill>
                  <a:srgbClr val="939393"/>
                </a:solidFill>
                <a:latin typeface="XWZZZM+ApexNew-Book"/>
              </a:rPr>
              <a:t>O. Urquhart1 , M.P. Tampi1, L. Pilcher1, R.L. Slayton2, M.W.B. Araujo3, M. Fontana4, S. Guzmán-Armstrong5, M.M. Nascimento6, B.B. Nový7, N. </a:t>
            </a:r>
            <a:r>
              <a:rPr lang="en-US" sz="1800" err="1">
                <a:solidFill>
                  <a:srgbClr val="939393"/>
                </a:solidFill>
                <a:latin typeface="XWZZZM+ApexNew-Book"/>
              </a:rPr>
              <a:t>Tinanoff</a:t>
            </a:r>
            <a:r>
              <a:rPr lang="en-US" sz="1800">
                <a:solidFill>
                  <a:srgbClr val="939393"/>
                </a:solidFill>
                <a:latin typeface="XWZZZM+ApexNew-Book"/>
              </a:rPr>
              <a:t> 8, R.J. Weyant9, M.S. Wolff10, D.A. Young11, D.T. Zero12, R. Brignardello-Petersen13, L. Banfield14, A. Parikh15, G. Joshi16, and A. Carrasco-Labra1,17</a:t>
            </a:r>
          </a:p>
          <a:p>
            <a:pPr algn="l"/>
            <a:r>
              <a:rPr lang="en-US" sz="1800">
                <a:solidFill>
                  <a:srgbClr val="0077B6"/>
                </a:solidFill>
                <a:latin typeface="ApexNew-Medium"/>
              </a:rPr>
              <a:t>Understanding Dental Caries, From Pathogenesis to Prevention and Therapy</a:t>
            </a:r>
            <a:r>
              <a:rPr lang="en-US" sz="1800">
                <a:solidFill>
                  <a:srgbClr val="939393"/>
                </a:solidFill>
                <a:latin typeface="XWZZZM+ApexNew-Book"/>
              </a:rPr>
              <a:t>. Michel Goldberg, editor. ISBN 978-3-319-30550-9</a:t>
            </a:r>
          </a:p>
          <a:p>
            <a:pPr algn="l"/>
            <a:r>
              <a:rPr lang="en-US" sz="1800">
                <a:solidFill>
                  <a:srgbClr val="0077B6"/>
                </a:solidFill>
                <a:latin typeface="ApexNew-Medium"/>
              </a:rPr>
              <a:t>A Randomized Clinical Trial of Anticaries Therapies Targeted according to Risk Assessment (Caries Management by Risk Assessment)</a:t>
            </a:r>
            <a:r>
              <a:rPr lang="en-US" sz="1800">
                <a:solidFill>
                  <a:srgbClr val="939393"/>
                </a:solidFill>
                <a:latin typeface="XWZZZM+ApexNew-Book"/>
              </a:rPr>
              <a:t>. J.D.B. Featherstone J.M. White C.I. Hoover M. </a:t>
            </a:r>
            <a:r>
              <a:rPr lang="en-US" sz="1800" err="1">
                <a:solidFill>
                  <a:srgbClr val="939393"/>
                </a:solidFill>
                <a:latin typeface="XWZZZM+ApexNew-Book"/>
              </a:rPr>
              <a:t>Rapozo</a:t>
            </a:r>
            <a:r>
              <a:rPr lang="en-US" sz="1800">
                <a:solidFill>
                  <a:srgbClr val="939393"/>
                </a:solidFill>
                <a:latin typeface="XWZZZM+ApexNew-Book"/>
              </a:rPr>
              <a:t>-Hilo J.A. Weintraub R.S. Wilson L. Zhan S.A. </a:t>
            </a:r>
            <a:r>
              <a:rPr lang="en-US" sz="1800" err="1">
                <a:solidFill>
                  <a:srgbClr val="939393"/>
                </a:solidFill>
                <a:latin typeface="XWZZZM+ApexNew-Book"/>
              </a:rPr>
              <a:t>Gansky</a:t>
            </a:r>
            <a:endParaRPr lang="en-US" sz="1800">
              <a:solidFill>
                <a:srgbClr val="939393"/>
              </a:solidFill>
              <a:latin typeface="XWZZZM+ApexNew-Book"/>
            </a:endParaRPr>
          </a:p>
        </p:txBody>
      </p:sp>
    </p:spTree>
    <p:extLst>
      <p:ext uri="{BB962C8B-B14F-4D97-AF65-F5344CB8AC3E}">
        <p14:creationId xmlns:p14="http://schemas.microsoft.com/office/powerpoint/2010/main" val="1319386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5B34-5253-4810-91F1-2009660474DF}"/>
              </a:ext>
            </a:extLst>
          </p:cNvPr>
          <p:cNvSpPr>
            <a:spLocks noGrp="1"/>
          </p:cNvSpPr>
          <p:nvPr>
            <p:ph type="title"/>
          </p:nvPr>
        </p:nvSpPr>
        <p:spPr>
          <a:xfrm>
            <a:off x="838200" y="1931166"/>
            <a:ext cx="10515600" cy="1325563"/>
          </a:xfrm>
        </p:spPr>
        <p:txBody>
          <a:bodyPr/>
          <a:lstStyle/>
          <a:p>
            <a:pPr algn="ctr"/>
            <a:r>
              <a:rPr lang="en-US"/>
              <a:t>The End</a:t>
            </a:r>
          </a:p>
        </p:txBody>
      </p:sp>
    </p:spTree>
    <p:extLst>
      <p:ext uri="{BB962C8B-B14F-4D97-AF65-F5344CB8AC3E}">
        <p14:creationId xmlns:p14="http://schemas.microsoft.com/office/powerpoint/2010/main" val="1369522730"/>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14</TotalTime>
  <Words>2574</Words>
  <Application>Microsoft Office PowerPoint</Application>
  <PresentationFormat>Widescreen</PresentationFormat>
  <Paragraphs>248</Paragraphs>
  <Slides>47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ApexNew-Book</vt:lpstr>
      <vt:lpstr>ApexNew-Medium</vt:lpstr>
      <vt:lpstr>Arial</vt:lpstr>
      <vt:lpstr>Arial</vt:lpstr>
      <vt:lpstr>Calibri</vt:lpstr>
      <vt:lpstr>Corbel</vt:lpstr>
      <vt:lpstr>GillSansStd-Bold</vt:lpstr>
      <vt:lpstr>Open Sans</vt:lpstr>
      <vt:lpstr>XWZZZM+ApexNew-Book</vt:lpstr>
      <vt:lpstr>YEJFNK+ApexNew-Medium</vt:lpstr>
      <vt:lpstr>Depth</vt:lpstr>
      <vt:lpstr>CAMBRA</vt:lpstr>
      <vt:lpstr>CAMBRA Interventions</vt:lpstr>
      <vt:lpstr>Regular Toothpaste</vt:lpstr>
      <vt:lpstr>High Fluoride Toothpaste</vt:lpstr>
      <vt:lpstr>Toothpaste is Milling Paste</vt:lpstr>
      <vt:lpstr>Silver Diamine Fluoride</vt:lpstr>
      <vt:lpstr>No Longer “off label”</vt:lpstr>
      <vt:lpstr>Silver Diamine Fluoride</vt:lpstr>
      <vt:lpstr>Silver Diamine Fluoride</vt:lpstr>
      <vt:lpstr>Silver Diamine Fluoride</vt:lpstr>
      <vt:lpstr>Effects on Bonding</vt:lpstr>
      <vt:lpstr>How to Apply</vt:lpstr>
      <vt:lpstr>SDF in Action</vt:lpstr>
      <vt:lpstr>SDF in Action</vt:lpstr>
      <vt:lpstr> Indications:  </vt:lpstr>
      <vt:lpstr>Maximum dose</vt:lpstr>
      <vt:lpstr>Considerations:  </vt:lpstr>
      <vt:lpstr>Considerations:  </vt:lpstr>
      <vt:lpstr>SDF Cost</vt:lpstr>
      <vt:lpstr>SDF Cost</vt:lpstr>
      <vt:lpstr>How to Get Paid</vt:lpstr>
      <vt:lpstr>Xylitol</vt:lpstr>
      <vt:lpstr>Xylitol</vt:lpstr>
      <vt:lpstr>How does Xylitol work?</vt:lpstr>
      <vt:lpstr>Starvation Effect</vt:lpstr>
      <vt:lpstr>Environmental Effect </vt:lpstr>
      <vt:lpstr>Adhesion Effect </vt:lpstr>
      <vt:lpstr>PowerPoint Presentation</vt:lpstr>
      <vt:lpstr>PowerPoint Presentation</vt:lpstr>
      <vt:lpstr>A Word about Dogs</vt:lpstr>
      <vt:lpstr>PowerPoint Presentation</vt:lpstr>
      <vt:lpstr>Xylitol Occurs Naturally</vt:lpstr>
      <vt:lpstr>Xylitol Dosage</vt:lpstr>
      <vt:lpstr>Dosage</vt:lpstr>
      <vt:lpstr>Dry Mouth</vt:lpstr>
      <vt:lpstr>Dry Mouth</vt:lpstr>
      <vt:lpstr>Dry Mouth</vt:lpstr>
      <vt:lpstr>Anti-Microbials</vt:lpstr>
      <vt:lpstr>Chlorhexidine </vt:lpstr>
      <vt:lpstr>Povidone Iodine</vt:lpstr>
      <vt:lpstr>Fluoride Rinses</vt:lpstr>
      <vt:lpstr>Fluoride Varnish</vt:lpstr>
      <vt:lpstr>Pit &amp; Fissure Sealants</vt:lpstr>
      <vt:lpstr>Probiotics</vt:lpstr>
      <vt:lpstr>Patient Recall Interval</vt:lpstr>
      <vt:lpstr>References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CAMBRA</dc:title>
  <dc:creator>Mo Coover</dc:creator>
  <cp:lastModifiedBy>Kirk, Jeffrey</cp:lastModifiedBy>
  <cp:revision>2</cp:revision>
  <dcterms:created xsi:type="dcterms:W3CDTF">2021-04-06T14:00:28Z</dcterms:created>
  <dcterms:modified xsi:type="dcterms:W3CDTF">2024-02-07T19:32:38Z</dcterms:modified>
</cp:coreProperties>
</file>